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A DATA MINING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783080"/>
            <a:ext cx="822960" cy="320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10607040" cy="2377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4700" b="1" i="0">
                <a:solidFill>
                  <a:srgbClr val="F5F5F4"/>
                </a:solidFill>
                <a:latin typeface="SF Pro Display"/>
              </a:rPr>
              <a:t>what 21 years of food prices say about </a:t>
            </a:r>
            <a:r>
              <a:rPr sz="4700" b="1" i="0">
                <a:solidFill>
                  <a:srgbClr val="F59E0B"/>
                </a:solidFill>
                <a:latin typeface="SF Pro Display"/>
              </a:rPr>
              <a:t>a country in flux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0"/>
            <a:ext cx="86868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A1A1AA"/>
                </a:solidFill>
                <a:latin typeface="SF Pro Display"/>
              </a:rPr>
              <a:t>the world food programme tracked the price of everyday food in 76 markets across cameroon. this is what the numbers reveal.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76072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SF Pro Display"/>
              </a:rPr>
              <a:t>cameroon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576072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SF Pro Display"/>
              </a:rPr>
              <a:t>2005 —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59" y="5760720"/>
            <a:ext cx="301752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1A1AA"/>
                </a:solidFill>
                <a:latin typeface="SF Pro Display"/>
              </a:rPr>
              <a:t>55,660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69280"/>
            <a:ext cx="9144000" cy="10972"/>
          </a:xfrm>
          <a:prstGeom prst="rect">
            <a:avLst/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00 / PROLOGUE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548640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5F5F4"/>
                </a:solidFill>
                <a:latin typeface="SF Pro Display"/>
              </a:rPr>
              <a:t>first, the </a:t>
            </a:r>
            <a:r>
              <a:rPr sz="3800" b="1" i="0">
                <a:solidFill>
                  <a:srgbClr val="F59E0B"/>
                </a:solidFill>
                <a:latin typeface="SF Pro Display"/>
              </a:rPr>
              <a:t>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57400"/>
            <a:ext cx="4297680" cy="32918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500" b="0" i="0">
                <a:solidFill>
                  <a:srgbClr val="A1A1AA"/>
                </a:solidFill>
                <a:latin typeface="SF Pro Display"/>
              </a:rPr>
              <a:t>this story rests on a single csv from the world food programme — the un agency that monitors hunger.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500" b="0" i="0">
                <a:solidFill>
                  <a:srgbClr val="A1A1AA"/>
                </a:solidFill>
                <a:latin typeface="SF Pro Display"/>
              </a:rPr>
              <a:t>nine regions, not ten. the missing one is </a:t>
            </a:r>
            <a:r>
              <a:rPr sz="1500" b="1" i="1">
                <a:solidFill>
                  <a:srgbClr val="F59E0B"/>
                </a:solidFill>
                <a:latin typeface="SF Pro Display"/>
              </a:rPr>
              <a:t>Sud</a:t>
            </a:r>
            <a:r>
              <a:rPr sz="1500" b="0" i="0">
                <a:solidFill>
                  <a:srgbClr val="A1A1AA"/>
                </a:solidFill>
                <a:latin typeface="SF Pro Display"/>
              </a:rPr>
              <a:t>, the peaceful south. wfp follows need, so its data goes where the crises are: the far north, the anglophone regions, the east.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32120" y="201168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2176272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5F5F4"/>
                </a:solidFill>
                <a:latin typeface="SF Pro Display"/>
              </a:rPr>
              <a:t>55,660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944368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96528" y="201168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5128" y="2176272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59E0B"/>
                </a:solidFill>
                <a:latin typeface="SF Pro Display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128" y="2944368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REGIONS COVERED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3630168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3794760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5F5F4"/>
                </a:solidFill>
                <a:latin typeface="SF Pro Display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62856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MARKETS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3630168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25128" y="3794760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5F5F4"/>
                </a:solidFill>
                <a:latin typeface="SF Pro Display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4562856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COMMODITIES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5248656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5413248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59E0B"/>
                </a:solidFill>
                <a:latin typeface="SF Pro Display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6181344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YEARS OF HISTORY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96528" y="5248656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5413248"/>
            <a:ext cx="2697480" cy="8686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EF4444"/>
                </a:solidFill>
                <a:latin typeface="SF Pro Display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128" y="6181344"/>
            <a:ext cx="2697480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REGION MISSING — SUD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01 /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73152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5F5F4"/>
                </a:solidFill>
                <a:latin typeface="SF Pro Display"/>
              </a:rPr>
              <a:t>before any model, you </a:t>
            </a:r>
            <a:r>
              <a:rPr sz="3400" b="1" i="0">
                <a:solidFill>
                  <a:srgbClr val="F59E0B"/>
                </a:solidFill>
                <a:latin typeface="SF Pro Display"/>
              </a:rPr>
              <a:t>look.</a:t>
            </a:r>
          </a:p>
        </p:txBody>
      </p:sp>
      <p:pic>
        <p:nvPicPr>
          <p:cNvPr id="4" name="Picture 3" descr="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675120" cy="31430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83080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NATIONAL AVERAGE PRICE BY YEAR — A LONG CLIMB, THEN A POST-2020 JUMP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103120"/>
            <a:ext cx="4572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4"/>
                </a:solidFill>
                <a:latin typeface="SF Pro Display"/>
              </a:rPr>
              <a:t>a long climb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423160"/>
            <a:ext cx="36576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prices drift up for 15 years, then accelerate after 2020 — covid, war, inflation.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3163824"/>
            <a:ext cx="4572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3118104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4"/>
                </a:solidFill>
                <a:latin typeface="SF Pro Display"/>
              </a:rPr>
              <a:t>a lean season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483864"/>
            <a:ext cx="36576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june to august sit above the line every year, between harvests.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4224528"/>
            <a:ext cx="4572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4178808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4"/>
                </a:solidFill>
                <a:latin typeface="SF Pro Display"/>
              </a:rPr>
              <a:t>a crisis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544568"/>
            <a:ext cx="36576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extreme nord dominates the records 3:1 — wfp monitors where hunger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5285231"/>
            <a:ext cx="45720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5239512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5F5F4"/>
                </a:solidFill>
                <a:latin typeface="SF Pro Display"/>
              </a:rPr>
              <a:t>imports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605272"/>
            <a:ext cx="36576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processed and imported goods sit far above local staples per kilo.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02 /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0584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5F5F4"/>
                </a:solidFill>
                <a:latin typeface="SF Pro Display"/>
              </a:rPr>
              <a:t>can a model read a price </a:t>
            </a:r>
            <a:r>
              <a:rPr sz="3200" b="1" i="0">
                <a:solidFill>
                  <a:srgbClr val="F59E0B"/>
                </a:solidFill>
                <a:latin typeface="SF Pro Display"/>
              </a:rPr>
              <a:t>tier?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420624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59E0B"/>
                </a:solidFill>
                <a:latin typeface="SF Pro Display"/>
              </a:rPr>
              <a:t>77%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4206240" cy="1645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 i="0">
                <a:solidFill>
                  <a:srgbClr val="F5F5F4"/>
                </a:solidFill>
                <a:latin typeface="SF Pro Display"/>
              </a:rPr>
              <a:t>accuracy on held-out data, up from 63%.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 i="0">
                <a:solidFill>
                  <a:srgbClr val="A1A1AA"/>
                </a:solidFill>
                <a:latin typeface="SF Pro Display"/>
              </a:rPr>
              <a:t>a random forest labels each price Low / Medium / High against its own commodity's history. the lift came from feature engineering, not a bigger model: market location plus recent and yearly median price.</a:t>
            </a:r>
          </a:p>
        </p:txBody>
      </p:sp>
      <p:pic>
        <p:nvPicPr>
          <p:cNvPr id="6" name="Picture 5" descr="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120640" cy="32191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965960"/>
            <a:ext cx="512064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THE ARC: SAME ALGORITHM, BETTER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03 / 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5156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5F5F4"/>
                </a:solidFill>
                <a:latin typeface="SF Pro Display"/>
              </a:rPr>
              <a:t>let the data </a:t>
            </a:r>
            <a:r>
              <a:rPr sz="3200" b="1" i="0">
                <a:solidFill>
                  <a:srgbClr val="F59E0B"/>
                </a:solidFill>
                <a:latin typeface="SF Pro Display"/>
              </a:rPr>
              <a:t>draw the map.</a:t>
            </a:r>
          </a:p>
        </p:txBody>
      </p:sp>
      <p:pic>
        <p:nvPicPr>
          <p:cNvPr id="4" name="Picture 3" descr="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6035040" cy="37927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37360"/>
            <a:ext cx="64008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76 MARKETS BY PRICE PROFILE, PROJECTED TO 2D — K-MEANS, k =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965960"/>
            <a:ext cx="4572000" cy="6400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1A1AA"/>
                </a:solidFill>
                <a:latin typeface="SF Pro Display"/>
              </a:rPr>
              <a:t>k-means knew nothing about politics. it saw only prices — and rebuilt the country's crisis geography.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971800"/>
            <a:ext cx="4434840" cy="713232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040880" y="2971800"/>
            <a:ext cx="54864" cy="71323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3081528"/>
            <a:ext cx="402336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EF4444"/>
                </a:solidFill>
                <a:latin typeface="SF Pro Display"/>
              </a:rPr>
              <a:t>cluster 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319272"/>
            <a:ext cx="40233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4"/>
                </a:solidFill>
                <a:latin typeface="SF Pro Display"/>
              </a:rPr>
              <a:t>far north conflict zone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3813048"/>
            <a:ext cx="4434840" cy="713232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40880" y="3813048"/>
            <a:ext cx="54864" cy="7132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922776"/>
            <a:ext cx="402336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59E0B"/>
                </a:solidFill>
                <a:latin typeface="SF Pro Display"/>
              </a:rPr>
              <a:t>cluster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160520"/>
            <a:ext cx="40233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4"/>
                </a:solidFill>
                <a:latin typeface="SF Pro Display"/>
              </a:rPr>
              <a:t>urban commercial hubs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4654296"/>
            <a:ext cx="4434840" cy="713232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40880" y="4654296"/>
            <a:ext cx="54864" cy="71323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0" y="4764024"/>
            <a:ext cx="402336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0A5FA"/>
                </a:solidFill>
                <a:latin typeface="SF Pro Display"/>
              </a:rPr>
              <a:t>cluster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5001768"/>
            <a:ext cx="40233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4"/>
                </a:solidFill>
                <a:latin typeface="SF Pro Display"/>
              </a:rPr>
              <a:t>anglophone southwest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0" y="5495544"/>
            <a:ext cx="4434840" cy="713232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40880" y="5495544"/>
            <a:ext cx="54864" cy="71323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5605272"/>
            <a:ext cx="402336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4ADE80"/>
                </a:solidFill>
                <a:latin typeface="SF Pro Display"/>
              </a:rPr>
              <a:t>cluster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843016"/>
            <a:ext cx="402336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F5F4"/>
                </a:solidFill>
                <a:latin typeface="SF Pro Display"/>
              </a:rPr>
              <a:t>eastern refugee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04 /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0584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5F5F4"/>
                </a:solidFill>
                <a:latin typeface="SF Pro Display"/>
              </a:rPr>
              <a:t>how well can we see </a:t>
            </a:r>
            <a:r>
              <a:rPr sz="3200" b="1" i="0">
                <a:solidFill>
                  <a:srgbClr val="F59E0B"/>
                </a:solidFill>
                <a:latin typeface="SF Pro Display"/>
              </a:rPr>
              <a:t>one month ahead?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4206240" cy="1463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200" b="1" i="0">
                <a:solidFill>
                  <a:srgbClr val="F59E0B"/>
                </a:solidFill>
                <a:latin typeface="SF Pro Display"/>
              </a:rPr>
              <a:t>0.94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86200"/>
            <a:ext cx="42062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5F5F4"/>
                </a:solidFill>
                <a:latin typeface="SF Pro Display"/>
              </a:rPr>
              <a:t>pooled R², up from 0.48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457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9E0B"/>
                </a:solidFill>
                <a:latin typeface="SF Pro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526280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4"/>
                </a:solidFill>
                <a:latin typeface="SF Pro Display"/>
              </a:rPr>
              <a:t>use more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818888"/>
            <a:ext cx="38404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1A1AA"/>
                </a:solidFill>
                <a:latin typeface="SF Pro Display"/>
              </a:rPr>
              <a:t>train on the top 10 commodities, not maize alone — 10x the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39512"/>
            <a:ext cx="457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9E0B"/>
                </a:solidFill>
                <a:latin typeface="SF Pro Display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239512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4"/>
                </a:solidFill>
                <a:latin typeface="SF Pro Display"/>
              </a:rPr>
              <a:t>predict log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5532120"/>
            <a:ext cx="38404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1A1AA"/>
                </a:solidFill>
                <a:latin typeface="SF Pro Display"/>
              </a:rPr>
              <a:t>a 10% move counts the same on cheap and dear items.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952744"/>
            <a:ext cx="4572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9E0B"/>
                </a:solidFill>
                <a:latin typeface="SF Pro Display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952744"/>
            <a:ext cx="384048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5F5F4"/>
                </a:solidFill>
                <a:latin typeface="SF Pro Display"/>
              </a:rPr>
              <a:t>gradient boosting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6245352"/>
            <a:ext cx="384048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A1A1AA"/>
                </a:solidFill>
                <a:latin typeface="SF Pro Display"/>
              </a:rPr>
              <a:t>trees that learn from each other's mistakes, built for trend and season.</a:t>
            </a:r>
          </a:p>
        </p:txBody>
      </p:sp>
      <p:pic>
        <p:nvPicPr>
          <p:cNvPr id="15" name="Picture 14" descr="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77440"/>
            <a:ext cx="5212080" cy="24831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2057400"/>
            <a:ext cx="521208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ACTUAL VS PREDICTED — MAIZE (WHITE), THROUGH THE POST-2020 WAVE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05 /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0584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5F5F4"/>
                </a:solidFill>
                <a:latin typeface="SF Pro Display"/>
              </a:rPr>
              <a:t>when the system </a:t>
            </a:r>
            <a:r>
              <a:rPr sz="3200" b="1" i="0">
                <a:solidFill>
                  <a:srgbClr val="F59E0B"/>
                </a:solidFill>
                <a:latin typeface="SF Pro Display"/>
              </a:rPr>
              <a:t>cracked.</a:t>
            </a:r>
          </a:p>
        </p:txBody>
      </p:sp>
      <p:pic>
        <p:nvPicPr>
          <p:cNvPr id="4" name="Picture 3" descr="y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6949440" cy="31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1717A"/>
                </a:solidFill>
                <a:latin typeface="SF Pro Display"/>
              </a:rPr>
              <a:t>YEAR-OVER-YEAR PRICE CHANGE — AMBER BARS CROSS THE 2-SIGMA ANOMALY 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2194560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5F5F4"/>
                </a:solidFill>
                <a:latin typeface="SF Pro Display"/>
              </a:rPr>
              <a:t>two shocks, found without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926080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9E0B"/>
                </a:solidFill>
                <a:latin typeface="SF Pro Display"/>
              </a:rPr>
              <a:t>2008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255264"/>
            <a:ext cx="3657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the global food price crisis.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3886200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9E0B"/>
                </a:solidFill>
                <a:latin typeface="SF Pro Display"/>
              </a:rPr>
              <a:t>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215384"/>
            <a:ext cx="3657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post-covid inflation plus the war on grain.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846320"/>
            <a:ext cx="36576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59E0B"/>
                </a:solidFill>
                <a:latin typeface="SF Pro Display"/>
              </a:rPr>
              <a:t>volatile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5175504"/>
            <a:ext cx="365760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A1A1AA"/>
                </a:solidFill>
                <a:latin typeface="SF Pro Display"/>
              </a:rPr>
              <a:t>animal products and oils swing most; cereals are policy-stabilised.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7315200" cy="3200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59E0B"/>
                </a:solidFill>
                <a:latin typeface="SF Pro Display"/>
              </a:rPr>
              <a:t>06 /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058400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5F5F4"/>
                </a:solidFill>
                <a:latin typeface="SF Pro Display"/>
              </a:rPr>
              <a:t>what the </a:t>
            </a:r>
            <a:r>
              <a:rPr sz="3400" b="1" i="0">
                <a:solidFill>
                  <a:srgbClr val="F59E0B"/>
                </a:solidFill>
                <a:latin typeface="SF Pro Display"/>
              </a:rPr>
              <a:t>data said.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14884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F Pro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624328"/>
            <a:ext cx="47091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5F5F4"/>
                </a:solidFill>
                <a:latin typeface="SF Pro Display"/>
              </a:rPr>
              <a:t>prices are structured, not chaotic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081528"/>
            <a:ext cx="470916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A1A1AA"/>
                </a:solidFill>
                <a:latin typeface="SF Pro Display"/>
              </a:rPr>
              <a:t>a classifier reads them at 77% and a forecaster hits 0.94 pooled R².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214884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59" y="214884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F Pro Display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624328"/>
            <a:ext cx="47091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5F5F4"/>
                </a:solidFill>
                <a:latin typeface="SF Pro Display"/>
              </a:rPr>
              <a:t>when beats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3081528"/>
            <a:ext cx="470916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A1A1AA"/>
                </a:solidFill>
                <a:latin typeface="SF Pro Display"/>
              </a:rPr>
              <a:t>recent history and inflation context predict price better than geography.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2336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02336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4206240"/>
            <a:ext cx="914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F Pro Display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4498848"/>
            <a:ext cx="47091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5F5F4"/>
                </a:solidFill>
                <a:latin typeface="SF Pro Display"/>
              </a:rPr>
              <a:t>markets map to crisis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56048"/>
            <a:ext cx="470916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A1A1AA"/>
                </a:solidFill>
                <a:latin typeface="SF Pro Display"/>
              </a:rPr>
              <a:t>four price clusters line up with cameroon's humanitarian zones.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023360"/>
            <a:ext cx="5257800" cy="1600200"/>
          </a:xfrm>
          <a:prstGeom prst="roundRect">
            <a:avLst>
              <a:gd name="adj" fmla="val 6000"/>
            </a:avLst>
          </a:prstGeom>
          <a:solidFill>
            <a:srgbClr val="15171A"/>
          </a:solidFill>
          <a:ln w="9525">
            <a:solidFill>
              <a:srgbClr val="2A2D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402336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01968" y="4206240"/>
            <a:ext cx="91440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59E0B"/>
                </a:solidFill>
                <a:latin typeface="SF Pro Display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498848"/>
            <a:ext cx="4709160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5F5F4"/>
                </a:solidFill>
                <a:latin typeface="SF Pro Display"/>
              </a:rPr>
              <a:t>two system shocks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4956048"/>
            <a:ext cx="470916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A1A1AA"/>
                </a:solidFill>
                <a:latin typeface="SF Pro Display"/>
              </a:rPr>
              <a:t>2008 and 2022 surface cleanly, with no one labelling them.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700" b="0" i="1">
                <a:solidFill>
                  <a:srgbClr val="F59E0B"/>
                </a:solidFill>
                <a:latin typeface="SF Pro Display"/>
              </a:rPr>
              <a:t>numbers, given time, will tell on the world.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cameroon food prices  ·  a data mining story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1717A"/>
                </a:solidFill>
                <a:latin typeface="SF Pro Display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