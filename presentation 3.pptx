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1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4319F-E7CA-46EB-9A48-69F5CE308D51}" type="datetimeFigureOut">
              <a:rPr lang="en-CM" smtClean="0"/>
              <a:t>13/05/2026</a:t>
            </a:fld>
            <a:endParaRPr lang="en-C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E9EDD-EC54-4E72-A4C0-707DA83D44D9}" type="slidenum">
              <a:rPr lang="en-CM" smtClean="0"/>
              <a:t>‹#›</a:t>
            </a:fld>
            <a:endParaRPr lang="en-CM"/>
          </a:p>
        </p:txBody>
      </p:sp>
    </p:spTree>
    <p:extLst>
      <p:ext uri="{BB962C8B-B14F-4D97-AF65-F5344CB8AC3E}">
        <p14:creationId xmlns:p14="http://schemas.microsoft.com/office/powerpoint/2010/main" val="1219563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M" dirty="0"/>
          </a:p>
        </p:txBody>
      </p:sp>
      <p:sp>
        <p:nvSpPr>
          <p:cNvPr id="4" name="Slide Number Placeholder 3"/>
          <p:cNvSpPr>
            <a:spLocks noGrp="1"/>
          </p:cNvSpPr>
          <p:nvPr>
            <p:ph type="sldNum" sz="quarter" idx="5"/>
          </p:nvPr>
        </p:nvSpPr>
        <p:spPr/>
        <p:txBody>
          <a:bodyPr/>
          <a:lstStyle/>
          <a:p>
            <a:fld id="{83FE9EDD-EC54-4E72-A4C0-707DA83D44D9}" type="slidenum">
              <a:rPr lang="en-CM" smtClean="0"/>
              <a:t>9</a:t>
            </a:fld>
            <a:endParaRPr lang="en-CM"/>
          </a:p>
        </p:txBody>
      </p:sp>
    </p:spTree>
    <p:extLst>
      <p:ext uri="{BB962C8B-B14F-4D97-AF65-F5344CB8AC3E}">
        <p14:creationId xmlns:p14="http://schemas.microsoft.com/office/powerpoint/2010/main" val="2565021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M" dirty="0"/>
          </a:p>
        </p:txBody>
      </p:sp>
      <p:sp>
        <p:nvSpPr>
          <p:cNvPr id="4" name="Slide Number Placeholder 3"/>
          <p:cNvSpPr>
            <a:spLocks noGrp="1"/>
          </p:cNvSpPr>
          <p:nvPr>
            <p:ph type="sldNum" sz="quarter" idx="5"/>
          </p:nvPr>
        </p:nvSpPr>
        <p:spPr/>
        <p:txBody>
          <a:bodyPr/>
          <a:lstStyle/>
          <a:p>
            <a:fld id="{83FE9EDD-EC54-4E72-A4C0-707DA83D44D9}" type="slidenum">
              <a:rPr lang="en-CM" smtClean="0"/>
              <a:t>12</a:t>
            </a:fld>
            <a:endParaRPr lang="en-CM"/>
          </a:p>
        </p:txBody>
      </p:sp>
    </p:spTree>
    <p:extLst>
      <p:ext uri="{BB962C8B-B14F-4D97-AF65-F5344CB8AC3E}">
        <p14:creationId xmlns:p14="http://schemas.microsoft.com/office/powerpoint/2010/main" val="1527074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M" dirty="0"/>
          </a:p>
        </p:txBody>
      </p:sp>
      <p:sp>
        <p:nvSpPr>
          <p:cNvPr id="4" name="Slide Number Placeholder 3"/>
          <p:cNvSpPr>
            <a:spLocks noGrp="1"/>
          </p:cNvSpPr>
          <p:nvPr>
            <p:ph type="sldNum" sz="quarter" idx="5"/>
          </p:nvPr>
        </p:nvSpPr>
        <p:spPr/>
        <p:txBody>
          <a:bodyPr/>
          <a:lstStyle/>
          <a:p>
            <a:fld id="{83FE9EDD-EC54-4E72-A4C0-707DA83D44D9}" type="slidenum">
              <a:rPr lang="en-CM" smtClean="0"/>
              <a:t>15</a:t>
            </a:fld>
            <a:endParaRPr lang="en-CM"/>
          </a:p>
        </p:txBody>
      </p:sp>
    </p:spTree>
    <p:extLst>
      <p:ext uri="{BB962C8B-B14F-4D97-AF65-F5344CB8AC3E}">
        <p14:creationId xmlns:p14="http://schemas.microsoft.com/office/powerpoint/2010/main" val="3108544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71476"/>
            <a:ext cx="12188952" cy="7229475"/>
          </a:xfrm>
          <a:prstGeom prst="rect">
            <a:avLst/>
          </a:prstGeom>
          <a:solidFill>
            <a:srgbClr val="0D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502920"/>
            <a:ext cx="45719" cy="593445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502920"/>
            <a:ext cx="7315200" cy="274320"/>
          </a:xfrm>
          <a:prstGeom prst="rect">
            <a:avLst/>
          </a:prstGeom>
          <a:noFill/>
        </p:spPr>
        <p:txBody>
          <a:bodyPr wrap="square"/>
          <a:lstStyle/>
          <a:p>
            <a:pPr algn="l"/>
            <a:r>
              <a:rPr sz="850" b="1" i="0">
                <a:solidFill>
                  <a:srgbClr val="8A9D92"/>
                </a:solidFill>
                <a:latin typeface="Calibri"/>
              </a:rPr>
              <a:t>UNIVERSITY OF BUEA</a:t>
            </a:r>
          </a:p>
        </p:txBody>
      </p:sp>
      <p:sp>
        <p:nvSpPr>
          <p:cNvPr id="7" name="TextBox 6"/>
          <p:cNvSpPr txBox="1"/>
          <p:nvPr/>
        </p:nvSpPr>
        <p:spPr>
          <a:xfrm>
            <a:off x="749808" y="777240"/>
            <a:ext cx="8034708" cy="256032"/>
          </a:xfrm>
          <a:prstGeom prst="rect">
            <a:avLst/>
          </a:prstGeom>
          <a:noFill/>
        </p:spPr>
        <p:txBody>
          <a:bodyPr wrap="square"/>
          <a:lstStyle/>
          <a:p>
            <a:pPr algn="l"/>
            <a:r>
              <a:rPr sz="800" b="0" i="0" dirty="0">
                <a:solidFill>
                  <a:srgbClr val="8A9D92"/>
                </a:solidFill>
                <a:latin typeface="Calibri Light"/>
              </a:rPr>
              <a:t>COLLEGE OF TECHNOLOGY   |   DEPARTMENT OF COMPUTER ENGINEERING</a:t>
            </a:r>
          </a:p>
        </p:txBody>
      </p:sp>
      <p:sp>
        <p:nvSpPr>
          <p:cNvPr id="8" name="Rectangle 7"/>
          <p:cNvSpPr/>
          <p:nvPr/>
        </p:nvSpPr>
        <p:spPr>
          <a:xfrm>
            <a:off x="749808" y="1115568"/>
            <a:ext cx="7772400" cy="20116"/>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234440"/>
            <a:ext cx="8229600" cy="274320"/>
          </a:xfrm>
          <a:prstGeom prst="rect">
            <a:avLst/>
          </a:prstGeom>
          <a:noFill/>
        </p:spPr>
        <p:txBody>
          <a:bodyPr wrap="square"/>
          <a:lstStyle/>
          <a:p>
            <a:pPr algn="l"/>
            <a:r>
              <a:rPr sz="900" b="1" i="0">
                <a:solidFill>
                  <a:srgbClr val="C98B00"/>
                </a:solidFill>
                <a:latin typeface="Calibri"/>
              </a:rPr>
              <a:t>CEC420   DATA MINING   |   ACADEMIC YEAR 2025 / 2026</a:t>
            </a:r>
          </a:p>
        </p:txBody>
      </p:sp>
      <p:sp>
        <p:nvSpPr>
          <p:cNvPr id="10" name="TextBox 9"/>
          <p:cNvSpPr txBox="1"/>
          <p:nvPr/>
        </p:nvSpPr>
        <p:spPr>
          <a:xfrm>
            <a:off x="749808" y="1627632"/>
            <a:ext cx="8897112" cy="2377440"/>
          </a:xfrm>
          <a:prstGeom prst="rect">
            <a:avLst/>
          </a:prstGeom>
          <a:noFill/>
        </p:spPr>
        <p:txBody>
          <a:bodyPr wrap="square"/>
          <a:lstStyle/>
          <a:p>
            <a:pPr algn="l"/>
            <a:r>
              <a:rPr sz="4800" b="0" i="0">
                <a:solidFill>
                  <a:srgbClr val="FFFFFF"/>
                </a:solidFill>
                <a:latin typeface="Calibri Light"/>
              </a:rPr>
              <a:t>Predictive Analysis of
Food Prices in Cameroon
Using Data Mining</a:t>
            </a:r>
          </a:p>
        </p:txBody>
      </p:sp>
      <p:sp>
        <p:nvSpPr>
          <p:cNvPr id="11" name="Rectangle 10"/>
          <p:cNvSpPr/>
          <p:nvPr/>
        </p:nvSpPr>
        <p:spPr>
          <a:xfrm>
            <a:off x="749808" y="4096512"/>
            <a:ext cx="3657600"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251960"/>
            <a:ext cx="8897112" cy="658368"/>
          </a:xfrm>
          <a:prstGeom prst="rect">
            <a:avLst/>
          </a:prstGeom>
          <a:noFill/>
        </p:spPr>
        <p:txBody>
          <a:bodyPr wrap="square"/>
          <a:lstStyle/>
          <a:p>
            <a:pPr algn="l"/>
            <a:r>
              <a:rPr sz="1350" b="0" i="0" dirty="0">
                <a:solidFill>
                  <a:srgbClr val="BBD8C8"/>
                </a:solidFill>
                <a:latin typeface="Calibri Light"/>
              </a:rPr>
              <a:t>Applying classification, clustering, regression forecasting, and
pattern discovery to 21 years of WFP Cameroon price records.</a:t>
            </a:r>
          </a:p>
        </p:txBody>
      </p:sp>
      <p:sp>
        <p:nvSpPr>
          <p:cNvPr id="13" name="TextBox 12"/>
          <p:cNvSpPr txBox="1"/>
          <p:nvPr/>
        </p:nvSpPr>
        <p:spPr>
          <a:xfrm>
            <a:off x="749808" y="5074920"/>
            <a:ext cx="1645920" cy="256032"/>
          </a:xfrm>
          <a:prstGeom prst="rect">
            <a:avLst/>
          </a:prstGeom>
          <a:noFill/>
        </p:spPr>
        <p:txBody>
          <a:bodyPr wrap="square"/>
          <a:lstStyle/>
          <a:p>
            <a:pPr algn="l"/>
            <a:r>
              <a:rPr sz="750" b="1" i="0">
                <a:solidFill>
                  <a:srgbClr val="52B788"/>
                </a:solidFill>
                <a:latin typeface="Calibri"/>
              </a:rPr>
              <a:t>STUDENT</a:t>
            </a:r>
          </a:p>
        </p:txBody>
      </p:sp>
      <p:sp>
        <p:nvSpPr>
          <p:cNvPr id="14" name="TextBox 13"/>
          <p:cNvSpPr txBox="1"/>
          <p:nvPr/>
        </p:nvSpPr>
        <p:spPr>
          <a:xfrm>
            <a:off x="2423160" y="5074920"/>
            <a:ext cx="5486400" cy="256032"/>
          </a:xfrm>
          <a:prstGeom prst="rect">
            <a:avLst/>
          </a:prstGeom>
          <a:noFill/>
        </p:spPr>
        <p:txBody>
          <a:bodyPr wrap="square"/>
          <a:lstStyle/>
          <a:p>
            <a:pPr algn="l"/>
            <a:r>
              <a:rPr lang="en-US" sz="1100" b="0" i="0" dirty="0">
                <a:solidFill>
                  <a:srgbClr val="FFFFFF"/>
                </a:solidFill>
                <a:latin typeface="Calibri Light"/>
              </a:rPr>
              <a:t>NKAFU AJAPMUA</a:t>
            </a:r>
          </a:p>
        </p:txBody>
      </p:sp>
      <p:sp>
        <p:nvSpPr>
          <p:cNvPr id="15" name="TextBox 14"/>
          <p:cNvSpPr txBox="1"/>
          <p:nvPr/>
        </p:nvSpPr>
        <p:spPr>
          <a:xfrm>
            <a:off x="749808" y="5367528"/>
            <a:ext cx="1645920" cy="256032"/>
          </a:xfrm>
          <a:prstGeom prst="rect">
            <a:avLst/>
          </a:prstGeom>
          <a:noFill/>
        </p:spPr>
        <p:txBody>
          <a:bodyPr wrap="square"/>
          <a:lstStyle/>
          <a:p>
            <a:pPr algn="l"/>
            <a:r>
              <a:rPr sz="750" b="1" i="0">
                <a:solidFill>
                  <a:srgbClr val="52B788"/>
                </a:solidFill>
                <a:latin typeface="Calibri"/>
              </a:rPr>
              <a:t>MATRICULE</a:t>
            </a:r>
          </a:p>
        </p:txBody>
      </p:sp>
      <p:sp>
        <p:nvSpPr>
          <p:cNvPr id="16" name="TextBox 15"/>
          <p:cNvSpPr txBox="1"/>
          <p:nvPr/>
        </p:nvSpPr>
        <p:spPr>
          <a:xfrm>
            <a:off x="2423160" y="5367528"/>
            <a:ext cx="5486400" cy="256032"/>
          </a:xfrm>
          <a:prstGeom prst="rect">
            <a:avLst/>
          </a:prstGeom>
          <a:noFill/>
        </p:spPr>
        <p:txBody>
          <a:bodyPr wrap="square"/>
          <a:lstStyle/>
          <a:p>
            <a:pPr algn="l"/>
            <a:r>
              <a:rPr sz="1100" b="0" i="0" dirty="0">
                <a:solidFill>
                  <a:srgbClr val="FFFFFF"/>
                </a:solidFill>
                <a:latin typeface="Calibri Light"/>
              </a:rPr>
              <a:t>CT23A129</a:t>
            </a:r>
          </a:p>
        </p:txBody>
      </p:sp>
      <p:sp>
        <p:nvSpPr>
          <p:cNvPr id="17" name="TextBox 16"/>
          <p:cNvSpPr txBox="1"/>
          <p:nvPr/>
        </p:nvSpPr>
        <p:spPr>
          <a:xfrm>
            <a:off x="749808" y="5660136"/>
            <a:ext cx="1645920" cy="256032"/>
          </a:xfrm>
          <a:prstGeom prst="rect">
            <a:avLst/>
          </a:prstGeom>
          <a:noFill/>
        </p:spPr>
        <p:txBody>
          <a:bodyPr wrap="square"/>
          <a:lstStyle/>
          <a:p>
            <a:pPr algn="l"/>
            <a:r>
              <a:rPr sz="750" b="1" i="0">
                <a:solidFill>
                  <a:srgbClr val="52B788"/>
                </a:solidFill>
                <a:latin typeface="Calibri"/>
              </a:rPr>
              <a:t>COURSE</a:t>
            </a:r>
          </a:p>
        </p:txBody>
      </p:sp>
      <p:sp>
        <p:nvSpPr>
          <p:cNvPr id="18" name="TextBox 17"/>
          <p:cNvSpPr txBox="1"/>
          <p:nvPr/>
        </p:nvSpPr>
        <p:spPr>
          <a:xfrm>
            <a:off x="2423160" y="5660136"/>
            <a:ext cx="5486400" cy="256032"/>
          </a:xfrm>
          <a:prstGeom prst="rect">
            <a:avLst/>
          </a:prstGeom>
          <a:noFill/>
        </p:spPr>
        <p:txBody>
          <a:bodyPr wrap="square"/>
          <a:lstStyle/>
          <a:p>
            <a:pPr algn="l"/>
            <a:r>
              <a:rPr sz="1100" b="0" i="0" dirty="0">
                <a:solidFill>
                  <a:srgbClr val="FFFFFF"/>
                </a:solidFill>
                <a:latin typeface="Calibri Light"/>
              </a:rPr>
              <a:t>CEC420</a:t>
            </a:r>
            <a:r>
              <a:rPr lang="en-US" sz="1100" dirty="0">
                <a:solidFill>
                  <a:srgbClr val="FFFFFF"/>
                </a:solidFill>
                <a:latin typeface="Calibri Light"/>
              </a:rPr>
              <a:t> - </a:t>
            </a:r>
            <a:r>
              <a:rPr sz="1100" b="0" i="0" dirty="0">
                <a:solidFill>
                  <a:srgbClr val="FFFFFF"/>
                </a:solidFill>
                <a:latin typeface="Calibri Light"/>
              </a:rPr>
              <a:t>Data Mining</a:t>
            </a:r>
          </a:p>
        </p:txBody>
      </p:sp>
      <p:sp>
        <p:nvSpPr>
          <p:cNvPr id="19" name="TextBox 18"/>
          <p:cNvSpPr txBox="1"/>
          <p:nvPr/>
        </p:nvSpPr>
        <p:spPr>
          <a:xfrm>
            <a:off x="749808" y="5952744"/>
            <a:ext cx="1645920" cy="256032"/>
          </a:xfrm>
          <a:prstGeom prst="rect">
            <a:avLst/>
          </a:prstGeom>
          <a:noFill/>
        </p:spPr>
        <p:txBody>
          <a:bodyPr wrap="square"/>
          <a:lstStyle/>
          <a:p>
            <a:pPr algn="l"/>
            <a:r>
              <a:rPr lang="en-US" sz="750" b="1" i="0" dirty="0">
                <a:solidFill>
                  <a:srgbClr val="52B788"/>
                </a:solidFill>
                <a:latin typeface="Calibri"/>
              </a:rPr>
              <a:t>INSTRUCTOR</a:t>
            </a:r>
            <a:endParaRPr sz="750" b="1" i="0" dirty="0">
              <a:solidFill>
                <a:srgbClr val="52B788"/>
              </a:solidFill>
              <a:latin typeface="Calibri"/>
            </a:endParaRPr>
          </a:p>
        </p:txBody>
      </p:sp>
      <p:sp>
        <p:nvSpPr>
          <p:cNvPr id="20" name="TextBox 19"/>
          <p:cNvSpPr txBox="1"/>
          <p:nvPr/>
        </p:nvSpPr>
        <p:spPr>
          <a:xfrm>
            <a:off x="2423160" y="5952744"/>
            <a:ext cx="5486400" cy="256032"/>
          </a:xfrm>
          <a:prstGeom prst="rect">
            <a:avLst/>
          </a:prstGeom>
          <a:noFill/>
        </p:spPr>
        <p:txBody>
          <a:bodyPr wrap="square"/>
          <a:lstStyle/>
          <a:p>
            <a:pPr algn="l"/>
            <a:r>
              <a:rPr lang="en-US" sz="1100" dirty="0">
                <a:solidFill>
                  <a:srgbClr val="FFFFFF"/>
                </a:solidFill>
                <a:latin typeface="Calibri Light"/>
              </a:rPr>
              <a:t>M</a:t>
            </a:r>
            <a:r>
              <a:rPr sz="1100" b="0" i="0" dirty="0">
                <a:solidFill>
                  <a:srgbClr val="FFFFFF"/>
                </a:solidFill>
                <a:latin typeface="Calibri Light"/>
              </a:rPr>
              <a:t>r. </a:t>
            </a:r>
            <a:r>
              <a:rPr sz="1100" b="0" i="0" dirty="0" err="1">
                <a:solidFill>
                  <a:srgbClr val="FFFFFF"/>
                </a:solidFill>
                <a:latin typeface="Calibri Light"/>
              </a:rPr>
              <a:t>Kometa</a:t>
            </a:r>
            <a:r>
              <a:rPr lang="en-US" sz="1100" b="0" i="0" dirty="0">
                <a:solidFill>
                  <a:srgbClr val="FFFFFF"/>
                </a:solidFill>
                <a:latin typeface="Calibri Light"/>
              </a:rPr>
              <a:t> Denis</a:t>
            </a:r>
            <a:endParaRPr sz="1100" b="0" i="0" dirty="0">
              <a:solidFill>
                <a:srgbClr val="FFFFFF"/>
              </a:solidFill>
              <a:latin typeface="Calibri Light"/>
            </a:endParaRPr>
          </a:p>
        </p:txBody>
      </p:sp>
      <p:sp>
        <p:nvSpPr>
          <p:cNvPr id="21" name="TextBox 20"/>
          <p:cNvSpPr txBox="1"/>
          <p:nvPr/>
        </p:nvSpPr>
        <p:spPr>
          <a:xfrm>
            <a:off x="749808" y="6245352"/>
            <a:ext cx="1645920" cy="256032"/>
          </a:xfrm>
          <a:prstGeom prst="rect">
            <a:avLst/>
          </a:prstGeom>
          <a:noFill/>
        </p:spPr>
        <p:txBody>
          <a:bodyPr wrap="square"/>
          <a:lstStyle/>
          <a:p>
            <a:pPr algn="l"/>
            <a:r>
              <a:rPr sz="750" b="1" i="0">
                <a:solidFill>
                  <a:srgbClr val="52B788"/>
                </a:solidFill>
                <a:latin typeface="Calibri"/>
              </a:rPr>
              <a:t>SUBMITTED</a:t>
            </a:r>
          </a:p>
        </p:txBody>
      </p:sp>
      <p:sp>
        <p:nvSpPr>
          <p:cNvPr id="22" name="TextBox 21"/>
          <p:cNvSpPr txBox="1"/>
          <p:nvPr/>
        </p:nvSpPr>
        <p:spPr>
          <a:xfrm>
            <a:off x="2423160" y="6245352"/>
            <a:ext cx="5486400" cy="256032"/>
          </a:xfrm>
          <a:prstGeom prst="rect">
            <a:avLst/>
          </a:prstGeom>
          <a:noFill/>
        </p:spPr>
        <p:txBody>
          <a:bodyPr wrap="square"/>
          <a:lstStyle/>
          <a:p>
            <a:pPr algn="l"/>
            <a:r>
              <a:rPr sz="1100" b="0" i="0">
                <a:solidFill>
                  <a:srgbClr val="FFFFFF"/>
                </a:solidFill>
                <a:latin typeface="Calibri Light"/>
              </a:rPr>
              <a:t>May 2026</a:t>
            </a:r>
          </a:p>
        </p:txBody>
      </p:sp>
      <p:sp>
        <p:nvSpPr>
          <p:cNvPr id="23" name="Rectangle 22"/>
          <p:cNvSpPr/>
          <p:nvPr/>
        </p:nvSpPr>
        <p:spPr>
          <a:xfrm>
            <a:off x="9646920" y="47625"/>
            <a:ext cx="2542032" cy="685800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646920" y="0"/>
            <a:ext cx="254203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57232" y="274320"/>
            <a:ext cx="2148840" cy="237744"/>
          </a:xfrm>
          <a:prstGeom prst="rect">
            <a:avLst/>
          </a:prstGeom>
          <a:noFill/>
        </p:spPr>
        <p:txBody>
          <a:bodyPr wrap="square"/>
          <a:lstStyle/>
          <a:p>
            <a:pPr algn="l"/>
            <a:r>
              <a:rPr sz="750" b="1" i="0">
                <a:solidFill>
                  <a:srgbClr val="C98B00"/>
                </a:solidFill>
                <a:latin typeface="Calibri"/>
              </a:rPr>
              <a:t>AT A GLANCE</a:t>
            </a:r>
          </a:p>
        </p:txBody>
      </p:sp>
      <p:sp>
        <p:nvSpPr>
          <p:cNvPr id="26" name="Rectangle 25"/>
          <p:cNvSpPr/>
          <p:nvPr/>
        </p:nvSpPr>
        <p:spPr>
          <a:xfrm>
            <a:off x="9857232" y="566928"/>
            <a:ext cx="2148840" cy="20116"/>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857232" y="731520"/>
            <a:ext cx="2148840" cy="1078992"/>
          </a:xfrm>
          <a:prstGeom prst="rect">
            <a:avLst/>
          </a:prstGeom>
          <a:solidFill>
            <a:srgbClr val="0D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57232" y="822960"/>
            <a:ext cx="2148840" cy="566928"/>
          </a:xfrm>
          <a:prstGeom prst="rect">
            <a:avLst/>
          </a:prstGeom>
          <a:noFill/>
        </p:spPr>
        <p:txBody>
          <a:bodyPr wrap="square"/>
          <a:lstStyle/>
          <a:p>
            <a:pPr algn="ctr"/>
            <a:r>
              <a:rPr sz="3400" b="1" i="0">
                <a:solidFill>
                  <a:srgbClr val="C98B00"/>
                </a:solidFill>
                <a:latin typeface="Calibri"/>
              </a:rPr>
              <a:t>55,660</a:t>
            </a:r>
          </a:p>
        </p:txBody>
      </p:sp>
      <p:sp>
        <p:nvSpPr>
          <p:cNvPr id="29" name="TextBox 28"/>
          <p:cNvSpPr txBox="1"/>
          <p:nvPr/>
        </p:nvSpPr>
        <p:spPr>
          <a:xfrm>
            <a:off x="9857232" y="1389888"/>
            <a:ext cx="2148840" cy="365760"/>
          </a:xfrm>
          <a:prstGeom prst="rect">
            <a:avLst/>
          </a:prstGeom>
          <a:noFill/>
        </p:spPr>
        <p:txBody>
          <a:bodyPr wrap="square"/>
          <a:lstStyle/>
          <a:p>
            <a:pPr algn="ctr"/>
            <a:r>
              <a:rPr sz="950" b="0" i="0">
                <a:solidFill>
                  <a:srgbClr val="52B788"/>
                </a:solidFill>
                <a:latin typeface="Calibri Light"/>
              </a:rPr>
              <a:t>Cleaned
records</a:t>
            </a:r>
          </a:p>
        </p:txBody>
      </p:sp>
      <p:sp>
        <p:nvSpPr>
          <p:cNvPr id="30" name="Rectangle 29"/>
          <p:cNvSpPr/>
          <p:nvPr/>
        </p:nvSpPr>
        <p:spPr>
          <a:xfrm>
            <a:off x="9857232" y="1901952"/>
            <a:ext cx="2148840" cy="1078992"/>
          </a:xfrm>
          <a:prstGeom prst="rect">
            <a:avLst/>
          </a:prstGeom>
          <a:solidFill>
            <a:srgbClr val="0D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57232" y="1993392"/>
            <a:ext cx="2148840" cy="566928"/>
          </a:xfrm>
          <a:prstGeom prst="rect">
            <a:avLst/>
          </a:prstGeom>
          <a:noFill/>
        </p:spPr>
        <p:txBody>
          <a:bodyPr wrap="square"/>
          <a:lstStyle/>
          <a:p>
            <a:pPr algn="ctr"/>
            <a:r>
              <a:rPr sz="3400" b="1" i="0">
                <a:solidFill>
                  <a:srgbClr val="C98B00"/>
                </a:solidFill>
                <a:latin typeface="Calibri"/>
              </a:rPr>
              <a:t>21 yrs</a:t>
            </a:r>
          </a:p>
        </p:txBody>
      </p:sp>
      <p:sp>
        <p:nvSpPr>
          <p:cNvPr id="32" name="TextBox 31"/>
          <p:cNvSpPr txBox="1"/>
          <p:nvPr/>
        </p:nvSpPr>
        <p:spPr>
          <a:xfrm>
            <a:off x="9857232" y="2560320"/>
            <a:ext cx="2148840" cy="365760"/>
          </a:xfrm>
          <a:prstGeom prst="rect">
            <a:avLst/>
          </a:prstGeom>
          <a:noFill/>
        </p:spPr>
        <p:txBody>
          <a:bodyPr wrap="square"/>
          <a:lstStyle/>
          <a:p>
            <a:pPr algn="ctr"/>
            <a:r>
              <a:rPr sz="950" b="0" i="0">
                <a:solidFill>
                  <a:srgbClr val="52B788"/>
                </a:solidFill>
                <a:latin typeface="Calibri Light"/>
              </a:rPr>
              <a:t>2005 to
2026</a:t>
            </a:r>
          </a:p>
        </p:txBody>
      </p:sp>
      <p:sp>
        <p:nvSpPr>
          <p:cNvPr id="33" name="Rectangle 32"/>
          <p:cNvSpPr/>
          <p:nvPr/>
        </p:nvSpPr>
        <p:spPr>
          <a:xfrm>
            <a:off x="9857232" y="3072384"/>
            <a:ext cx="2148840" cy="1078992"/>
          </a:xfrm>
          <a:prstGeom prst="rect">
            <a:avLst/>
          </a:prstGeom>
          <a:solidFill>
            <a:srgbClr val="0D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57232" y="3163824"/>
            <a:ext cx="2148840" cy="566928"/>
          </a:xfrm>
          <a:prstGeom prst="rect">
            <a:avLst/>
          </a:prstGeom>
          <a:noFill/>
        </p:spPr>
        <p:txBody>
          <a:bodyPr wrap="square"/>
          <a:lstStyle/>
          <a:p>
            <a:pPr algn="ctr"/>
            <a:r>
              <a:rPr sz="3400" b="1" i="0">
                <a:solidFill>
                  <a:srgbClr val="C98B00"/>
                </a:solidFill>
                <a:latin typeface="Calibri"/>
              </a:rPr>
              <a:t>9</a:t>
            </a:r>
          </a:p>
        </p:txBody>
      </p:sp>
      <p:sp>
        <p:nvSpPr>
          <p:cNvPr id="35" name="TextBox 34"/>
          <p:cNvSpPr txBox="1"/>
          <p:nvPr/>
        </p:nvSpPr>
        <p:spPr>
          <a:xfrm>
            <a:off x="9857232" y="3730752"/>
            <a:ext cx="2148840" cy="365760"/>
          </a:xfrm>
          <a:prstGeom prst="rect">
            <a:avLst/>
          </a:prstGeom>
          <a:noFill/>
        </p:spPr>
        <p:txBody>
          <a:bodyPr wrap="square"/>
          <a:lstStyle/>
          <a:p>
            <a:pPr algn="ctr"/>
            <a:r>
              <a:rPr sz="950" b="0" i="0">
                <a:solidFill>
                  <a:srgbClr val="52B788"/>
                </a:solidFill>
                <a:latin typeface="Calibri Light"/>
              </a:rPr>
              <a:t>Cameroon
regions</a:t>
            </a:r>
          </a:p>
        </p:txBody>
      </p:sp>
      <p:sp>
        <p:nvSpPr>
          <p:cNvPr id="36" name="Rectangle 35"/>
          <p:cNvSpPr/>
          <p:nvPr/>
        </p:nvSpPr>
        <p:spPr>
          <a:xfrm>
            <a:off x="9857232" y="4242816"/>
            <a:ext cx="2148840" cy="1078992"/>
          </a:xfrm>
          <a:prstGeom prst="rect">
            <a:avLst/>
          </a:prstGeom>
          <a:solidFill>
            <a:srgbClr val="0D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57232" y="4334255"/>
            <a:ext cx="2148840" cy="566928"/>
          </a:xfrm>
          <a:prstGeom prst="rect">
            <a:avLst/>
          </a:prstGeom>
          <a:noFill/>
        </p:spPr>
        <p:txBody>
          <a:bodyPr wrap="square"/>
          <a:lstStyle/>
          <a:p>
            <a:pPr algn="ctr"/>
            <a:r>
              <a:rPr sz="3400" b="1" i="0">
                <a:solidFill>
                  <a:srgbClr val="C98B00"/>
                </a:solidFill>
                <a:latin typeface="Calibri"/>
              </a:rPr>
              <a:t>40+</a:t>
            </a:r>
          </a:p>
        </p:txBody>
      </p:sp>
      <p:sp>
        <p:nvSpPr>
          <p:cNvPr id="38" name="TextBox 37"/>
          <p:cNvSpPr txBox="1"/>
          <p:nvPr/>
        </p:nvSpPr>
        <p:spPr>
          <a:xfrm>
            <a:off x="9857232" y="4901183"/>
            <a:ext cx="2148840" cy="365760"/>
          </a:xfrm>
          <a:prstGeom prst="rect">
            <a:avLst/>
          </a:prstGeom>
          <a:noFill/>
        </p:spPr>
        <p:txBody>
          <a:bodyPr wrap="square"/>
          <a:lstStyle/>
          <a:p>
            <a:pPr algn="ctr"/>
            <a:r>
              <a:rPr sz="950" b="0" i="0">
                <a:solidFill>
                  <a:srgbClr val="52B788"/>
                </a:solidFill>
                <a:latin typeface="Calibri Light"/>
              </a:rPr>
              <a:t>Commodity
types</a:t>
            </a:r>
          </a:p>
        </p:txBody>
      </p:sp>
      <p:sp>
        <p:nvSpPr>
          <p:cNvPr id="39" name="Rectangle 38"/>
          <p:cNvSpPr/>
          <p:nvPr/>
        </p:nvSpPr>
        <p:spPr>
          <a:xfrm>
            <a:off x="9857232" y="5413248"/>
            <a:ext cx="2148840" cy="1078992"/>
          </a:xfrm>
          <a:prstGeom prst="rect">
            <a:avLst/>
          </a:prstGeom>
          <a:solidFill>
            <a:srgbClr val="0D2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57232" y="5504688"/>
            <a:ext cx="2148840" cy="566928"/>
          </a:xfrm>
          <a:prstGeom prst="rect">
            <a:avLst/>
          </a:prstGeom>
          <a:noFill/>
        </p:spPr>
        <p:txBody>
          <a:bodyPr wrap="square"/>
          <a:lstStyle/>
          <a:p>
            <a:pPr algn="ctr"/>
            <a:r>
              <a:rPr sz="3400" b="1" i="0">
                <a:solidFill>
                  <a:srgbClr val="C98B00"/>
                </a:solidFill>
                <a:latin typeface="Calibri"/>
              </a:rPr>
              <a:t>4</a:t>
            </a:r>
          </a:p>
        </p:txBody>
      </p:sp>
      <p:sp>
        <p:nvSpPr>
          <p:cNvPr id="41" name="TextBox 40"/>
          <p:cNvSpPr txBox="1"/>
          <p:nvPr/>
        </p:nvSpPr>
        <p:spPr>
          <a:xfrm>
            <a:off x="9857232" y="6071616"/>
            <a:ext cx="2148840" cy="365760"/>
          </a:xfrm>
          <a:prstGeom prst="rect">
            <a:avLst/>
          </a:prstGeom>
          <a:noFill/>
        </p:spPr>
        <p:txBody>
          <a:bodyPr wrap="square"/>
          <a:lstStyle/>
          <a:p>
            <a:pPr algn="ctr"/>
            <a:r>
              <a:rPr sz="950" b="0" i="0">
                <a:solidFill>
                  <a:srgbClr val="52B788"/>
                </a:solidFill>
                <a:latin typeface="Calibri Light"/>
              </a:rPr>
              <a:t>Analytical
tasks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EXECUTIVE SUMMARY</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What This Project Delivers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2 / 16</a:t>
            </a:r>
          </a:p>
        </p:txBody>
      </p:sp>
      <p:sp>
        <p:nvSpPr>
          <p:cNvPr id="10" name="TextBox 9"/>
          <p:cNvSpPr txBox="1"/>
          <p:nvPr/>
        </p:nvSpPr>
        <p:spPr>
          <a:xfrm>
            <a:off x="594360" y="987552"/>
            <a:ext cx="5317236" cy="292608"/>
          </a:xfrm>
          <a:prstGeom prst="rect">
            <a:avLst/>
          </a:prstGeom>
          <a:noFill/>
        </p:spPr>
        <p:txBody>
          <a:bodyPr wrap="square"/>
          <a:lstStyle/>
          <a:p>
            <a:pPr algn="l"/>
            <a:r>
              <a:rPr sz="1300" b="1" i="0">
                <a:solidFill>
                  <a:srgbClr val="1B4D3E"/>
                </a:solidFill>
                <a:latin typeface="Calibri"/>
              </a:rPr>
              <a:t>Project Overview</a:t>
            </a:r>
          </a:p>
        </p:txBody>
      </p:sp>
      <p:sp>
        <p:nvSpPr>
          <p:cNvPr id="11" name="Rectangle 10"/>
          <p:cNvSpPr/>
          <p:nvPr/>
        </p:nvSpPr>
        <p:spPr>
          <a:xfrm>
            <a:off x="594360"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408176"/>
            <a:ext cx="5317236" cy="2926080"/>
          </a:xfrm>
          <a:prstGeom prst="rect">
            <a:avLst/>
          </a:prstGeom>
          <a:noFill/>
        </p:spPr>
        <p:txBody>
          <a:bodyPr wrap="square"/>
          <a:lstStyle/>
          <a:p>
            <a:pPr algn="l"/>
            <a:r>
              <a:rPr sz="1100" b="0" i="0">
                <a:solidFill>
                  <a:srgbClr val="3D4D44"/>
                </a:solidFill>
                <a:latin typeface="Calibri Light"/>
              </a:rPr>
              <a:t>Food prices in Cameroon fluctuate frequently, creating hardship for consumers and uncertainty for traders. This project applies four data mining techniques to 21 years of monthly retail price data collected by the World Food Programme across all nine administrative regions of Cameroon.
The dataset spans January 2005 to March 2026 and covers more than 40 food commodities ranging from cereals and pulses to fresh fish and cooking oil. After filtering for retail transactions and removing incomplete records, 55,660 observations were retained for analysis.
All analysis was conducted in Python using five Jupyter notebooks — one per analytical task — producing 16 figures and quantified model results that form the basis of this report.</a:t>
            </a:r>
          </a:p>
        </p:txBody>
      </p:sp>
      <p:sp>
        <p:nvSpPr>
          <p:cNvPr id="13" name="TextBox 12"/>
          <p:cNvSpPr txBox="1"/>
          <p:nvPr/>
        </p:nvSpPr>
        <p:spPr>
          <a:xfrm>
            <a:off x="594360" y="4480560"/>
            <a:ext cx="5317236" cy="274320"/>
          </a:xfrm>
          <a:prstGeom prst="rect">
            <a:avLst/>
          </a:prstGeom>
          <a:noFill/>
        </p:spPr>
        <p:txBody>
          <a:bodyPr wrap="square"/>
          <a:lstStyle/>
          <a:p>
            <a:pPr algn="l"/>
            <a:r>
              <a:rPr sz="1000" b="1" i="0">
                <a:solidFill>
                  <a:srgbClr val="1B4D3E"/>
                </a:solidFill>
                <a:latin typeface="Calibri"/>
              </a:rPr>
              <a:t>Study Area</a:t>
            </a:r>
          </a:p>
        </p:txBody>
      </p:sp>
      <p:sp>
        <p:nvSpPr>
          <p:cNvPr id="14" name="TextBox 13"/>
          <p:cNvSpPr txBox="1"/>
          <p:nvPr/>
        </p:nvSpPr>
        <p:spPr>
          <a:xfrm>
            <a:off x="594360" y="4791456"/>
            <a:ext cx="5317236" cy="548640"/>
          </a:xfrm>
          <a:prstGeom prst="rect">
            <a:avLst/>
          </a:prstGeom>
          <a:noFill/>
        </p:spPr>
        <p:txBody>
          <a:bodyPr wrap="square"/>
          <a:lstStyle/>
          <a:p>
            <a:pPr algn="l"/>
            <a:r>
              <a:rPr sz="1000" b="0" i="0">
                <a:solidFill>
                  <a:srgbClr val="3D4D44"/>
                </a:solidFill>
                <a:latin typeface="Calibri Light"/>
              </a:rPr>
              <a:t>Republic of Cameroon — nine administrative regions: Adamaoua, Centre, East, Far North, Littoral, North, North-West, South, South-West.</a:t>
            </a:r>
          </a:p>
        </p:txBody>
      </p:sp>
      <p:sp>
        <p:nvSpPr>
          <p:cNvPr id="15" name="TextBox 14"/>
          <p:cNvSpPr txBox="1"/>
          <p:nvPr/>
        </p:nvSpPr>
        <p:spPr>
          <a:xfrm>
            <a:off x="594360" y="5468112"/>
            <a:ext cx="5317236" cy="274320"/>
          </a:xfrm>
          <a:prstGeom prst="rect">
            <a:avLst/>
          </a:prstGeom>
          <a:noFill/>
        </p:spPr>
        <p:txBody>
          <a:bodyPr wrap="square"/>
          <a:lstStyle/>
          <a:p>
            <a:pPr algn="l"/>
            <a:r>
              <a:rPr sz="1000" b="1" i="0">
                <a:solidFill>
                  <a:srgbClr val="1B4D3E"/>
                </a:solidFill>
                <a:latin typeface="Calibri"/>
              </a:rPr>
              <a:t>Data Source</a:t>
            </a:r>
          </a:p>
        </p:txBody>
      </p:sp>
      <p:sp>
        <p:nvSpPr>
          <p:cNvPr id="16" name="TextBox 15"/>
          <p:cNvSpPr txBox="1"/>
          <p:nvPr/>
        </p:nvSpPr>
        <p:spPr>
          <a:xfrm>
            <a:off x="594360" y="5779008"/>
            <a:ext cx="5317236" cy="502920"/>
          </a:xfrm>
          <a:prstGeom prst="rect">
            <a:avLst/>
          </a:prstGeom>
          <a:noFill/>
        </p:spPr>
        <p:txBody>
          <a:bodyPr wrap="square"/>
          <a:lstStyle/>
          <a:p>
            <a:pPr algn="l"/>
            <a:r>
              <a:rPr sz="1000" b="0" i="0">
                <a:solidFill>
                  <a:srgbClr val="3D4D44"/>
                </a:solidFill>
                <a:latin typeface="Calibri Light"/>
              </a:rPr>
              <a:t>World Food Programme (WFP) — Humanitarian Data Exchange (HDX). Freely available under a Creative Commons licence.</a:t>
            </a:r>
          </a:p>
        </p:txBody>
      </p:sp>
      <p:sp>
        <p:nvSpPr>
          <p:cNvPr id="17" name="TextBox 16"/>
          <p:cNvSpPr txBox="1"/>
          <p:nvPr/>
        </p:nvSpPr>
        <p:spPr>
          <a:xfrm>
            <a:off x="6277356" y="987552"/>
            <a:ext cx="5317236" cy="292608"/>
          </a:xfrm>
          <a:prstGeom prst="rect">
            <a:avLst/>
          </a:prstGeom>
          <a:noFill/>
        </p:spPr>
        <p:txBody>
          <a:bodyPr wrap="square"/>
          <a:lstStyle/>
          <a:p>
            <a:pPr algn="l"/>
            <a:r>
              <a:rPr sz="1300" b="1" i="0">
                <a:solidFill>
                  <a:srgbClr val="1B4D3E"/>
                </a:solidFill>
                <a:latin typeface="Calibri"/>
              </a:rPr>
              <a:t>Key Results</a:t>
            </a:r>
          </a:p>
        </p:txBody>
      </p:sp>
      <p:sp>
        <p:nvSpPr>
          <p:cNvPr id="18" name="Rectangle 17"/>
          <p:cNvSpPr/>
          <p:nvPr/>
        </p:nvSpPr>
        <p:spPr>
          <a:xfrm>
            <a:off x="6277356"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77356" y="1444752"/>
            <a:ext cx="5317236"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77356" y="1444752"/>
            <a:ext cx="531723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60236" y="1536192"/>
            <a:ext cx="5042916" cy="402336"/>
          </a:xfrm>
          <a:prstGeom prst="rect">
            <a:avLst/>
          </a:prstGeom>
          <a:noFill/>
        </p:spPr>
        <p:txBody>
          <a:bodyPr wrap="square"/>
          <a:lstStyle/>
          <a:p>
            <a:pPr algn="l"/>
            <a:r>
              <a:rPr sz="2600" b="1" i="0">
                <a:solidFill>
                  <a:srgbClr val="C98B00"/>
                </a:solidFill>
                <a:latin typeface="Calibri"/>
              </a:rPr>
              <a:t>69.2 %</a:t>
            </a:r>
          </a:p>
        </p:txBody>
      </p:sp>
      <p:sp>
        <p:nvSpPr>
          <p:cNvPr id="22" name="TextBox 21"/>
          <p:cNvSpPr txBox="1"/>
          <p:nvPr/>
        </p:nvSpPr>
        <p:spPr>
          <a:xfrm>
            <a:off x="6460236" y="1956816"/>
            <a:ext cx="5042916" cy="256032"/>
          </a:xfrm>
          <a:prstGeom prst="rect">
            <a:avLst/>
          </a:prstGeom>
          <a:noFill/>
        </p:spPr>
        <p:txBody>
          <a:bodyPr wrap="square"/>
          <a:lstStyle/>
          <a:p>
            <a:pPr algn="l"/>
            <a:r>
              <a:rPr sz="1050" b="1" i="0">
                <a:solidFill>
                  <a:srgbClr val="1B4D3E"/>
                </a:solidFill>
                <a:latin typeface="Calibri"/>
              </a:rPr>
              <a:t>Classification accuracy</a:t>
            </a:r>
          </a:p>
        </p:txBody>
      </p:sp>
      <p:sp>
        <p:nvSpPr>
          <p:cNvPr id="23" name="TextBox 22"/>
          <p:cNvSpPr txBox="1"/>
          <p:nvPr/>
        </p:nvSpPr>
        <p:spPr>
          <a:xfrm>
            <a:off x="6460236" y="2249424"/>
            <a:ext cx="5042916" cy="347472"/>
          </a:xfrm>
          <a:prstGeom prst="rect">
            <a:avLst/>
          </a:prstGeom>
          <a:noFill/>
        </p:spPr>
        <p:txBody>
          <a:bodyPr wrap="square"/>
          <a:lstStyle/>
          <a:p>
            <a:pPr algn="l"/>
            <a:r>
              <a:rPr sz="950" b="0" i="0">
                <a:solidFill>
                  <a:srgbClr val="3D4D44"/>
                </a:solidFill>
                <a:latin typeface="Calibri Light"/>
              </a:rPr>
              <a:t>Random Forest classifier on price level (Low / Medium / High) — commodity encoding is the dominant feature</a:t>
            </a:r>
          </a:p>
        </p:txBody>
      </p:sp>
      <p:sp>
        <p:nvSpPr>
          <p:cNvPr id="24" name="Rectangle 23"/>
          <p:cNvSpPr/>
          <p:nvPr/>
        </p:nvSpPr>
        <p:spPr>
          <a:xfrm>
            <a:off x="6277356" y="2724912"/>
            <a:ext cx="5317236"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77356" y="2724912"/>
            <a:ext cx="5317236" cy="50292"/>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60236" y="2816352"/>
            <a:ext cx="5042916" cy="402336"/>
          </a:xfrm>
          <a:prstGeom prst="rect">
            <a:avLst/>
          </a:prstGeom>
          <a:noFill/>
        </p:spPr>
        <p:txBody>
          <a:bodyPr wrap="square"/>
          <a:lstStyle/>
          <a:p>
            <a:pPr algn="l"/>
            <a:r>
              <a:rPr sz="2600" b="1" i="0">
                <a:solidFill>
                  <a:srgbClr val="52B788"/>
                </a:solidFill>
                <a:latin typeface="Calibri"/>
              </a:rPr>
              <a:t>k = 4</a:t>
            </a:r>
          </a:p>
        </p:txBody>
      </p:sp>
      <p:sp>
        <p:nvSpPr>
          <p:cNvPr id="27" name="TextBox 26"/>
          <p:cNvSpPr txBox="1"/>
          <p:nvPr/>
        </p:nvSpPr>
        <p:spPr>
          <a:xfrm>
            <a:off x="6460236" y="3236976"/>
            <a:ext cx="5042916" cy="256032"/>
          </a:xfrm>
          <a:prstGeom prst="rect">
            <a:avLst/>
          </a:prstGeom>
          <a:noFill/>
        </p:spPr>
        <p:txBody>
          <a:bodyPr wrap="square"/>
          <a:lstStyle/>
          <a:p>
            <a:pPr algn="l"/>
            <a:r>
              <a:rPr sz="1050" b="1" i="0">
                <a:solidFill>
                  <a:srgbClr val="1B4D3E"/>
                </a:solidFill>
                <a:latin typeface="Calibri"/>
              </a:rPr>
              <a:t>Optimal cluster count</a:t>
            </a:r>
          </a:p>
        </p:txBody>
      </p:sp>
      <p:sp>
        <p:nvSpPr>
          <p:cNvPr id="28" name="TextBox 27"/>
          <p:cNvSpPr txBox="1"/>
          <p:nvPr/>
        </p:nvSpPr>
        <p:spPr>
          <a:xfrm>
            <a:off x="6460236" y="3529584"/>
            <a:ext cx="5042916" cy="347472"/>
          </a:xfrm>
          <a:prstGeom prst="rect">
            <a:avLst/>
          </a:prstGeom>
          <a:noFill/>
        </p:spPr>
        <p:txBody>
          <a:bodyPr wrap="square"/>
          <a:lstStyle/>
          <a:p>
            <a:pPr algn="l"/>
            <a:r>
              <a:rPr sz="950" b="0" i="0">
                <a:solidFill>
                  <a:srgbClr val="3D4D44"/>
                </a:solidFill>
                <a:latin typeface="Calibri Light"/>
              </a:rPr>
              <a:t>K-Means elbow method confirms four structurally distinct market groups aligned with Cameroon's economic geography</a:t>
            </a:r>
          </a:p>
        </p:txBody>
      </p:sp>
      <p:sp>
        <p:nvSpPr>
          <p:cNvPr id="29" name="Rectangle 28"/>
          <p:cNvSpPr/>
          <p:nvPr/>
        </p:nvSpPr>
        <p:spPr>
          <a:xfrm>
            <a:off x="6277356" y="4005072"/>
            <a:ext cx="5317236"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77356" y="4005072"/>
            <a:ext cx="5317236" cy="50292"/>
          </a:xfrm>
          <a:prstGeom prst="rect">
            <a:avLst/>
          </a:prstGeom>
          <a:solidFill>
            <a:srgbClr val="E8A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0236" y="4096511"/>
            <a:ext cx="5042916" cy="402336"/>
          </a:xfrm>
          <a:prstGeom prst="rect">
            <a:avLst/>
          </a:prstGeom>
          <a:noFill/>
        </p:spPr>
        <p:txBody>
          <a:bodyPr wrap="square"/>
          <a:lstStyle/>
          <a:p>
            <a:pPr algn="l"/>
            <a:r>
              <a:rPr sz="2600" b="1" i="0">
                <a:solidFill>
                  <a:srgbClr val="E8A820"/>
                </a:solidFill>
                <a:latin typeface="Calibri"/>
              </a:rPr>
              <a:t>R² = 0.48</a:t>
            </a:r>
          </a:p>
        </p:txBody>
      </p:sp>
      <p:sp>
        <p:nvSpPr>
          <p:cNvPr id="32" name="TextBox 31"/>
          <p:cNvSpPr txBox="1"/>
          <p:nvPr/>
        </p:nvSpPr>
        <p:spPr>
          <a:xfrm>
            <a:off x="6460236" y="4517136"/>
            <a:ext cx="5042916" cy="256032"/>
          </a:xfrm>
          <a:prstGeom prst="rect">
            <a:avLst/>
          </a:prstGeom>
          <a:noFill/>
        </p:spPr>
        <p:txBody>
          <a:bodyPr wrap="square"/>
          <a:lstStyle/>
          <a:p>
            <a:pPr algn="l"/>
            <a:r>
              <a:rPr sz="1050" b="1" i="0">
                <a:solidFill>
                  <a:srgbClr val="1B4D3E"/>
                </a:solidFill>
                <a:latin typeface="Calibri"/>
              </a:rPr>
              <a:t>Regression fit</a:t>
            </a:r>
          </a:p>
        </p:txBody>
      </p:sp>
      <p:sp>
        <p:nvSpPr>
          <p:cNvPr id="33" name="TextBox 32"/>
          <p:cNvSpPr txBox="1"/>
          <p:nvPr/>
        </p:nvSpPr>
        <p:spPr>
          <a:xfrm>
            <a:off x="6460236" y="4809744"/>
            <a:ext cx="5042916" cy="347472"/>
          </a:xfrm>
          <a:prstGeom prst="rect">
            <a:avLst/>
          </a:prstGeom>
          <a:noFill/>
        </p:spPr>
        <p:txBody>
          <a:bodyPr wrap="square"/>
          <a:lstStyle/>
          <a:p>
            <a:pPr algn="l"/>
            <a:r>
              <a:rPr sz="950" b="0" i="0">
                <a:solidFill>
                  <a:srgbClr val="3D4D44"/>
                </a:solidFill>
                <a:latin typeface="Calibri Light"/>
              </a:rPr>
              <a:t>Random Forest Regressor using six monthly lag features; RMSE = 59.96 XAF; MAE = 35.05 XAF on Maize time-series</a:t>
            </a:r>
          </a:p>
        </p:txBody>
      </p:sp>
      <p:sp>
        <p:nvSpPr>
          <p:cNvPr id="34" name="Rectangle 33"/>
          <p:cNvSpPr/>
          <p:nvPr/>
        </p:nvSpPr>
        <p:spPr>
          <a:xfrm>
            <a:off x="6277356" y="5285231"/>
            <a:ext cx="5317236"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77356" y="5285231"/>
            <a:ext cx="5317236" cy="50292"/>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60236" y="5376671"/>
            <a:ext cx="5042916" cy="402336"/>
          </a:xfrm>
          <a:prstGeom prst="rect">
            <a:avLst/>
          </a:prstGeom>
          <a:noFill/>
        </p:spPr>
        <p:txBody>
          <a:bodyPr wrap="square"/>
          <a:lstStyle/>
          <a:p>
            <a:pPr algn="l"/>
            <a:r>
              <a:rPr sz="2600" b="1" i="0">
                <a:solidFill>
                  <a:srgbClr val="3A8C63"/>
                </a:solidFill>
                <a:latin typeface="Calibri"/>
              </a:rPr>
              <a:t>Jun–Aug</a:t>
            </a:r>
          </a:p>
        </p:txBody>
      </p:sp>
      <p:sp>
        <p:nvSpPr>
          <p:cNvPr id="37" name="TextBox 36"/>
          <p:cNvSpPr txBox="1"/>
          <p:nvPr/>
        </p:nvSpPr>
        <p:spPr>
          <a:xfrm>
            <a:off x="6460236" y="5797296"/>
            <a:ext cx="5042916" cy="256032"/>
          </a:xfrm>
          <a:prstGeom prst="rect">
            <a:avLst/>
          </a:prstGeom>
          <a:noFill/>
        </p:spPr>
        <p:txBody>
          <a:bodyPr wrap="square"/>
          <a:lstStyle/>
          <a:p>
            <a:pPr algn="l"/>
            <a:r>
              <a:rPr sz="1050" b="1" i="0">
                <a:solidFill>
                  <a:srgbClr val="1B4D3E"/>
                </a:solidFill>
                <a:latin typeface="Calibri"/>
              </a:rPr>
              <a:t>Lean-season price peak</a:t>
            </a:r>
          </a:p>
        </p:txBody>
      </p:sp>
      <p:sp>
        <p:nvSpPr>
          <p:cNvPr id="38" name="TextBox 37"/>
          <p:cNvSpPr txBox="1"/>
          <p:nvPr/>
        </p:nvSpPr>
        <p:spPr>
          <a:xfrm>
            <a:off x="6460236" y="6089903"/>
            <a:ext cx="5042916" cy="347472"/>
          </a:xfrm>
          <a:prstGeom prst="rect">
            <a:avLst/>
          </a:prstGeom>
          <a:noFill/>
        </p:spPr>
        <p:txBody>
          <a:bodyPr wrap="square"/>
          <a:lstStyle/>
          <a:p>
            <a:pPr algn="l"/>
            <a:r>
              <a:rPr sz="950" b="0" i="0">
                <a:solidFill>
                  <a:srgbClr val="3D4D44"/>
                </a:solidFill>
                <a:latin typeface="Calibri Light"/>
              </a:rPr>
              <a:t>Consistent annual spike across all regions and commodities — repeatable pattern with policy intervention potential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CONTENTS</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Structure of This Presentation</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3 / 16</a:t>
            </a:r>
          </a:p>
        </p:txBody>
      </p:sp>
      <p:sp>
        <p:nvSpPr>
          <p:cNvPr id="10" name="Rectangle 9"/>
          <p:cNvSpPr/>
          <p:nvPr/>
        </p:nvSpPr>
        <p:spPr>
          <a:xfrm>
            <a:off x="594360" y="1042416"/>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042416"/>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298448"/>
            <a:ext cx="502920" cy="438912"/>
          </a:xfrm>
          <a:prstGeom prst="rect">
            <a:avLst/>
          </a:prstGeom>
          <a:noFill/>
        </p:spPr>
        <p:txBody>
          <a:bodyPr wrap="square"/>
          <a:lstStyle/>
          <a:p>
            <a:pPr algn="ctr"/>
            <a:r>
              <a:rPr sz="1600" b="1" i="0" dirty="0">
                <a:solidFill>
                  <a:srgbClr val="FFFFFF"/>
                </a:solidFill>
                <a:latin typeface="Calibri"/>
              </a:rPr>
              <a:t>01</a:t>
            </a:r>
          </a:p>
        </p:txBody>
      </p:sp>
      <p:sp>
        <p:nvSpPr>
          <p:cNvPr id="13" name="TextBox 12"/>
          <p:cNvSpPr txBox="1"/>
          <p:nvPr/>
        </p:nvSpPr>
        <p:spPr>
          <a:xfrm>
            <a:off x="1216152" y="1115568"/>
            <a:ext cx="4585716" cy="329184"/>
          </a:xfrm>
          <a:prstGeom prst="rect">
            <a:avLst/>
          </a:prstGeom>
          <a:noFill/>
        </p:spPr>
        <p:txBody>
          <a:bodyPr wrap="square"/>
          <a:lstStyle/>
          <a:p>
            <a:pPr algn="l"/>
            <a:r>
              <a:rPr sz="1200" b="1" i="0">
                <a:solidFill>
                  <a:srgbClr val="141820"/>
                </a:solidFill>
                <a:latin typeface="Calibri"/>
              </a:rPr>
              <a:t>Problem Statement</a:t>
            </a:r>
          </a:p>
        </p:txBody>
      </p:sp>
      <p:sp>
        <p:nvSpPr>
          <p:cNvPr id="14" name="TextBox 13"/>
          <p:cNvSpPr txBox="1"/>
          <p:nvPr/>
        </p:nvSpPr>
        <p:spPr>
          <a:xfrm>
            <a:off x="1216152" y="1499616"/>
            <a:ext cx="4585716" cy="438912"/>
          </a:xfrm>
          <a:prstGeom prst="rect">
            <a:avLst/>
          </a:prstGeom>
          <a:noFill/>
        </p:spPr>
        <p:txBody>
          <a:bodyPr wrap="square"/>
          <a:lstStyle/>
          <a:p>
            <a:pPr algn="l"/>
            <a:r>
              <a:rPr sz="1000" b="0" i="0">
                <a:solidFill>
                  <a:srgbClr val="3D4D44"/>
                </a:solidFill>
                <a:latin typeface="Calibri Light"/>
              </a:rPr>
              <a:t>Research motivation and food price challenge in Cameroon</a:t>
            </a:r>
          </a:p>
        </p:txBody>
      </p:sp>
      <p:sp>
        <p:nvSpPr>
          <p:cNvPr id="15" name="Rectangle 14"/>
          <p:cNvSpPr/>
          <p:nvPr/>
        </p:nvSpPr>
        <p:spPr>
          <a:xfrm>
            <a:off x="594360" y="2103120"/>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2103120"/>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2359152"/>
            <a:ext cx="502920" cy="438912"/>
          </a:xfrm>
          <a:prstGeom prst="rect">
            <a:avLst/>
          </a:prstGeom>
          <a:noFill/>
        </p:spPr>
        <p:txBody>
          <a:bodyPr wrap="square"/>
          <a:lstStyle/>
          <a:p>
            <a:pPr algn="ctr"/>
            <a:r>
              <a:rPr sz="1600" b="1" i="0">
                <a:solidFill>
                  <a:srgbClr val="FFFFFF"/>
                </a:solidFill>
                <a:latin typeface="Calibri"/>
              </a:rPr>
              <a:t>02</a:t>
            </a:r>
          </a:p>
        </p:txBody>
      </p:sp>
      <p:sp>
        <p:nvSpPr>
          <p:cNvPr id="18" name="TextBox 17"/>
          <p:cNvSpPr txBox="1"/>
          <p:nvPr/>
        </p:nvSpPr>
        <p:spPr>
          <a:xfrm>
            <a:off x="1216152" y="2176272"/>
            <a:ext cx="4585716" cy="329184"/>
          </a:xfrm>
          <a:prstGeom prst="rect">
            <a:avLst/>
          </a:prstGeom>
          <a:noFill/>
        </p:spPr>
        <p:txBody>
          <a:bodyPr wrap="square"/>
          <a:lstStyle/>
          <a:p>
            <a:pPr algn="l"/>
            <a:r>
              <a:rPr sz="1200" b="1" i="0">
                <a:solidFill>
                  <a:srgbClr val="141820"/>
                </a:solidFill>
                <a:latin typeface="Calibri"/>
              </a:rPr>
              <a:t>Dataset</a:t>
            </a:r>
          </a:p>
        </p:txBody>
      </p:sp>
      <p:sp>
        <p:nvSpPr>
          <p:cNvPr id="19" name="TextBox 18"/>
          <p:cNvSpPr txBox="1"/>
          <p:nvPr/>
        </p:nvSpPr>
        <p:spPr>
          <a:xfrm>
            <a:off x="1216152" y="2560320"/>
            <a:ext cx="4585716" cy="438912"/>
          </a:xfrm>
          <a:prstGeom prst="rect">
            <a:avLst/>
          </a:prstGeom>
          <a:noFill/>
        </p:spPr>
        <p:txBody>
          <a:bodyPr wrap="square"/>
          <a:lstStyle/>
          <a:p>
            <a:pPr algn="l"/>
            <a:r>
              <a:rPr sz="1000" b="0" i="0">
                <a:solidFill>
                  <a:srgbClr val="3D4D44"/>
                </a:solidFill>
                <a:latin typeface="Calibri Light"/>
              </a:rPr>
              <a:t>WFP source data, coverage, variables, and quality checks</a:t>
            </a:r>
          </a:p>
        </p:txBody>
      </p:sp>
      <p:sp>
        <p:nvSpPr>
          <p:cNvPr id="20" name="Rectangle 19"/>
          <p:cNvSpPr/>
          <p:nvPr/>
        </p:nvSpPr>
        <p:spPr>
          <a:xfrm>
            <a:off x="594360" y="3163824"/>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 y="3163824"/>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419856"/>
            <a:ext cx="502920" cy="438912"/>
          </a:xfrm>
          <a:prstGeom prst="rect">
            <a:avLst/>
          </a:prstGeom>
          <a:noFill/>
        </p:spPr>
        <p:txBody>
          <a:bodyPr wrap="square"/>
          <a:lstStyle/>
          <a:p>
            <a:pPr algn="ctr"/>
            <a:r>
              <a:rPr sz="1600" b="1" i="0">
                <a:solidFill>
                  <a:srgbClr val="FFFFFF"/>
                </a:solidFill>
                <a:latin typeface="Calibri"/>
              </a:rPr>
              <a:t>03</a:t>
            </a:r>
          </a:p>
        </p:txBody>
      </p:sp>
      <p:sp>
        <p:nvSpPr>
          <p:cNvPr id="23" name="TextBox 22"/>
          <p:cNvSpPr txBox="1"/>
          <p:nvPr/>
        </p:nvSpPr>
        <p:spPr>
          <a:xfrm>
            <a:off x="1216152" y="3236976"/>
            <a:ext cx="4585716" cy="329184"/>
          </a:xfrm>
          <a:prstGeom prst="rect">
            <a:avLst/>
          </a:prstGeom>
          <a:noFill/>
        </p:spPr>
        <p:txBody>
          <a:bodyPr wrap="square"/>
          <a:lstStyle/>
          <a:p>
            <a:pPr algn="l"/>
            <a:r>
              <a:rPr sz="1200" b="1" i="0" dirty="0">
                <a:solidFill>
                  <a:srgbClr val="141820"/>
                </a:solidFill>
                <a:latin typeface="Calibri"/>
              </a:rPr>
              <a:t>Data Exploration</a:t>
            </a:r>
          </a:p>
        </p:txBody>
      </p:sp>
      <p:sp>
        <p:nvSpPr>
          <p:cNvPr id="24" name="TextBox 23"/>
          <p:cNvSpPr txBox="1"/>
          <p:nvPr/>
        </p:nvSpPr>
        <p:spPr>
          <a:xfrm>
            <a:off x="1216152" y="3621024"/>
            <a:ext cx="4585716" cy="438912"/>
          </a:xfrm>
          <a:prstGeom prst="rect">
            <a:avLst/>
          </a:prstGeom>
          <a:noFill/>
        </p:spPr>
        <p:txBody>
          <a:bodyPr wrap="square"/>
          <a:lstStyle/>
          <a:p>
            <a:pPr algn="l"/>
            <a:r>
              <a:rPr sz="1000" b="0" i="0">
                <a:solidFill>
                  <a:srgbClr val="3D4D44"/>
                </a:solidFill>
                <a:latin typeface="Calibri Light"/>
              </a:rPr>
              <a:t>Distributional analysis, trends, and regional comparison</a:t>
            </a:r>
          </a:p>
        </p:txBody>
      </p:sp>
      <p:sp>
        <p:nvSpPr>
          <p:cNvPr id="25" name="Rectangle 24"/>
          <p:cNvSpPr/>
          <p:nvPr/>
        </p:nvSpPr>
        <p:spPr>
          <a:xfrm>
            <a:off x="594360" y="4224527"/>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94360" y="4224527"/>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480559"/>
            <a:ext cx="502920" cy="438912"/>
          </a:xfrm>
          <a:prstGeom prst="rect">
            <a:avLst/>
          </a:prstGeom>
          <a:noFill/>
        </p:spPr>
        <p:txBody>
          <a:bodyPr wrap="square"/>
          <a:lstStyle/>
          <a:p>
            <a:pPr algn="ctr"/>
            <a:r>
              <a:rPr sz="1600" b="1" i="0">
                <a:solidFill>
                  <a:srgbClr val="FFFFFF"/>
                </a:solidFill>
                <a:latin typeface="Calibri"/>
              </a:rPr>
              <a:t>04</a:t>
            </a:r>
          </a:p>
        </p:txBody>
      </p:sp>
      <p:sp>
        <p:nvSpPr>
          <p:cNvPr id="28" name="TextBox 27"/>
          <p:cNvSpPr txBox="1"/>
          <p:nvPr/>
        </p:nvSpPr>
        <p:spPr>
          <a:xfrm>
            <a:off x="1216152" y="4297679"/>
            <a:ext cx="4585716" cy="329184"/>
          </a:xfrm>
          <a:prstGeom prst="rect">
            <a:avLst/>
          </a:prstGeom>
          <a:noFill/>
        </p:spPr>
        <p:txBody>
          <a:bodyPr wrap="square"/>
          <a:lstStyle/>
          <a:p>
            <a:pPr algn="l"/>
            <a:r>
              <a:rPr sz="1200" b="1" i="0">
                <a:solidFill>
                  <a:srgbClr val="141820"/>
                </a:solidFill>
                <a:latin typeface="Calibri"/>
              </a:rPr>
              <a:t>Methodology</a:t>
            </a:r>
          </a:p>
        </p:txBody>
      </p:sp>
      <p:sp>
        <p:nvSpPr>
          <p:cNvPr id="29" name="TextBox 28"/>
          <p:cNvSpPr txBox="1"/>
          <p:nvPr/>
        </p:nvSpPr>
        <p:spPr>
          <a:xfrm>
            <a:off x="1216152" y="4681727"/>
            <a:ext cx="4585716" cy="438912"/>
          </a:xfrm>
          <a:prstGeom prst="rect">
            <a:avLst/>
          </a:prstGeom>
          <a:noFill/>
        </p:spPr>
        <p:txBody>
          <a:bodyPr wrap="square"/>
          <a:lstStyle/>
          <a:p>
            <a:pPr algn="l"/>
            <a:r>
              <a:rPr sz="1000" b="0" i="0">
                <a:solidFill>
                  <a:srgbClr val="3D4D44"/>
                </a:solidFill>
                <a:latin typeface="Calibri Light"/>
              </a:rPr>
              <a:t>Four analytical tasks and the technical pipeline</a:t>
            </a:r>
          </a:p>
        </p:txBody>
      </p:sp>
      <p:sp>
        <p:nvSpPr>
          <p:cNvPr id="30" name="Rectangle 29"/>
          <p:cNvSpPr/>
          <p:nvPr/>
        </p:nvSpPr>
        <p:spPr>
          <a:xfrm>
            <a:off x="594360" y="5285231"/>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94360" y="5285231"/>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5541264"/>
            <a:ext cx="502920" cy="438912"/>
          </a:xfrm>
          <a:prstGeom prst="rect">
            <a:avLst/>
          </a:prstGeom>
          <a:noFill/>
        </p:spPr>
        <p:txBody>
          <a:bodyPr wrap="square"/>
          <a:lstStyle/>
          <a:p>
            <a:pPr algn="ctr"/>
            <a:r>
              <a:rPr sz="1600" b="1" i="0">
                <a:solidFill>
                  <a:srgbClr val="FFFFFF"/>
                </a:solidFill>
                <a:latin typeface="Calibri"/>
              </a:rPr>
              <a:t>05</a:t>
            </a:r>
          </a:p>
        </p:txBody>
      </p:sp>
      <p:sp>
        <p:nvSpPr>
          <p:cNvPr id="33" name="TextBox 32"/>
          <p:cNvSpPr txBox="1"/>
          <p:nvPr/>
        </p:nvSpPr>
        <p:spPr>
          <a:xfrm>
            <a:off x="1216152" y="5358383"/>
            <a:ext cx="4585716" cy="329184"/>
          </a:xfrm>
          <a:prstGeom prst="rect">
            <a:avLst/>
          </a:prstGeom>
          <a:noFill/>
        </p:spPr>
        <p:txBody>
          <a:bodyPr wrap="square"/>
          <a:lstStyle/>
          <a:p>
            <a:pPr algn="l"/>
            <a:r>
              <a:rPr sz="1200" b="1" i="0">
                <a:solidFill>
                  <a:srgbClr val="141820"/>
                </a:solidFill>
                <a:latin typeface="Calibri"/>
              </a:rPr>
              <a:t>Classification</a:t>
            </a:r>
          </a:p>
        </p:txBody>
      </p:sp>
      <p:sp>
        <p:nvSpPr>
          <p:cNvPr id="34" name="TextBox 33"/>
          <p:cNvSpPr txBox="1"/>
          <p:nvPr/>
        </p:nvSpPr>
        <p:spPr>
          <a:xfrm>
            <a:off x="1216152" y="5742431"/>
            <a:ext cx="4585716" cy="438912"/>
          </a:xfrm>
          <a:prstGeom prst="rect">
            <a:avLst/>
          </a:prstGeom>
          <a:noFill/>
        </p:spPr>
        <p:txBody>
          <a:bodyPr wrap="square"/>
          <a:lstStyle/>
          <a:p>
            <a:pPr algn="l"/>
            <a:r>
              <a:rPr sz="1000" b="0" i="0">
                <a:solidFill>
                  <a:srgbClr val="3D4D44"/>
                </a:solidFill>
                <a:latin typeface="Calibri Light"/>
              </a:rPr>
              <a:t>Random Forest price level classifier — design and results</a:t>
            </a:r>
          </a:p>
        </p:txBody>
      </p:sp>
      <p:sp>
        <p:nvSpPr>
          <p:cNvPr id="35" name="Rectangle 34"/>
          <p:cNvSpPr/>
          <p:nvPr/>
        </p:nvSpPr>
        <p:spPr>
          <a:xfrm>
            <a:off x="6277356" y="1042416"/>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77356" y="1042416"/>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77356" y="1298448"/>
            <a:ext cx="502920" cy="438912"/>
          </a:xfrm>
          <a:prstGeom prst="rect">
            <a:avLst/>
          </a:prstGeom>
          <a:noFill/>
        </p:spPr>
        <p:txBody>
          <a:bodyPr wrap="square"/>
          <a:lstStyle/>
          <a:p>
            <a:pPr algn="ctr"/>
            <a:r>
              <a:rPr sz="1600" b="1" i="0">
                <a:solidFill>
                  <a:srgbClr val="FFFFFF"/>
                </a:solidFill>
                <a:latin typeface="Calibri"/>
              </a:rPr>
              <a:t>06</a:t>
            </a:r>
          </a:p>
        </p:txBody>
      </p:sp>
      <p:sp>
        <p:nvSpPr>
          <p:cNvPr id="38" name="TextBox 37"/>
          <p:cNvSpPr txBox="1"/>
          <p:nvPr/>
        </p:nvSpPr>
        <p:spPr>
          <a:xfrm>
            <a:off x="6899148" y="1115568"/>
            <a:ext cx="4585716" cy="329184"/>
          </a:xfrm>
          <a:prstGeom prst="rect">
            <a:avLst/>
          </a:prstGeom>
          <a:noFill/>
        </p:spPr>
        <p:txBody>
          <a:bodyPr wrap="square"/>
          <a:lstStyle/>
          <a:p>
            <a:pPr algn="l"/>
            <a:r>
              <a:rPr sz="1200" b="1" i="0">
                <a:solidFill>
                  <a:srgbClr val="141820"/>
                </a:solidFill>
                <a:latin typeface="Calibri"/>
              </a:rPr>
              <a:t>Clustering</a:t>
            </a:r>
          </a:p>
        </p:txBody>
      </p:sp>
      <p:sp>
        <p:nvSpPr>
          <p:cNvPr id="39" name="TextBox 38"/>
          <p:cNvSpPr txBox="1"/>
          <p:nvPr/>
        </p:nvSpPr>
        <p:spPr>
          <a:xfrm>
            <a:off x="6899148" y="1499616"/>
            <a:ext cx="4585716" cy="438912"/>
          </a:xfrm>
          <a:prstGeom prst="rect">
            <a:avLst/>
          </a:prstGeom>
          <a:noFill/>
        </p:spPr>
        <p:txBody>
          <a:bodyPr wrap="square"/>
          <a:lstStyle/>
          <a:p>
            <a:pPr algn="l"/>
            <a:r>
              <a:rPr sz="1000" b="0" i="0">
                <a:solidFill>
                  <a:srgbClr val="3D4D44"/>
                </a:solidFill>
                <a:latin typeface="Calibri Light"/>
              </a:rPr>
              <a:t>K-Means regional market segmentation — method and results</a:t>
            </a:r>
          </a:p>
        </p:txBody>
      </p:sp>
      <p:sp>
        <p:nvSpPr>
          <p:cNvPr id="40" name="Rectangle 39"/>
          <p:cNvSpPr/>
          <p:nvPr/>
        </p:nvSpPr>
        <p:spPr>
          <a:xfrm>
            <a:off x="6277356" y="2103120"/>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77356" y="2103120"/>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77356" y="2359152"/>
            <a:ext cx="502920" cy="438912"/>
          </a:xfrm>
          <a:prstGeom prst="rect">
            <a:avLst/>
          </a:prstGeom>
          <a:noFill/>
        </p:spPr>
        <p:txBody>
          <a:bodyPr wrap="square"/>
          <a:lstStyle/>
          <a:p>
            <a:pPr algn="ctr"/>
            <a:r>
              <a:rPr sz="1600" b="1" i="0">
                <a:solidFill>
                  <a:srgbClr val="FFFFFF"/>
                </a:solidFill>
                <a:latin typeface="Calibri"/>
              </a:rPr>
              <a:t>07</a:t>
            </a:r>
          </a:p>
        </p:txBody>
      </p:sp>
      <p:sp>
        <p:nvSpPr>
          <p:cNvPr id="43" name="TextBox 42"/>
          <p:cNvSpPr txBox="1"/>
          <p:nvPr/>
        </p:nvSpPr>
        <p:spPr>
          <a:xfrm>
            <a:off x="6899148" y="2176272"/>
            <a:ext cx="4585716" cy="329184"/>
          </a:xfrm>
          <a:prstGeom prst="rect">
            <a:avLst/>
          </a:prstGeom>
          <a:noFill/>
        </p:spPr>
        <p:txBody>
          <a:bodyPr wrap="square"/>
          <a:lstStyle/>
          <a:p>
            <a:pPr algn="l"/>
            <a:r>
              <a:rPr sz="1200" b="1" i="0">
                <a:solidFill>
                  <a:srgbClr val="141820"/>
                </a:solidFill>
                <a:latin typeface="Calibri"/>
              </a:rPr>
              <a:t>Forecasting</a:t>
            </a:r>
          </a:p>
        </p:txBody>
      </p:sp>
      <p:sp>
        <p:nvSpPr>
          <p:cNvPr id="44" name="TextBox 43"/>
          <p:cNvSpPr txBox="1"/>
          <p:nvPr/>
        </p:nvSpPr>
        <p:spPr>
          <a:xfrm>
            <a:off x="6899148" y="2560320"/>
            <a:ext cx="4585716" cy="438912"/>
          </a:xfrm>
          <a:prstGeom prst="rect">
            <a:avLst/>
          </a:prstGeom>
          <a:noFill/>
        </p:spPr>
        <p:txBody>
          <a:bodyPr wrap="square"/>
          <a:lstStyle/>
          <a:p>
            <a:pPr algn="l"/>
            <a:r>
              <a:rPr sz="1000" b="0" i="0">
                <a:solidFill>
                  <a:srgbClr val="3D4D44"/>
                </a:solidFill>
                <a:latin typeface="Calibri Light"/>
              </a:rPr>
              <a:t>Lag-based Random Forest Regressor — design and results</a:t>
            </a:r>
          </a:p>
        </p:txBody>
      </p:sp>
      <p:sp>
        <p:nvSpPr>
          <p:cNvPr id="45" name="Rectangle 44"/>
          <p:cNvSpPr/>
          <p:nvPr/>
        </p:nvSpPr>
        <p:spPr>
          <a:xfrm>
            <a:off x="6277356" y="3163824"/>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277356" y="3163824"/>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77356" y="3419856"/>
            <a:ext cx="502920" cy="438912"/>
          </a:xfrm>
          <a:prstGeom prst="rect">
            <a:avLst/>
          </a:prstGeom>
          <a:noFill/>
        </p:spPr>
        <p:txBody>
          <a:bodyPr wrap="square"/>
          <a:lstStyle/>
          <a:p>
            <a:pPr algn="ctr"/>
            <a:r>
              <a:rPr sz="1600" b="1" i="0">
                <a:solidFill>
                  <a:srgbClr val="FFFFFF"/>
                </a:solidFill>
                <a:latin typeface="Calibri"/>
              </a:rPr>
              <a:t>08</a:t>
            </a:r>
          </a:p>
        </p:txBody>
      </p:sp>
      <p:sp>
        <p:nvSpPr>
          <p:cNvPr id="48" name="TextBox 47"/>
          <p:cNvSpPr txBox="1"/>
          <p:nvPr/>
        </p:nvSpPr>
        <p:spPr>
          <a:xfrm>
            <a:off x="6899148" y="3236976"/>
            <a:ext cx="4585716" cy="329184"/>
          </a:xfrm>
          <a:prstGeom prst="rect">
            <a:avLst/>
          </a:prstGeom>
          <a:noFill/>
        </p:spPr>
        <p:txBody>
          <a:bodyPr wrap="square"/>
          <a:lstStyle/>
          <a:p>
            <a:pPr algn="l"/>
            <a:r>
              <a:rPr sz="1200" b="1" i="0">
                <a:solidFill>
                  <a:srgbClr val="141820"/>
                </a:solidFill>
                <a:latin typeface="Calibri"/>
              </a:rPr>
              <a:t>Pattern Discovery</a:t>
            </a:r>
          </a:p>
        </p:txBody>
      </p:sp>
      <p:sp>
        <p:nvSpPr>
          <p:cNvPr id="49" name="TextBox 48"/>
          <p:cNvSpPr txBox="1"/>
          <p:nvPr/>
        </p:nvSpPr>
        <p:spPr>
          <a:xfrm>
            <a:off x="6899148" y="3621024"/>
            <a:ext cx="4585716" cy="438912"/>
          </a:xfrm>
          <a:prstGeom prst="rect">
            <a:avLst/>
          </a:prstGeom>
          <a:noFill/>
        </p:spPr>
        <p:txBody>
          <a:bodyPr wrap="square"/>
          <a:lstStyle/>
          <a:p>
            <a:pPr algn="l"/>
            <a:r>
              <a:rPr sz="1000" b="0" i="0">
                <a:solidFill>
                  <a:srgbClr val="3D4D44"/>
                </a:solidFill>
                <a:latin typeface="Calibri Light"/>
              </a:rPr>
              <a:t>Seasonal peaks, volatility ranking, and shock identification</a:t>
            </a:r>
          </a:p>
        </p:txBody>
      </p:sp>
      <p:sp>
        <p:nvSpPr>
          <p:cNvPr id="50" name="Rectangle 49"/>
          <p:cNvSpPr/>
          <p:nvPr/>
        </p:nvSpPr>
        <p:spPr>
          <a:xfrm>
            <a:off x="6277356" y="4224527"/>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277356" y="4224527"/>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277356" y="4480559"/>
            <a:ext cx="502920" cy="438912"/>
          </a:xfrm>
          <a:prstGeom prst="rect">
            <a:avLst/>
          </a:prstGeom>
          <a:noFill/>
        </p:spPr>
        <p:txBody>
          <a:bodyPr wrap="square"/>
          <a:lstStyle/>
          <a:p>
            <a:pPr algn="ctr"/>
            <a:r>
              <a:rPr sz="1600" b="1" i="0">
                <a:solidFill>
                  <a:srgbClr val="FFFFFF"/>
                </a:solidFill>
                <a:latin typeface="Calibri"/>
              </a:rPr>
              <a:t>09</a:t>
            </a:r>
          </a:p>
        </p:txBody>
      </p:sp>
      <p:sp>
        <p:nvSpPr>
          <p:cNvPr id="53" name="TextBox 52"/>
          <p:cNvSpPr txBox="1"/>
          <p:nvPr/>
        </p:nvSpPr>
        <p:spPr>
          <a:xfrm>
            <a:off x="6899148" y="4297679"/>
            <a:ext cx="4585716" cy="329184"/>
          </a:xfrm>
          <a:prstGeom prst="rect">
            <a:avLst/>
          </a:prstGeom>
          <a:noFill/>
        </p:spPr>
        <p:txBody>
          <a:bodyPr wrap="square"/>
          <a:lstStyle/>
          <a:p>
            <a:pPr algn="l"/>
            <a:r>
              <a:rPr sz="1200" b="1" i="0">
                <a:solidFill>
                  <a:srgbClr val="141820"/>
                </a:solidFill>
                <a:latin typeface="Calibri"/>
              </a:rPr>
              <a:t>Results Summary</a:t>
            </a:r>
          </a:p>
        </p:txBody>
      </p:sp>
      <p:sp>
        <p:nvSpPr>
          <p:cNvPr id="54" name="TextBox 53"/>
          <p:cNvSpPr txBox="1"/>
          <p:nvPr/>
        </p:nvSpPr>
        <p:spPr>
          <a:xfrm>
            <a:off x="6899148" y="4681727"/>
            <a:ext cx="4585716" cy="438912"/>
          </a:xfrm>
          <a:prstGeom prst="rect">
            <a:avLst/>
          </a:prstGeom>
          <a:noFill/>
        </p:spPr>
        <p:txBody>
          <a:bodyPr wrap="square"/>
          <a:lstStyle/>
          <a:p>
            <a:pPr algn="l"/>
            <a:r>
              <a:rPr sz="1000" b="0" i="0">
                <a:solidFill>
                  <a:srgbClr val="3D4D44"/>
                </a:solidFill>
                <a:latin typeface="Calibri Light"/>
              </a:rPr>
              <a:t>Consolidated performance metrics across all four tasks</a:t>
            </a:r>
          </a:p>
        </p:txBody>
      </p:sp>
      <p:sp>
        <p:nvSpPr>
          <p:cNvPr id="55" name="Rectangle 54"/>
          <p:cNvSpPr/>
          <p:nvPr/>
        </p:nvSpPr>
        <p:spPr>
          <a:xfrm>
            <a:off x="6277356" y="5285231"/>
            <a:ext cx="5317236" cy="9692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277356" y="5285231"/>
            <a:ext cx="502920" cy="96926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77356" y="5541264"/>
            <a:ext cx="502920" cy="438912"/>
          </a:xfrm>
          <a:prstGeom prst="rect">
            <a:avLst/>
          </a:prstGeom>
          <a:noFill/>
        </p:spPr>
        <p:txBody>
          <a:bodyPr wrap="square"/>
          <a:lstStyle/>
          <a:p>
            <a:pPr algn="ctr"/>
            <a:r>
              <a:rPr sz="1600" b="1" i="0">
                <a:solidFill>
                  <a:srgbClr val="FFFFFF"/>
                </a:solidFill>
                <a:latin typeface="Calibri"/>
              </a:rPr>
              <a:t>10</a:t>
            </a:r>
          </a:p>
        </p:txBody>
      </p:sp>
      <p:sp>
        <p:nvSpPr>
          <p:cNvPr id="58" name="TextBox 57"/>
          <p:cNvSpPr txBox="1"/>
          <p:nvPr/>
        </p:nvSpPr>
        <p:spPr>
          <a:xfrm>
            <a:off x="6899148" y="5358383"/>
            <a:ext cx="4585716" cy="329184"/>
          </a:xfrm>
          <a:prstGeom prst="rect">
            <a:avLst/>
          </a:prstGeom>
          <a:noFill/>
        </p:spPr>
        <p:txBody>
          <a:bodyPr wrap="square"/>
          <a:lstStyle/>
          <a:p>
            <a:pPr algn="l"/>
            <a:r>
              <a:rPr sz="1200" b="1" i="0">
                <a:solidFill>
                  <a:srgbClr val="141820"/>
                </a:solidFill>
                <a:latin typeface="Calibri"/>
              </a:rPr>
              <a:t>Conclusions</a:t>
            </a:r>
          </a:p>
        </p:txBody>
      </p:sp>
      <p:sp>
        <p:nvSpPr>
          <p:cNvPr id="59" name="TextBox 58"/>
          <p:cNvSpPr txBox="1"/>
          <p:nvPr/>
        </p:nvSpPr>
        <p:spPr>
          <a:xfrm>
            <a:off x="6899148" y="5742431"/>
            <a:ext cx="4585716" cy="438912"/>
          </a:xfrm>
          <a:prstGeom prst="rect">
            <a:avLst/>
          </a:prstGeom>
          <a:noFill/>
        </p:spPr>
        <p:txBody>
          <a:bodyPr wrap="square"/>
          <a:lstStyle/>
          <a:p>
            <a:pPr algn="l"/>
            <a:r>
              <a:rPr sz="1000" b="0" i="0">
                <a:solidFill>
                  <a:srgbClr val="3D4D44"/>
                </a:solidFill>
                <a:latin typeface="Calibri Light"/>
              </a:rPr>
              <a:t>Findings, limitations, policy recommendations, and next steps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01  |  PROBLEM STATEMENT</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Why Food Price Analysis Matters in Cameroon</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4 / 16</a:t>
            </a:r>
          </a:p>
        </p:txBody>
      </p:sp>
      <p:sp>
        <p:nvSpPr>
          <p:cNvPr id="10" name="TextBox 9"/>
          <p:cNvSpPr txBox="1"/>
          <p:nvPr/>
        </p:nvSpPr>
        <p:spPr>
          <a:xfrm>
            <a:off x="594360" y="987552"/>
            <a:ext cx="11000232" cy="457200"/>
          </a:xfrm>
          <a:prstGeom prst="rect">
            <a:avLst/>
          </a:prstGeom>
          <a:noFill/>
        </p:spPr>
        <p:txBody>
          <a:bodyPr wrap="square"/>
          <a:lstStyle/>
          <a:p>
            <a:pPr algn="l"/>
            <a:r>
              <a:rPr sz="1250" b="0" i="0">
                <a:solidFill>
                  <a:srgbClr val="141820"/>
                </a:solidFill>
                <a:latin typeface="Calibri Light"/>
              </a:rPr>
              <a:t>Cameroon's food market is characterised by persistent price volatility, structural regional inequality, and an absence of data-driven tools for farmers, traders, and policymakers.</a:t>
            </a:r>
          </a:p>
        </p:txBody>
      </p:sp>
      <p:sp>
        <p:nvSpPr>
          <p:cNvPr id="11" name="Rectangle 10"/>
          <p:cNvSpPr/>
          <p:nvPr/>
        </p:nvSpPr>
        <p:spPr>
          <a:xfrm>
            <a:off x="594360" y="1517904"/>
            <a:ext cx="11000232"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645920"/>
            <a:ext cx="5317236"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1645920"/>
            <a:ext cx="5317236" cy="5029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 y="1696212"/>
            <a:ext cx="50292" cy="2144268"/>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1773936"/>
            <a:ext cx="4988051" cy="329184"/>
          </a:xfrm>
          <a:prstGeom prst="rect">
            <a:avLst/>
          </a:prstGeom>
          <a:noFill/>
        </p:spPr>
        <p:txBody>
          <a:bodyPr wrap="square"/>
          <a:lstStyle/>
          <a:p>
            <a:pPr algn="l"/>
            <a:r>
              <a:rPr sz="1300" b="1" i="0">
                <a:solidFill>
                  <a:srgbClr val="1B4D3E"/>
                </a:solidFill>
                <a:latin typeface="Calibri"/>
              </a:rPr>
              <a:t>Price Volatility</a:t>
            </a:r>
          </a:p>
        </p:txBody>
      </p:sp>
      <p:sp>
        <p:nvSpPr>
          <p:cNvPr id="16" name="TextBox 15"/>
          <p:cNvSpPr txBox="1"/>
          <p:nvPr/>
        </p:nvSpPr>
        <p:spPr>
          <a:xfrm>
            <a:off x="795528" y="2176272"/>
            <a:ext cx="4988051" cy="1572768"/>
          </a:xfrm>
          <a:prstGeom prst="rect">
            <a:avLst/>
          </a:prstGeom>
          <a:noFill/>
        </p:spPr>
        <p:txBody>
          <a:bodyPr wrap="square"/>
          <a:lstStyle/>
          <a:p>
            <a:pPr algn="l"/>
            <a:r>
              <a:rPr sz="1050" b="0" i="0">
                <a:solidFill>
                  <a:srgbClr val="3D4D44"/>
                </a:solidFill>
                <a:latin typeface="Calibri Light"/>
              </a:rPr>
              <a:t>Monthly food prices in Cameroon swing sharply due to harvest cycles, climate variability, and supply chain disruptions. Without forecasting tools, market actors cannot plan effectively — leading to food waste, speculative hoarding, and household budget shocks.</a:t>
            </a:r>
          </a:p>
        </p:txBody>
      </p:sp>
      <p:sp>
        <p:nvSpPr>
          <p:cNvPr id="17" name="Rectangle 16"/>
          <p:cNvSpPr/>
          <p:nvPr/>
        </p:nvSpPr>
        <p:spPr>
          <a:xfrm>
            <a:off x="6277356" y="1645920"/>
            <a:ext cx="5317236"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77356" y="1645920"/>
            <a:ext cx="5317236" cy="50292"/>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77356" y="1696212"/>
            <a:ext cx="50292" cy="2144268"/>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8524" y="1773936"/>
            <a:ext cx="4988051" cy="329184"/>
          </a:xfrm>
          <a:prstGeom prst="rect">
            <a:avLst/>
          </a:prstGeom>
          <a:noFill/>
        </p:spPr>
        <p:txBody>
          <a:bodyPr wrap="square"/>
          <a:lstStyle/>
          <a:p>
            <a:pPr algn="l"/>
            <a:r>
              <a:rPr sz="1300" b="1" i="0">
                <a:solidFill>
                  <a:srgbClr val="276C4E"/>
                </a:solidFill>
                <a:latin typeface="Calibri"/>
              </a:rPr>
              <a:t>Regional Disparity</a:t>
            </a:r>
          </a:p>
        </p:txBody>
      </p:sp>
      <p:sp>
        <p:nvSpPr>
          <p:cNvPr id="21" name="TextBox 20"/>
          <p:cNvSpPr txBox="1"/>
          <p:nvPr/>
        </p:nvSpPr>
        <p:spPr>
          <a:xfrm>
            <a:off x="6478524" y="2176272"/>
            <a:ext cx="4988051" cy="1572768"/>
          </a:xfrm>
          <a:prstGeom prst="rect">
            <a:avLst/>
          </a:prstGeom>
          <a:noFill/>
        </p:spPr>
        <p:txBody>
          <a:bodyPr wrap="square"/>
          <a:lstStyle/>
          <a:p>
            <a:pPr algn="l"/>
            <a:r>
              <a:rPr sz="1050" b="0" i="0">
                <a:solidFill>
                  <a:srgbClr val="3D4D44"/>
                </a:solidFill>
                <a:latin typeface="Calibri Light"/>
              </a:rPr>
              <a:t>The nine administrative regions of Cameroon face structurally different price levels. Remote markets in Extrème-Nord and Est consistently pay 20–35% more for identical commodities compared to commercial centres like Douala and Yaounde.</a:t>
            </a:r>
          </a:p>
        </p:txBody>
      </p:sp>
      <p:sp>
        <p:nvSpPr>
          <p:cNvPr id="22" name="Rectangle 21"/>
          <p:cNvSpPr/>
          <p:nvPr/>
        </p:nvSpPr>
        <p:spPr>
          <a:xfrm>
            <a:off x="594360" y="4041648"/>
            <a:ext cx="5317236"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4041648"/>
            <a:ext cx="5317236" cy="50292"/>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4091939"/>
            <a:ext cx="50292" cy="2144268"/>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8" y="4169663"/>
            <a:ext cx="4988051" cy="329184"/>
          </a:xfrm>
          <a:prstGeom prst="rect">
            <a:avLst/>
          </a:prstGeom>
          <a:noFill/>
        </p:spPr>
        <p:txBody>
          <a:bodyPr wrap="square"/>
          <a:lstStyle/>
          <a:p>
            <a:pPr algn="l"/>
            <a:r>
              <a:rPr sz="1300" b="1" i="0">
                <a:solidFill>
                  <a:srgbClr val="3A8C63"/>
                </a:solidFill>
                <a:latin typeface="Calibri"/>
              </a:rPr>
              <a:t>Data Under-Utilisation</a:t>
            </a:r>
          </a:p>
        </p:txBody>
      </p:sp>
      <p:sp>
        <p:nvSpPr>
          <p:cNvPr id="26" name="TextBox 25"/>
          <p:cNvSpPr txBox="1"/>
          <p:nvPr/>
        </p:nvSpPr>
        <p:spPr>
          <a:xfrm>
            <a:off x="795528" y="4572000"/>
            <a:ext cx="4988051" cy="1572768"/>
          </a:xfrm>
          <a:prstGeom prst="rect">
            <a:avLst/>
          </a:prstGeom>
          <a:noFill/>
        </p:spPr>
        <p:txBody>
          <a:bodyPr wrap="square"/>
          <a:lstStyle/>
          <a:p>
            <a:pPr algn="l"/>
            <a:r>
              <a:rPr sz="1050" b="0" i="0">
                <a:solidFill>
                  <a:srgbClr val="3D4D44"/>
                </a:solidFill>
                <a:latin typeface="Calibri Light"/>
              </a:rPr>
              <a:t>The WFP has collected over 74,000 monthly retail price records since 2005 — one of the longest food price time-series for Cameroon. This dataset remains largely unused for predictive or decision-support analysis at any level of government.</a:t>
            </a:r>
          </a:p>
        </p:txBody>
      </p:sp>
      <p:sp>
        <p:nvSpPr>
          <p:cNvPr id="27" name="Rectangle 26"/>
          <p:cNvSpPr/>
          <p:nvPr/>
        </p:nvSpPr>
        <p:spPr>
          <a:xfrm>
            <a:off x="6277356" y="4041648"/>
            <a:ext cx="5317236"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77356" y="4041648"/>
            <a:ext cx="531723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77356" y="4091939"/>
            <a:ext cx="50292" cy="2144268"/>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8524" y="4169663"/>
            <a:ext cx="4988051" cy="329184"/>
          </a:xfrm>
          <a:prstGeom prst="rect">
            <a:avLst/>
          </a:prstGeom>
          <a:noFill/>
        </p:spPr>
        <p:txBody>
          <a:bodyPr wrap="square"/>
          <a:lstStyle/>
          <a:p>
            <a:pPr algn="l"/>
            <a:r>
              <a:rPr sz="1300" b="1" i="0">
                <a:solidFill>
                  <a:srgbClr val="C98B00"/>
                </a:solidFill>
                <a:latin typeface="Calibri"/>
              </a:rPr>
              <a:t>Food Security Gap</a:t>
            </a:r>
          </a:p>
        </p:txBody>
      </p:sp>
      <p:sp>
        <p:nvSpPr>
          <p:cNvPr id="31" name="TextBox 30"/>
          <p:cNvSpPr txBox="1"/>
          <p:nvPr/>
        </p:nvSpPr>
        <p:spPr>
          <a:xfrm>
            <a:off x="6478524" y="4572000"/>
            <a:ext cx="4988051" cy="1572768"/>
          </a:xfrm>
          <a:prstGeom prst="rect">
            <a:avLst/>
          </a:prstGeom>
          <a:noFill/>
        </p:spPr>
        <p:txBody>
          <a:bodyPr wrap="square"/>
          <a:lstStyle/>
          <a:p>
            <a:pPr algn="l"/>
            <a:r>
              <a:rPr sz="1050" b="0" i="0">
                <a:solidFill>
                  <a:srgbClr val="3D4D44"/>
                </a:solidFill>
                <a:latin typeface="Calibri Light"/>
              </a:rPr>
              <a:t>Cameroon's national food insecurity rate exceeds 30% in vulnerable regions. Predictive price tools could enable proactive reserve pre-positioning, timely market interventions, and better targeting of food assistance before crisis onset.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1925"/>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02  |  DATASET</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WFP Food Prices for Cameroon — Source and Coverage</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5 / 16</a:t>
            </a:r>
          </a:p>
        </p:txBody>
      </p:sp>
      <p:sp>
        <p:nvSpPr>
          <p:cNvPr id="10" name="Rectangle 9"/>
          <p:cNvSpPr/>
          <p:nvPr/>
        </p:nvSpPr>
        <p:spPr>
          <a:xfrm>
            <a:off x="594360" y="987552"/>
            <a:ext cx="1995220" cy="118872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987552"/>
            <a:ext cx="1995220"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078992"/>
            <a:ext cx="1995220" cy="618134"/>
          </a:xfrm>
          <a:prstGeom prst="rect">
            <a:avLst/>
          </a:prstGeom>
          <a:noFill/>
        </p:spPr>
        <p:txBody>
          <a:bodyPr wrap="square"/>
          <a:lstStyle/>
          <a:p>
            <a:pPr algn="ctr"/>
            <a:r>
              <a:rPr sz="2800" b="1" i="0">
                <a:solidFill>
                  <a:srgbClr val="C98B00"/>
                </a:solidFill>
                <a:latin typeface="Calibri"/>
              </a:rPr>
              <a:t>55,660</a:t>
            </a:r>
          </a:p>
        </p:txBody>
      </p:sp>
      <p:sp>
        <p:nvSpPr>
          <p:cNvPr id="13" name="TextBox 12"/>
          <p:cNvSpPr txBox="1"/>
          <p:nvPr/>
        </p:nvSpPr>
        <p:spPr>
          <a:xfrm>
            <a:off x="594360" y="1665122"/>
            <a:ext cx="1995220" cy="499262"/>
          </a:xfrm>
          <a:prstGeom prst="rect">
            <a:avLst/>
          </a:prstGeom>
          <a:noFill/>
        </p:spPr>
        <p:txBody>
          <a:bodyPr wrap="square"/>
          <a:lstStyle/>
          <a:p>
            <a:pPr algn="ctr"/>
            <a:r>
              <a:rPr sz="900" b="0" i="0">
                <a:solidFill>
                  <a:srgbClr val="52B788"/>
                </a:solidFill>
                <a:latin typeface="Calibri Light"/>
              </a:rPr>
              <a:t>Cleaned
records</a:t>
            </a:r>
          </a:p>
        </p:txBody>
      </p:sp>
      <p:sp>
        <p:nvSpPr>
          <p:cNvPr id="14" name="Rectangle 13"/>
          <p:cNvSpPr/>
          <p:nvPr/>
        </p:nvSpPr>
        <p:spPr>
          <a:xfrm>
            <a:off x="2845612" y="987552"/>
            <a:ext cx="1995220" cy="118872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45612" y="987552"/>
            <a:ext cx="1995220"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45612" y="1078992"/>
            <a:ext cx="1995220" cy="618134"/>
          </a:xfrm>
          <a:prstGeom prst="rect">
            <a:avLst/>
          </a:prstGeom>
          <a:noFill/>
        </p:spPr>
        <p:txBody>
          <a:bodyPr wrap="square"/>
          <a:lstStyle/>
          <a:p>
            <a:pPr algn="ctr"/>
            <a:r>
              <a:rPr sz="2800" b="1" i="0">
                <a:solidFill>
                  <a:srgbClr val="C98B00"/>
                </a:solidFill>
                <a:latin typeface="Calibri"/>
              </a:rPr>
              <a:t>74,955</a:t>
            </a:r>
          </a:p>
        </p:txBody>
      </p:sp>
      <p:sp>
        <p:nvSpPr>
          <p:cNvPr id="17" name="TextBox 16"/>
          <p:cNvSpPr txBox="1"/>
          <p:nvPr/>
        </p:nvSpPr>
        <p:spPr>
          <a:xfrm>
            <a:off x="2845612" y="1665122"/>
            <a:ext cx="1995220" cy="499262"/>
          </a:xfrm>
          <a:prstGeom prst="rect">
            <a:avLst/>
          </a:prstGeom>
          <a:noFill/>
        </p:spPr>
        <p:txBody>
          <a:bodyPr wrap="square"/>
          <a:lstStyle/>
          <a:p>
            <a:pPr algn="ctr"/>
            <a:r>
              <a:rPr sz="900" b="0" i="0">
                <a:solidFill>
                  <a:srgbClr val="52B788"/>
                </a:solidFill>
                <a:latin typeface="Calibri Light"/>
              </a:rPr>
              <a:t>Raw
records</a:t>
            </a:r>
          </a:p>
        </p:txBody>
      </p:sp>
      <p:sp>
        <p:nvSpPr>
          <p:cNvPr id="18" name="Rectangle 17"/>
          <p:cNvSpPr/>
          <p:nvPr/>
        </p:nvSpPr>
        <p:spPr>
          <a:xfrm>
            <a:off x="5096865" y="987552"/>
            <a:ext cx="1995220" cy="118872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96865" y="987552"/>
            <a:ext cx="1995220"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96865" y="1078992"/>
            <a:ext cx="1995220" cy="618134"/>
          </a:xfrm>
          <a:prstGeom prst="rect">
            <a:avLst/>
          </a:prstGeom>
          <a:noFill/>
        </p:spPr>
        <p:txBody>
          <a:bodyPr wrap="square"/>
          <a:lstStyle/>
          <a:p>
            <a:pPr algn="ctr"/>
            <a:r>
              <a:rPr sz="2800" b="1" i="0">
                <a:solidFill>
                  <a:srgbClr val="C98B00"/>
                </a:solidFill>
                <a:latin typeface="Calibri"/>
              </a:rPr>
              <a:t>21 yrs</a:t>
            </a:r>
          </a:p>
        </p:txBody>
      </p:sp>
      <p:sp>
        <p:nvSpPr>
          <p:cNvPr id="21" name="TextBox 20"/>
          <p:cNvSpPr txBox="1"/>
          <p:nvPr/>
        </p:nvSpPr>
        <p:spPr>
          <a:xfrm>
            <a:off x="5096865" y="1665122"/>
            <a:ext cx="1995220" cy="499262"/>
          </a:xfrm>
          <a:prstGeom prst="rect">
            <a:avLst/>
          </a:prstGeom>
          <a:noFill/>
        </p:spPr>
        <p:txBody>
          <a:bodyPr wrap="square"/>
          <a:lstStyle/>
          <a:p>
            <a:pPr algn="ctr"/>
            <a:r>
              <a:rPr sz="900" b="0" i="0">
                <a:solidFill>
                  <a:srgbClr val="52B788"/>
                </a:solidFill>
                <a:latin typeface="Calibri Light"/>
              </a:rPr>
              <a:t>Jan 2005
to Mar 2026</a:t>
            </a:r>
          </a:p>
        </p:txBody>
      </p:sp>
      <p:sp>
        <p:nvSpPr>
          <p:cNvPr id="22" name="Rectangle 21"/>
          <p:cNvSpPr/>
          <p:nvPr/>
        </p:nvSpPr>
        <p:spPr>
          <a:xfrm>
            <a:off x="7348118" y="987552"/>
            <a:ext cx="1995220" cy="118872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48118" y="987552"/>
            <a:ext cx="1995220"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48118" y="1078992"/>
            <a:ext cx="1995220" cy="618134"/>
          </a:xfrm>
          <a:prstGeom prst="rect">
            <a:avLst/>
          </a:prstGeom>
          <a:noFill/>
        </p:spPr>
        <p:txBody>
          <a:bodyPr wrap="square"/>
          <a:lstStyle/>
          <a:p>
            <a:pPr algn="ctr"/>
            <a:r>
              <a:rPr sz="2800" b="1" i="0">
                <a:solidFill>
                  <a:srgbClr val="C98B00"/>
                </a:solidFill>
                <a:latin typeface="Calibri"/>
              </a:rPr>
              <a:t>9</a:t>
            </a:r>
          </a:p>
        </p:txBody>
      </p:sp>
      <p:sp>
        <p:nvSpPr>
          <p:cNvPr id="25" name="TextBox 24"/>
          <p:cNvSpPr txBox="1"/>
          <p:nvPr/>
        </p:nvSpPr>
        <p:spPr>
          <a:xfrm>
            <a:off x="7348118" y="1665122"/>
            <a:ext cx="1995220" cy="499262"/>
          </a:xfrm>
          <a:prstGeom prst="rect">
            <a:avLst/>
          </a:prstGeom>
          <a:noFill/>
        </p:spPr>
        <p:txBody>
          <a:bodyPr wrap="square"/>
          <a:lstStyle/>
          <a:p>
            <a:pPr algn="ctr"/>
            <a:r>
              <a:rPr sz="900" b="0" i="0">
                <a:solidFill>
                  <a:srgbClr val="52B788"/>
                </a:solidFill>
                <a:latin typeface="Calibri Light"/>
              </a:rPr>
              <a:t>Admin
regions</a:t>
            </a:r>
          </a:p>
        </p:txBody>
      </p:sp>
      <p:sp>
        <p:nvSpPr>
          <p:cNvPr id="26" name="Rectangle 25"/>
          <p:cNvSpPr/>
          <p:nvPr/>
        </p:nvSpPr>
        <p:spPr>
          <a:xfrm>
            <a:off x="9599371" y="987552"/>
            <a:ext cx="1995220" cy="118872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599371" y="987552"/>
            <a:ext cx="1995220"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99371" y="1078992"/>
            <a:ext cx="1995220" cy="618134"/>
          </a:xfrm>
          <a:prstGeom prst="rect">
            <a:avLst/>
          </a:prstGeom>
          <a:noFill/>
        </p:spPr>
        <p:txBody>
          <a:bodyPr wrap="square"/>
          <a:lstStyle/>
          <a:p>
            <a:pPr algn="ctr"/>
            <a:r>
              <a:rPr sz="2800" b="1" i="0">
                <a:solidFill>
                  <a:srgbClr val="C98B00"/>
                </a:solidFill>
                <a:latin typeface="Calibri"/>
              </a:rPr>
              <a:t>40+</a:t>
            </a:r>
          </a:p>
        </p:txBody>
      </p:sp>
      <p:sp>
        <p:nvSpPr>
          <p:cNvPr id="29" name="TextBox 28"/>
          <p:cNvSpPr txBox="1"/>
          <p:nvPr/>
        </p:nvSpPr>
        <p:spPr>
          <a:xfrm>
            <a:off x="9599371" y="1665122"/>
            <a:ext cx="1995220" cy="499262"/>
          </a:xfrm>
          <a:prstGeom prst="rect">
            <a:avLst/>
          </a:prstGeom>
          <a:noFill/>
        </p:spPr>
        <p:txBody>
          <a:bodyPr wrap="square"/>
          <a:lstStyle/>
          <a:p>
            <a:pPr algn="ctr"/>
            <a:r>
              <a:rPr sz="900" b="0" i="0">
                <a:solidFill>
                  <a:srgbClr val="52B788"/>
                </a:solidFill>
                <a:latin typeface="Calibri Light"/>
              </a:rPr>
              <a:t>Commodity
types</a:t>
            </a:r>
          </a:p>
        </p:txBody>
      </p:sp>
      <p:sp>
        <p:nvSpPr>
          <p:cNvPr id="30" name="TextBox 29"/>
          <p:cNvSpPr txBox="1"/>
          <p:nvPr/>
        </p:nvSpPr>
        <p:spPr>
          <a:xfrm>
            <a:off x="594360" y="2267712"/>
            <a:ext cx="11000232" cy="237744"/>
          </a:xfrm>
          <a:prstGeom prst="rect">
            <a:avLst/>
          </a:prstGeom>
          <a:noFill/>
        </p:spPr>
        <p:txBody>
          <a:bodyPr wrap="square"/>
          <a:lstStyle/>
          <a:p>
            <a:pPr algn="l"/>
            <a:r>
              <a:rPr sz="850" b="0" i="1">
                <a:solidFill>
                  <a:srgbClr val="8A9D92"/>
                </a:solidFill>
                <a:latin typeface="Calibri Light"/>
              </a:rPr>
              <a:t>Source: World Food Programme (WFP) — Humanitarian Data Exchange (HDX)   |   Filtered: retail price type only   |   Dropped: rows missing price or region</a:t>
            </a:r>
          </a:p>
        </p:txBody>
      </p:sp>
      <p:pic>
        <p:nvPicPr>
          <p:cNvPr id="31" name="Picture 30" descr="fig1a_records_by_region.png"/>
          <p:cNvPicPr>
            <a:picLocks noChangeAspect="1"/>
          </p:cNvPicPr>
          <p:nvPr/>
        </p:nvPicPr>
        <p:blipFill>
          <a:blip r:embed="rId2"/>
          <a:stretch>
            <a:fillRect/>
          </a:stretch>
        </p:blipFill>
        <p:spPr>
          <a:xfrm>
            <a:off x="594360" y="3072384"/>
            <a:ext cx="5317236" cy="2082375"/>
          </a:xfrm>
          <a:prstGeom prst="rect">
            <a:avLst/>
          </a:prstGeom>
        </p:spPr>
      </p:pic>
      <p:sp>
        <p:nvSpPr>
          <p:cNvPr id="32" name="TextBox 31"/>
          <p:cNvSpPr txBox="1"/>
          <p:nvPr/>
        </p:nvSpPr>
        <p:spPr>
          <a:xfrm>
            <a:off x="6277356" y="2596896"/>
            <a:ext cx="5317236" cy="292608"/>
          </a:xfrm>
          <a:prstGeom prst="rect">
            <a:avLst/>
          </a:prstGeom>
          <a:noFill/>
        </p:spPr>
        <p:txBody>
          <a:bodyPr wrap="square"/>
          <a:lstStyle/>
          <a:p>
            <a:pPr algn="l"/>
            <a:r>
              <a:rPr sz="1200" b="1" i="0">
                <a:solidFill>
                  <a:srgbClr val="1B4D3E"/>
                </a:solidFill>
                <a:latin typeface="Calibri"/>
              </a:rPr>
              <a:t>Dataset Variables</a:t>
            </a:r>
          </a:p>
        </p:txBody>
      </p:sp>
      <p:sp>
        <p:nvSpPr>
          <p:cNvPr id="33" name="Rectangle 32"/>
          <p:cNvSpPr/>
          <p:nvPr/>
        </p:nvSpPr>
        <p:spPr>
          <a:xfrm>
            <a:off x="6277356" y="292608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77356" y="3017520"/>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7084" y="3072384"/>
            <a:ext cx="1097280" cy="274320"/>
          </a:xfrm>
          <a:prstGeom prst="rect">
            <a:avLst/>
          </a:prstGeom>
          <a:noFill/>
        </p:spPr>
        <p:txBody>
          <a:bodyPr wrap="square"/>
          <a:lstStyle/>
          <a:p>
            <a:pPr algn="l"/>
            <a:r>
              <a:rPr sz="900" b="1" i="0">
                <a:solidFill>
                  <a:srgbClr val="C98B00"/>
                </a:solidFill>
                <a:latin typeface="Calibri"/>
              </a:rPr>
              <a:t>date</a:t>
            </a:r>
          </a:p>
        </p:txBody>
      </p:sp>
      <p:sp>
        <p:nvSpPr>
          <p:cNvPr id="36" name="TextBox 35"/>
          <p:cNvSpPr txBox="1"/>
          <p:nvPr/>
        </p:nvSpPr>
        <p:spPr>
          <a:xfrm>
            <a:off x="7667244" y="3072384"/>
            <a:ext cx="3835907" cy="320040"/>
          </a:xfrm>
          <a:prstGeom prst="rect">
            <a:avLst/>
          </a:prstGeom>
          <a:noFill/>
        </p:spPr>
        <p:txBody>
          <a:bodyPr wrap="square"/>
          <a:lstStyle/>
          <a:p>
            <a:pPr algn="l"/>
            <a:r>
              <a:rPr sz="1000" b="0" i="0">
                <a:solidFill>
                  <a:srgbClr val="3D4D44"/>
                </a:solidFill>
                <a:latin typeface="Calibri Light"/>
              </a:rPr>
              <a:t>Monthly timestamp — first day of each month</a:t>
            </a:r>
          </a:p>
        </p:txBody>
      </p:sp>
      <p:sp>
        <p:nvSpPr>
          <p:cNvPr id="37" name="Rectangle 36"/>
          <p:cNvSpPr/>
          <p:nvPr/>
        </p:nvSpPr>
        <p:spPr>
          <a:xfrm>
            <a:off x="6277356" y="3401568"/>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77356" y="3493008"/>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87084" y="3547872"/>
            <a:ext cx="1097280" cy="274320"/>
          </a:xfrm>
          <a:prstGeom prst="rect">
            <a:avLst/>
          </a:prstGeom>
          <a:noFill/>
        </p:spPr>
        <p:txBody>
          <a:bodyPr wrap="square"/>
          <a:lstStyle/>
          <a:p>
            <a:pPr algn="l"/>
            <a:r>
              <a:rPr sz="900" b="1" i="0">
                <a:solidFill>
                  <a:srgbClr val="C98B00"/>
                </a:solidFill>
                <a:latin typeface="Calibri"/>
              </a:rPr>
              <a:t>admin1</a:t>
            </a:r>
          </a:p>
        </p:txBody>
      </p:sp>
      <p:sp>
        <p:nvSpPr>
          <p:cNvPr id="40" name="TextBox 39"/>
          <p:cNvSpPr txBox="1"/>
          <p:nvPr/>
        </p:nvSpPr>
        <p:spPr>
          <a:xfrm>
            <a:off x="7667244" y="3547872"/>
            <a:ext cx="3835907" cy="320040"/>
          </a:xfrm>
          <a:prstGeom prst="rect">
            <a:avLst/>
          </a:prstGeom>
          <a:noFill/>
        </p:spPr>
        <p:txBody>
          <a:bodyPr wrap="square"/>
          <a:lstStyle/>
          <a:p>
            <a:pPr algn="l"/>
            <a:r>
              <a:rPr sz="1000" b="0" i="0">
                <a:solidFill>
                  <a:srgbClr val="3D4D44"/>
                </a:solidFill>
                <a:latin typeface="Calibri Light"/>
              </a:rPr>
              <a:t>Administrative region (9 possible values)</a:t>
            </a:r>
          </a:p>
        </p:txBody>
      </p:sp>
      <p:sp>
        <p:nvSpPr>
          <p:cNvPr id="41" name="Rectangle 40"/>
          <p:cNvSpPr/>
          <p:nvPr/>
        </p:nvSpPr>
        <p:spPr>
          <a:xfrm>
            <a:off x="6277356" y="387705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77356" y="3968496"/>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87084" y="4023359"/>
            <a:ext cx="1097280" cy="274320"/>
          </a:xfrm>
          <a:prstGeom prst="rect">
            <a:avLst/>
          </a:prstGeom>
          <a:noFill/>
        </p:spPr>
        <p:txBody>
          <a:bodyPr wrap="square"/>
          <a:lstStyle/>
          <a:p>
            <a:pPr algn="l"/>
            <a:r>
              <a:rPr sz="900" b="1" i="0">
                <a:solidFill>
                  <a:srgbClr val="C98B00"/>
                </a:solidFill>
                <a:latin typeface="Calibri"/>
              </a:rPr>
              <a:t>market</a:t>
            </a:r>
          </a:p>
        </p:txBody>
      </p:sp>
      <p:sp>
        <p:nvSpPr>
          <p:cNvPr id="44" name="TextBox 43"/>
          <p:cNvSpPr txBox="1"/>
          <p:nvPr/>
        </p:nvSpPr>
        <p:spPr>
          <a:xfrm>
            <a:off x="7667244" y="4023359"/>
            <a:ext cx="3835907" cy="320040"/>
          </a:xfrm>
          <a:prstGeom prst="rect">
            <a:avLst/>
          </a:prstGeom>
          <a:noFill/>
        </p:spPr>
        <p:txBody>
          <a:bodyPr wrap="square"/>
          <a:lstStyle/>
          <a:p>
            <a:pPr algn="l"/>
            <a:r>
              <a:rPr sz="1000" b="0" i="0">
                <a:solidFill>
                  <a:srgbClr val="3D4D44"/>
                </a:solidFill>
                <a:latin typeface="Calibri Light"/>
              </a:rPr>
              <a:t>Named market within the region</a:t>
            </a:r>
          </a:p>
        </p:txBody>
      </p:sp>
      <p:sp>
        <p:nvSpPr>
          <p:cNvPr id="45" name="Rectangle 44"/>
          <p:cNvSpPr/>
          <p:nvPr/>
        </p:nvSpPr>
        <p:spPr>
          <a:xfrm>
            <a:off x="6277356" y="435254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277356" y="4443984"/>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87084" y="4498848"/>
            <a:ext cx="1097280" cy="274320"/>
          </a:xfrm>
          <a:prstGeom prst="rect">
            <a:avLst/>
          </a:prstGeom>
          <a:noFill/>
        </p:spPr>
        <p:txBody>
          <a:bodyPr wrap="square"/>
          <a:lstStyle/>
          <a:p>
            <a:pPr algn="l"/>
            <a:r>
              <a:rPr sz="900" b="1" i="0">
                <a:solidFill>
                  <a:srgbClr val="C98B00"/>
                </a:solidFill>
                <a:latin typeface="Calibri"/>
              </a:rPr>
              <a:t>commodity</a:t>
            </a:r>
          </a:p>
        </p:txBody>
      </p:sp>
      <p:sp>
        <p:nvSpPr>
          <p:cNvPr id="48" name="TextBox 47"/>
          <p:cNvSpPr txBox="1"/>
          <p:nvPr/>
        </p:nvSpPr>
        <p:spPr>
          <a:xfrm>
            <a:off x="7667244" y="4498848"/>
            <a:ext cx="3835907" cy="320040"/>
          </a:xfrm>
          <a:prstGeom prst="rect">
            <a:avLst/>
          </a:prstGeom>
          <a:noFill/>
        </p:spPr>
        <p:txBody>
          <a:bodyPr wrap="square"/>
          <a:lstStyle/>
          <a:p>
            <a:pPr algn="l"/>
            <a:r>
              <a:rPr sz="1000" b="0" i="0">
                <a:solidFill>
                  <a:srgbClr val="3D4D44"/>
                </a:solidFill>
                <a:latin typeface="Calibri Light"/>
              </a:rPr>
              <a:t>Food item (e.g. Maize white, Cassava, Fish)</a:t>
            </a:r>
          </a:p>
        </p:txBody>
      </p:sp>
      <p:sp>
        <p:nvSpPr>
          <p:cNvPr id="49" name="Rectangle 48"/>
          <p:cNvSpPr/>
          <p:nvPr/>
        </p:nvSpPr>
        <p:spPr>
          <a:xfrm>
            <a:off x="6277356" y="482803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277356" y="4919472"/>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87084" y="4974336"/>
            <a:ext cx="1097280" cy="274320"/>
          </a:xfrm>
          <a:prstGeom prst="rect">
            <a:avLst/>
          </a:prstGeom>
          <a:noFill/>
        </p:spPr>
        <p:txBody>
          <a:bodyPr wrap="square"/>
          <a:lstStyle/>
          <a:p>
            <a:pPr algn="l"/>
            <a:r>
              <a:rPr sz="900" b="1" i="0">
                <a:solidFill>
                  <a:srgbClr val="C98B00"/>
                </a:solidFill>
                <a:latin typeface="Calibri"/>
              </a:rPr>
              <a:t>category</a:t>
            </a:r>
          </a:p>
        </p:txBody>
      </p:sp>
      <p:sp>
        <p:nvSpPr>
          <p:cNvPr id="52" name="TextBox 51"/>
          <p:cNvSpPr txBox="1"/>
          <p:nvPr/>
        </p:nvSpPr>
        <p:spPr>
          <a:xfrm>
            <a:off x="7667244" y="4974336"/>
            <a:ext cx="3835907" cy="320040"/>
          </a:xfrm>
          <a:prstGeom prst="rect">
            <a:avLst/>
          </a:prstGeom>
          <a:noFill/>
        </p:spPr>
        <p:txBody>
          <a:bodyPr wrap="square"/>
          <a:lstStyle/>
          <a:p>
            <a:pPr algn="l"/>
            <a:r>
              <a:rPr sz="1000" b="0" i="0">
                <a:solidFill>
                  <a:srgbClr val="3D4D44"/>
                </a:solidFill>
                <a:latin typeface="Calibri Light"/>
              </a:rPr>
              <a:t>Food group: cereals, oils, vegetables, protein</a:t>
            </a:r>
          </a:p>
        </p:txBody>
      </p:sp>
      <p:sp>
        <p:nvSpPr>
          <p:cNvPr id="53" name="Rectangle 52"/>
          <p:cNvSpPr/>
          <p:nvPr/>
        </p:nvSpPr>
        <p:spPr>
          <a:xfrm>
            <a:off x="6277356" y="530352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277356" y="5394960"/>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87084" y="5449824"/>
            <a:ext cx="1097280" cy="274320"/>
          </a:xfrm>
          <a:prstGeom prst="rect">
            <a:avLst/>
          </a:prstGeom>
          <a:noFill/>
        </p:spPr>
        <p:txBody>
          <a:bodyPr wrap="square"/>
          <a:lstStyle/>
          <a:p>
            <a:pPr algn="l"/>
            <a:r>
              <a:rPr sz="900" b="1" i="0">
                <a:solidFill>
                  <a:srgbClr val="C98B00"/>
                </a:solidFill>
                <a:latin typeface="Calibri"/>
              </a:rPr>
              <a:t>price</a:t>
            </a:r>
          </a:p>
        </p:txBody>
      </p:sp>
      <p:sp>
        <p:nvSpPr>
          <p:cNvPr id="56" name="TextBox 55"/>
          <p:cNvSpPr txBox="1"/>
          <p:nvPr/>
        </p:nvSpPr>
        <p:spPr>
          <a:xfrm>
            <a:off x="7667244" y="5449824"/>
            <a:ext cx="3835907" cy="320040"/>
          </a:xfrm>
          <a:prstGeom prst="rect">
            <a:avLst/>
          </a:prstGeom>
          <a:noFill/>
        </p:spPr>
        <p:txBody>
          <a:bodyPr wrap="square"/>
          <a:lstStyle/>
          <a:p>
            <a:pPr algn="l"/>
            <a:r>
              <a:rPr sz="1000" b="0" i="0">
                <a:solidFill>
                  <a:srgbClr val="3D4D44"/>
                </a:solidFill>
                <a:latin typeface="Calibri Light"/>
              </a:rPr>
              <a:t>Retail price in XAF (CFA Francs)</a:t>
            </a:r>
          </a:p>
        </p:txBody>
      </p:sp>
      <p:sp>
        <p:nvSpPr>
          <p:cNvPr id="57" name="Rectangle 56"/>
          <p:cNvSpPr/>
          <p:nvPr/>
        </p:nvSpPr>
        <p:spPr>
          <a:xfrm>
            <a:off x="6277356" y="5779008"/>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277356" y="5870448"/>
            <a:ext cx="1280160" cy="309068"/>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87084" y="5925312"/>
            <a:ext cx="1097280" cy="274320"/>
          </a:xfrm>
          <a:prstGeom prst="rect">
            <a:avLst/>
          </a:prstGeom>
          <a:noFill/>
        </p:spPr>
        <p:txBody>
          <a:bodyPr wrap="square"/>
          <a:lstStyle/>
          <a:p>
            <a:pPr algn="l"/>
            <a:r>
              <a:rPr sz="900" b="1" i="0" dirty="0" err="1">
                <a:solidFill>
                  <a:srgbClr val="C98B00"/>
                </a:solidFill>
                <a:latin typeface="Calibri"/>
              </a:rPr>
              <a:t>pricetype</a:t>
            </a:r>
            <a:endParaRPr sz="900" b="1" i="0" dirty="0">
              <a:solidFill>
                <a:srgbClr val="C98B00"/>
              </a:solidFill>
              <a:latin typeface="Calibri"/>
            </a:endParaRPr>
          </a:p>
        </p:txBody>
      </p:sp>
      <p:sp>
        <p:nvSpPr>
          <p:cNvPr id="60" name="TextBox 59"/>
          <p:cNvSpPr txBox="1"/>
          <p:nvPr/>
        </p:nvSpPr>
        <p:spPr>
          <a:xfrm>
            <a:off x="7667244" y="5925312"/>
            <a:ext cx="3835907" cy="320040"/>
          </a:xfrm>
          <a:prstGeom prst="rect">
            <a:avLst/>
          </a:prstGeom>
          <a:noFill/>
        </p:spPr>
        <p:txBody>
          <a:bodyPr wrap="square"/>
          <a:lstStyle/>
          <a:p>
            <a:pPr algn="l"/>
            <a:r>
              <a:rPr sz="1000" b="0" i="0" dirty="0">
                <a:solidFill>
                  <a:srgbClr val="3D4D44"/>
                </a:solidFill>
                <a:latin typeface="Calibri Light"/>
              </a:rPr>
              <a:t>Filtered to Retail only before analysis</a:t>
            </a:r>
          </a:p>
        </p:txBody>
      </p:sp>
      <p:sp>
        <p:nvSpPr>
          <p:cNvPr id="61" name="Rectangle 60"/>
          <p:cNvSpPr/>
          <p:nvPr/>
        </p:nvSpPr>
        <p:spPr>
          <a:xfrm>
            <a:off x="632397" y="6116897"/>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95439" y="5809259"/>
            <a:ext cx="1280160" cy="3657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50557" y="5871362"/>
            <a:ext cx="1097280" cy="274320"/>
          </a:xfrm>
          <a:prstGeom prst="rect">
            <a:avLst/>
          </a:prstGeom>
          <a:noFill/>
        </p:spPr>
        <p:txBody>
          <a:bodyPr wrap="square"/>
          <a:lstStyle/>
          <a:p>
            <a:pPr algn="l"/>
            <a:r>
              <a:rPr lang="en-US" sz="900" b="1" i="0" dirty="0">
                <a:solidFill>
                  <a:srgbClr val="C98B00"/>
                </a:solidFill>
                <a:latin typeface="Calibri"/>
              </a:rPr>
              <a:t>UNIT</a:t>
            </a:r>
            <a:endParaRPr sz="900" b="1" i="0" dirty="0">
              <a:solidFill>
                <a:srgbClr val="C98B00"/>
              </a:solidFill>
              <a:latin typeface="Calibri"/>
            </a:endParaRPr>
          </a:p>
        </p:txBody>
      </p:sp>
      <p:sp>
        <p:nvSpPr>
          <p:cNvPr id="64" name="TextBox 63"/>
          <p:cNvSpPr txBox="1"/>
          <p:nvPr/>
        </p:nvSpPr>
        <p:spPr>
          <a:xfrm>
            <a:off x="2024544" y="5811012"/>
            <a:ext cx="3835907" cy="320040"/>
          </a:xfrm>
          <a:prstGeom prst="rect">
            <a:avLst/>
          </a:prstGeom>
          <a:noFill/>
        </p:spPr>
        <p:txBody>
          <a:bodyPr wrap="square"/>
          <a:lstStyle/>
          <a:p>
            <a:pPr algn="l"/>
            <a:r>
              <a:rPr sz="1050" b="0" i="0" dirty="0">
                <a:solidFill>
                  <a:srgbClr val="3D4D44"/>
                </a:solidFill>
                <a:latin typeface="Calibri Light"/>
              </a:rPr>
              <a:t>Measurement unit (kg, </a:t>
            </a:r>
            <a:r>
              <a:rPr sz="1050" b="0" i="0" dirty="0" err="1">
                <a:solidFill>
                  <a:srgbClr val="3D4D44"/>
                </a:solidFill>
                <a:latin typeface="Calibri Light"/>
              </a:rPr>
              <a:t>litre</a:t>
            </a:r>
            <a:r>
              <a:rPr sz="1050" b="0" i="0" dirty="0">
                <a:solidFill>
                  <a:srgbClr val="3D4D44"/>
                </a:solidFill>
                <a:latin typeface="Calibri Light"/>
              </a:rPr>
              <a:t>, piece)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03  |  DATA EXPLORATION</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Price Trends, Seasonal Patterns, and Top Commodities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6 / 16</a:t>
            </a:r>
          </a:p>
        </p:txBody>
      </p:sp>
      <p:pic>
        <p:nvPicPr>
          <p:cNvPr id="10" name="Picture 9" descr="fig1b_yearly_trend.png"/>
          <p:cNvPicPr>
            <a:picLocks noChangeAspect="1"/>
          </p:cNvPicPr>
          <p:nvPr/>
        </p:nvPicPr>
        <p:blipFill>
          <a:blip r:embed="rId2"/>
          <a:stretch>
            <a:fillRect/>
          </a:stretch>
        </p:blipFill>
        <p:spPr>
          <a:xfrm>
            <a:off x="594360" y="987552"/>
            <a:ext cx="5317236" cy="1890863"/>
          </a:xfrm>
          <a:prstGeom prst="rect">
            <a:avLst/>
          </a:prstGeom>
        </p:spPr>
      </p:pic>
      <p:sp>
        <p:nvSpPr>
          <p:cNvPr id="11" name="TextBox 10"/>
          <p:cNvSpPr txBox="1"/>
          <p:nvPr/>
        </p:nvSpPr>
        <p:spPr>
          <a:xfrm>
            <a:off x="594360" y="3310128"/>
            <a:ext cx="5317236" cy="384048"/>
          </a:xfrm>
          <a:prstGeom prst="rect">
            <a:avLst/>
          </a:prstGeom>
          <a:noFill/>
        </p:spPr>
        <p:txBody>
          <a:bodyPr wrap="square"/>
          <a:lstStyle/>
          <a:p>
            <a:pPr algn="l"/>
            <a:r>
              <a:rPr sz="900" b="0" i="1" dirty="0">
                <a:solidFill>
                  <a:srgbClr val="8A9D92"/>
                </a:solidFill>
                <a:latin typeface="Calibri Light"/>
              </a:rPr>
              <a:t>Figure 1 — Average annual price trend (2005–2026). Consistent upward trajectory; post-2020 acceleration is clearly visible.</a:t>
            </a:r>
          </a:p>
        </p:txBody>
      </p:sp>
      <p:pic>
        <p:nvPicPr>
          <p:cNvPr id="12" name="Picture 11" descr="fig1c_monthly_pattern.png"/>
          <p:cNvPicPr>
            <a:picLocks noChangeAspect="1"/>
          </p:cNvPicPr>
          <p:nvPr/>
        </p:nvPicPr>
        <p:blipFill>
          <a:blip r:embed="rId3"/>
          <a:stretch>
            <a:fillRect/>
          </a:stretch>
        </p:blipFill>
        <p:spPr>
          <a:xfrm>
            <a:off x="6277356" y="987552"/>
            <a:ext cx="5317236" cy="2082375"/>
          </a:xfrm>
          <a:prstGeom prst="rect">
            <a:avLst/>
          </a:prstGeom>
        </p:spPr>
      </p:pic>
      <p:sp>
        <p:nvSpPr>
          <p:cNvPr id="13" name="TextBox 12"/>
          <p:cNvSpPr txBox="1"/>
          <p:nvPr/>
        </p:nvSpPr>
        <p:spPr>
          <a:xfrm>
            <a:off x="6277356" y="3310128"/>
            <a:ext cx="5317236" cy="384048"/>
          </a:xfrm>
          <a:prstGeom prst="rect">
            <a:avLst/>
          </a:prstGeom>
          <a:noFill/>
        </p:spPr>
        <p:txBody>
          <a:bodyPr wrap="square"/>
          <a:lstStyle/>
          <a:p>
            <a:pPr algn="l"/>
            <a:r>
              <a:rPr sz="900" b="0" i="1">
                <a:solidFill>
                  <a:srgbClr val="8A9D92"/>
                </a:solidFill>
                <a:latin typeface="Calibri Light"/>
              </a:rPr>
              <a:t>Figure 2 — Average price by calendar month. June–August consistently records the highest prices — the lean pre-harvest season.</a:t>
            </a:r>
          </a:p>
        </p:txBody>
      </p:sp>
      <p:pic>
        <p:nvPicPr>
          <p:cNvPr id="14" name="Picture 13" descr="fig1d_top_commodities.png"/>
          <p:cNvPicPr>
            <a:picLocks noChangeAspect="1"/>
          </p:cNvPicPr>
          <p:nvPr/>
        </p:nvPicPr>
        <p:blipFill>
          <a:blip r:embed="rId4"/>
          <a:stretch>
            <a:fillRect/>
          </a:stretch>
        </p:blipFill>
        <p:spPr>
          <a:xfrm>
            <a:off x="594360" y="3822191"/>
            <a:ext cx="5317236" cy="2318795"/>
          </a:xfrm>
          <a:prstGeom prst="rect">
            <a:avLst/>
          </a:prstGeom>
        </p:spPr>
      </p:pic>
      <p:sp>
        <p:nvSpPr>
          <p:cNvPr id="15" name="TextBox 14"/>
          <p:cNvSpPr txBox="1"/>
          <p:nvPr/>
        </p:nvSpPr>
        <p:spPr>
          <a:xfrm>
            <a:off x="594360" y="6144768"/>
            <a:ext cx="5317236" cy="384048"/>
          </a:xfrm>
          <a:prstGeom prst="rect">
            <a:avLst/>
          </a:prstGeom>
          <a:noFill/>
        </p:spPr>
        <p:txBody>
          <a:bodyPr wrap="square"/>
          <a:lstStyle/>
          <a:p>
            <a:pPr algn="l"/>
            <a:r>
              <a:rPr sz="900" b="0" i="1">
                <a:solidFill>
                  <a:srgbClr val="8A9D92"/>
                </a:solidFill>
                <a:latin typeface="Calibri Light"/>
              </a:rPr>
              <a:t>Figure 3 — Top 12 commodities by record count. Fish (fresh), Sorghum, and Maize are the most monitored across all regions.</a:t>
            </a:r>
          </a:p>
        </p:txBody>
      </p:sp>
      <p:pic>
        <p:nvPicPr>
          <p:cNvPr id="16" name="Picture 15" descr="fig2a_class_distribution.png"/>
          <p:cNvPicPr>
            <a:picLocks noChangeAspect="1"/>
          </p:cNvPicPr>
          <p:nvPr/>
        </p:nvPicPr>
        <p:blipFill>
          <a:blip r:embed="rId5"/>
          <a:stretch>
            <a:fillRect/>
          </a:stretch>
        </p:blipFill>
        <p:spPr>
          <a:xfrm>
            <a:off x="6868355" y="3694176"/>
            <a:ext cx="3745185" cy="2465616"/>
          </a:xfrm>
          <a:prstGeom prst="rect">
            <a:avLst/>
          </a:prstGeom>
        </p:spPr>
      </p:pic>
      <p:sp>
        <p:nvSpPr>
          <p:cNvPr id="17" name="TextBox 16"/>
          <p:cNvSpPr txBox="1"/>
          <p:nvPr/>
        </p:nvSpPr>
        <p:spPr>
          <a:xfrm>
            <a:off x="6277356" y="6144768"/>
            <a:ext cx="5317236" cy="384048"/>
          </a:xfrm>
          <a:prstGeom prst="rect">
            <a:avLst/>
          </a:prstGeom>
          <a:noFill/>
        </p:spPr>
        <p:txBody>
          <a:bodyPr wrap="square"/>
          <a:lstStyle/>
          <a:p>
            <a:pPr algn="l"/>
            <a:r>
              <a:rPr sz="900" b="0" i="1">
                <a:solidFill>
                  <a:srgbClr val="8A9D92"/>
                </a:solidFill>
                <a:latin typeface="Calibri Light"/>
              </a:rPr>
              <a:t>Figure 4 — Price class distribution after percentile-based labelling: balanced Low / Medium / High split used for classification.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1925"/>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04  |  METHODOLOGY</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Four Analytical Tasks Applied to the Same Cleaned Dataset</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7 / 16</a:t>
            </a:r>
          </a:p>
        </p:txBody>
      </p:sp>
      <p:sp>
        <p:nvSpPr>
          <p:cNvPr id="10" name="TextBox 9"/>
          <p:cNvSpPr txBox="1"/>
          <p:nvPr/>
        </p:nvSpPr>
        <p:spPr>
          <a:xfrm>
            <a:off x="594360" y="987552"/>
            <a:ext cx="11000232" cy="420624"/>
          </a:xfrm>
          <a:prstGeom prst="rect">
            <a:avLst/>
          </a:prstGeom>
          <a:noFill/>
        </p:spPr>
        <p:txBody>
          <a:bodyPr wrap="square"/>
          <a:lstStyle/>
          <a:p>
            <a:pPr algn="l"/>
            <a:r>
              <a:rPr sz="1150" b="0" i="0">
                <a:solidFill>
                  <a:srgbClr val="3D4D44"/>
                </a:solidFill>
                <a:latin typeface="Calibri Light"/>
              </a:rPr>
              <a:t>Each task below operates on the same 55,660-row cleaned dataset. The pipeline is sequential: data preparation feeds all four tasks independently. No output from one task is used as input to another.</a:t>
            </a:r>
          </a:p>
        </p:txBody>
      </p:sp>
      <p:sp>
        <p:nvSpPr>
          <p:cNvPr id="11" name="Rectangle 10"/>
          <p:cNvSpPr/>
          <p:nvPr/>
        </p:nvSpPr>
        <p:spPr>
          <a:xfrm>
            <a:off x="594360" y="1517904"/>
            <a:ext cx="2475738" cy="47643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517904"/>
            <a:ext cx="2475738" cy="73152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1572768"/>
            <a:ext cx="2219706" cy="256032"/>
          </a:xfrm>
          <a:prstGeom prst="rect">
            <a:avLst/>
          </a:prstGeom>
          <a:noFill/>
        </p:spPr>
        <p:txBody>
          <a:bodyPr wrap="square"/>
          <a:lstStyle/>
          <a:p>
            <a:pPr algn="l"/>
            <a:r>
              <a:rPr sz="800" b="1" i="0">
                <a:solidFill>
                  <a:srgbClr val="FFFFFF"/>
                </a:solidFill>
                <a:latin typeface="Calibri"/>
              </a:rPr>
              <a:t>TASK 1</a:t>
            </a:r>
          </a:p>
        </p:txBody>
      </p:sp>
      <p:sp>
        <p:nvSpPr>
          <p:cNvPr id="14" name="TextBox 13"/>
          <p:cNvSpPr txBox="1"/>
          <p:nvPr/>
        </p:nvSpPr>
        <p:spPr>
          <a:xfrm>
            <a:off x="758952" y="1828800"/>
            <a:ext cx="2219706" cy="365760"/>
          </a:xfrm>
          <a:prstGeom prst="rect">
            <a:avLst/>
          </a:prstGeom>
          <a:noFill/>
        </p:spPr>
        <p:txBody>
          <a:bodyPr wrap="square"/>
          <a:lstStyle/>
          <a:p>
            <a:pPr algn="l"/>
            <a:r>
              <a:rPr sz="1500" b="1" i="0">
                <a:solidFill>
                  <a:srgbClr val="FFFFFF"/>
                </a:solidFill>
                <a:latin typeface="Calibri"/>
              </a:rPr>
              <a:t>Classification</a:t>
            </a:r>
          </a:p>
        </p:txBody>
      </p:sp>
      <p:sp>
        <p:nvSpPr>
          <p:cNvPr id="15" name="Rectangle 14"/>
          <p:cNvSpPr/>
          <p:nvPr/>
        </p:nvSpPr>
        <p:spPr>
          <a:xfrm>
            <a:off x="758952" y="228600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2395728"/>
            <a:ext cx="2219706" cy="219456"/>
          </a:xfrm>
          <a:prstGeom prst="rect">
            <a:avLst/>
          </a:prstGeom>
          <a:noFill/>
        </p:spPr>
        <p:txBody>
          <a:bodyPr wrap="square"/>
          <a:lstStyle/>
          <a:p>
            <a:pPr algn="l"/>
            <a:r>
              <a:rPr sz="750" b="1" i="0">
                <a:solidFill>
                  <a:srgbClr val="8A9D92"/>
                </a:solidFill>
                <a:latin typeface="Calibri"/>
              </a:rPr>
              <a:t>ALGORITHM</a:t>
            </a:r>
          </a:p>
        </p:txBody>
      </p:sp>
      <p:sp>
        <p:nvSpPr>
          <p:cNvPr id="17" name="TextBox 16"/>
          <p:cNvSpPr txBox="1"/>
          <p:nvPr/>
        </p:nvSpPr>
        <p:spPr>
          <a:xfrm>
            <a:off x="758952" y="2633472"/>
            <a:ext cx="2219706" cy="621792"/>
          </a:xfrm>
          <a:prstGeom prst="rect">
            <a:avLst/>
          </a:prstGeom>
          <a:noFill/>
        </p:spPr>
        <p:txBody>
          <a:bodyPr wrap="square"/>
          <a:lstStyle/>
          <a:p>
            <a:pPr algn="l"/>
            <a:r>
              <a:rPr sz="1050" b="0" i="0">
                <a:solidFill>
                  <a:srgbClr val="3D4D44"/>
                </a:solidFill>
                <a:latin typeface="Calibri Light"/>
              </a:rPr>
              <a:t>Random Forest (100 trees, depth 12)</a:t>
            </a:r>
          </a:p>
        </p:txBody>
      </p:sp>
      <p:sp>
        <p:nvSpPr>
          <p:cNvPr id="18" name="Rectangle 17"/>
          <p:cNvSpPr/>
          <p:nvPr/>
        </p:nvSpPr>
        <p:spPr>
          <a:xfrm>
            <a:off x="758952" y="329184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3364992"/>
            <a:ext cx="2219706" cy="219456"/>
          </a:xfrm>
          <a:prstGeom prst="rect">
            <a:avLst/>
          </a:prstGeom>
          <a:noFill/>
        </p:spPr>
        <p:txBody>
          <a:bodyPr wrap="square"/>
          <a:lstStyle/>
          <a:p>
            <a:pPr algn="l"/>
            <a:r>
              <a:rPr sz="750" b="1" i="0">
                <a:solidFill>
                  <a:srgbClr val="8A9D92"/>
                </a:solidFill>
                <a:latin typeface="Calibri"/>
              </a:rPr>
              <a:t>FEATURES</a:t>
            </a:r>
          </a:p>
        </p:txBody>
      </p:sp>
      <p:sp>
        <p:nvSpPr>
          <p:cNvPr id="20" name="TextBox 19"/>
          <p:cNvSpPr txBox="1"/>
          <p:nvPr/>
        </p:nvSpPr>
        <p:spPr>
          <a:xfrm>
            <a:off x="758952" y="3602736"/>
            <a:ext cx="2219706" cy="621792"/>
          </a:xfrm>
          <a:prstGeom prst="rect">
            <a:avLst/>
          </a:prstGeom>
          <a:noFill/>
        </p:spPr>
        <p:txBody>
          <a:bodyPr wrap="square"/>
          <a:lstStyle/>
          <a:p>
            <a:pPr algn="l"/>
            <a:r>
              <a:rPr sz="1050" b="0" i="0">
                <a:solidFill>
                  <a:srgbClr val="3D4D44"/>
                </a:solidFill>
                <a:latin typeface="Calibri Light"/>
              </a:rPr>
              <a:t>Commodity, region, category, year, month</a:t>
            </a:r>
          </a:p>
        </p:txBody>
      </p:sp>
      <p:sp>
        <p:nvSpPr>
          <p:cNvPr id="21" name="Rectangle 20"/>
          <p:cNvSpPr/>
          <p:nvPr/>
        </p:nvSpPr>
        <p:spPr>
          <a:xfrm>
            <a:off x="758952" y="4261104"/>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 y="4334256"/>
            <a:ext cx="2219706" cy="219456"/>
          </a:xfrm>
          <a:prstGeom prst="rect">
            <a:avLst/>
          </a:prstGeom>
          <a:noFill/>
        </p:spPr>
        <p:txBody>
          <a:bodyPr wrap="square"/>
          <a:lstStyle/>
          <a:p>
            <a:pPr algn="l"/>
            <a:r>
              <a:rPr sz="750" b="1" i="0">
                <a:solidFill>
                  <a:srgbClr val="8A9D92"/>
                </a:solidFill>
                <a:latin typeface="Calibri"/>
              </a:rPr>
              <a:t>OUTPUT</a:t>
            </a:r>
          </a:p>
        </p:txBody>
      </p:sp>
      <p:sp>
        <p:nvSpPr>
          <p:cNvPr id="23" name="TextBox 22"/>
          <p:cNvSpPr txBox="1"/>
          <p:nvPr/>
        </p:nvSpPr>
        <p:spPr>
          <a:xfrm>
            <a:off x="758952" y="4572000"/>
            <a:ext cx="2219706" cy="621792"/>
          </a:xfrm>
          <a:prstGeom prst="rect">
            <a:avLst/>
          </a:prstGeom>
          <a:noFill/>
        </p:spPr>
        <p:txBody>
          <a:bodyPr wrap="square"/>
          <a:lstStyle/>
          <a:p>
            <a:pPr algn="l"/>
            <a:r>
              <a:rPr sz="1050" b="0" i="0">
                <a:solidFill>
                  <a:srgbClr val="3D4D44"/>
                </a:solidFill>
                <a:latin typeface="Calibri Light"/>
              </a:rPr>
              <a:t>Low / Medium / High price class label</a:t>
            </a:r>
          </a:p>
        </p:txBody>
      </p:sp>
      <p:sp>
        <p:nvSpPr>
          <p:cNvPr id="24" name="Rectangle 23"/>
          <p:cNvSpPr/>
          <p:nvPr/>
        </p:nvSpPr>
        <p:spPr>
          <a:xfrm>
            <a:off x="758952" y="5230368"/>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 y="5303520"/>
            <a:ext cx="2219706" cy="219456"/>
          </a:xfrm>
          <a:prstGeom prst="rect">
            <a:avLst/>
          </a:prstGeom>
          <a:noFill/>
        </p:spPr>
        <p:txBody>
          <a:bodyPr wrap="square"/>
          <a:lstStyle/>
          <a:p>
            <a:pPr algn="l"/>
            <a:r>
              <a:rPr sz="750" b="1" i="0">
                <a:solidFill>
                  <a:srgbClr val="8A9D92"/>
                </a:solidFill>
                <a:latin typeface="Calibri"/>
              </a:rPr>
              <a:t>EVALUATION</a:t>
            </a:r>
          </a:p>
        </p:txBody>
      </p:sp>
      <p:sp>
        <p:nvSpPr>
          <p:cNvPr id="26" name="TextBox 25"/>
          <p:cNvSpPr txBox="1"/>
          <p:nvPr/>
        </p:nvSpPr>
        <p:spPr>
          <a:xfrm>
            <a:off x="758952" y="5541264"/>
            <a:ext cx="2219706" cy="621792"/>
          </a:xfrm>
          <a:prstGeom prst="rect">
            <a:avLst/>
          </a:prstGeom>
          <a:noFill/>
        </p:spPr>
        <p:txBody>
          <a:bodyPr wrap="square"/>
          <a:lstStyle/>
          <a:p>
            <a:pPr algn="l"/>
            <a:r>
              <a:rPr sz="1050" b="0" i="0">
                <a:solidFill>
                  <a:srgbClr val="3D4D44"/>
                </a:solidFill>
                <a:latin typeface="Calibri Light"/>
              </a:rPr>
              <a:t>Accuracy, F1-score (80/20 stratified split)</a:t>
            </a:r>
          </a:p>
        </p:txBody>
      </p:sp>
      <p:sp>
        <p:nvSpPr>
          <p:cNvPr id="27" name="Rectangle 26"/>
          <p:cNvSpPr/>
          <p:nvPr/>
        </p:nvSpPr>
        <p:spPr>
          <a:xfrm>
            <a:off x="3435858" y="1517904"/>
            <a:ext cx="2475738" cy="47643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35858" y="1517904"/>
            <a:ext cx="2475738" cy="731520"/>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00450" y="1572768"/>
            <a:ext cx="2219706" cy="256032"/>
          </a:xfrm>
          <a:prstGeom prst="rect">
            <a:avLst/>
          </a:prstGeom>
          <a:noFill/>
        </p:spPr>
        <p:txBody>
          <a:bodyPr wrap="square"/>
          <a:lstStyle/>
          <a:p>
            <a:pPr algn="l"/>
            <a:r>
              <a:rPr sz="800" b="1" i="0">
                <a:solidFill>
                  <a:srgbClr val="FFFFFF"/>
                </a:solidFill>
                <a:latin typeface="Calibri"/>
              </a:rPr>
              <a:t>TASK 2</a:t>
            </a:r>
          </a:p>
        </p:txBody>
      </p:sp>
      <p:sp>
        <p:nvSpPr>
          <p:cNvPr id="30" name="TextBox 29"/>
          <p:cNvSpPr txBox="1"/>
          <p:nvPr/>
        </p:nvSpPr>
        <p:spPr>
          <a:xfrm>
            <a:off x="3600450" y="1828800"/>
            <a:ext cx="2219706" cy="365760"/>
          </a:xfrm>
          <a:prstGeom prst="rect">
            <a:avLst/>
          </a:prstGeom>
          <a:noFill/>
        </p:spPr>
        <p:txBody>
          <a:bodyPr wrap="square"/>
          <a:lstStyle/>
          <a:p>
            <a:pPr algn="l"/>
            <a:r>
              <a:rPr sz="1500" b="1" i="0">
                <a:solidFill>
                  <a:srgbClr val="FFFFFF"/>
                </a:solidFill>
                <a:latin typeface="Calibri"/>
              </a:rPr>
              <a:t>Clustering</a:t>
            </a:r>
          </a:p>
        </p:txBody>
      </p:sp>
      <p:sp>
        <p:nvSpPr>
          <p:cNvPr id="31" name="Rectangle 30"/>
          <p:cNvSpPr/>
          <p:nvPr/>
        </p:nvSpPr>
        <p:spPr>
          <a:xfrm>
            <a:off x="3600450" y="228600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00450" y="2395728"/>
            <a:ext cx="2219706" cy="219456"/>
          </a:xfrm>
          <a:prstGeom prst="rect">
            <a:avLst/>
          </a:prstGeom>
          <a:noFill/>
        </p:spPr>
        <p:txBody>
          <a:bodyPr wrap="square"/>
          <a:lstStyle/>
          <a:p>
            <a:pPr algn="l"/>
            <a:r>
              <a:rPr sz="750" b="1" i="0">
                <a:solidFill>
                  <a:srgbClr val="8A9D92"/>
                </a:solidFill>
                <a:latin typeface="Calibri"/>
              </a:rPr>
              <a:t>ALGORITHM</a:t>
            </a:r>
          </a:p>
        </p:txBody>
      </p:sp>
      <p:sp>
        <p:nvSpPr>
          <p:cNvPr id="33" name="TextBox 32"/>
          <p:cNvSpPr txBox="1"/>
          <p:nvPr/>
        </p:nvSpPr>
        <p:spPr>
          <a:xfrm>
            <a:off x="3600450" y="2633472"/>
            <a:ext cx="2219706" cy="621792"/>
          </a:xfrm>
          <a:prstGeom prst="rect">
            <a:avLst/>
          </a:prstGeom>
          <a:noFill/>
        </p:spPr>
        <p:txBody>
          <a:bodyPr wrap="square"/>
          <a:lstStyle/>
          <a:p>
            <a:pPr algn="l"/>
            <a:r>
              <a:rPr sz="1050" b="0" i="0">
                <a:solidFill>
                  <a:srgbClr val="3D4D44"/>
                </a:solidFill>
                <a:latin typeface="Calibri Light"/>
              </a:rPr>
              <a:t>K-Means with elbow method (k = 4)</a:t>
            </a:r>
          </a:p>
        </p:txBody>
      </p:sp>
      <p:sp>
        <p:nvSpPr>
          <p:cNvPr id="34" name="Rectangle 33"/>
          <p:cNvSpPr/>
          <p:nvPr/>
        </p:nvSpPr>
        <p:spPr>
          <a:xfrm>
            <a:off x="3600450" y="329184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00450" y="3364992"/>
            <a:ext cx="2219706" cy="219456"/>
          </a:xfrm>
          <a:prstGeom prst="rect">
            <a:avLst/>
          </a:prstGeom>
          <a:noFill/>
        </p:spPr>
        <p:txBody>
          <a:bodyPr wrap="square"/>
          <a:lstStyle/>
          <a:p>
            <a:pPr algn="l"/>
            <a:r>
              <a:rPr sz="750" b="1" i="0">
                <a:solidFill>
                  <a:srgbClr val="8A9D92"/>
                </a:solidFill>
                <a:latin typeface="Calibri"/>
              </a:rPr>
              <a:t>INPUT</a:t>
            </a:r>
          </a:p>
        </p:txBody>
      </p:sp>
      <p:sp>
        <p:nvSpPr>
          <p:cNvPr id="36" name="TextBox 35"/>
          <p:cNvSpPr txBox="1"/>
          <p:nvPr/>
        </p:nvSpPr>
        <p:spPr>
          <a:xfrm>
            <a:off x="3600450" y="3602736"/>
            <a:ext cx="2219706" cy="621792"/>
          </a:xfrm>
          <a:prstGeom prst="rect">
            <a:avLst/>
          </a:prstGeom>
          <a:noFill/>
        </p:spPr>
        <p:txBody>
          <a:bodyPr wrap="square"/>
          <a:lstStyle/>
          <a:p>
            <a:pPr algn="l"/>
            <a:r>
              <a:rPr sz="1050" b="0" i="0">
                <a:solidFill>
                  <a:srgbClr val="3D4D44"/>
                </a:solidFill>
                <a:latin typeface="Calibri Light"/>
              </a:rPr>
              <a:t>Market x commodity median price matrix</a:t>
            </a:r>
          </a:p>
        </p:txBody>
      </p:sp>
      <p:sp>
        <p:nvSpPr>
          <p:cNvPr id="37" name="Rectangle 36"/>
          <p:cNvSpPr/>
          <p:nvPr/>
        </p:nvSpPr>
        <p:spPr>
          <a:xfrm>
            <a:off x="3600450" y="4261104"/>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00450" y="4334256"/>
            <a:ext cx="2219706" cy="219456"/>
          </a:xfrm>
          <a:prstGeom prst="rect">
            <a:avLst/>
          </a:prstGeom>
          <a:noFill/>
        </p:spPr>
        <p:txBody>
          <a:bodyPr wrap="square"/>
          <a:lstStyle/>
          <a:p>
            <a:pPr algn="l"/>
            <a:r>
              <a:rPr sz="750" b="1" i="0">
                <a:solidFill>
                  <a:srgbClr val="8A9D92"/>
                </a:solidFill>
                <a:latin typeface="Calibri"/>
              </a:rPr>
              <a:t>REDUCTION</a:t>
            </a:r>
          </a:p>
        </p:txBody>
      </p:sp>
      <p:sp>
        <p:nvSpPr>
          <p:cNvPr id="39" name="TextBox 38"/>
          <p:cNvSpPr txBox="1"/>
          <p:nvPr/>
        </p:nvSpPr>
        <p:spPr>
          <a:xfrm>
            <a:off x="3600450" y="4572000"/>
            <a:ext cx="2219706" cy="621792"/>
          </a:xfrm>
          <a:prstGeom prst="rect">
            <a:avLst/>
          </a:prstGeom>
          <a:noFill/>
        </p:spPr>
        <p:txBody>
          <a:bodyPr wrap="square"/>
          <a:lstStyle/>
          <a:p>
            <a:pPr algn="l"/>
            <a:r>
              <a:rPr sz="1050" b="0" i="0">
                <a:solidFill>
                  <a:srgbClr val="3D4D44"/>
                </a:solidFill>
                <a:latin typeface="Calibri Light"/>
              </a:rPr>
              <a:t>PCA to 2 components for visualisation</a:t>
            </a:r>
          </a:p>
        </p:txBody>
      </p:sp>
      <p:sp>
        <p:nvSpPr>
          <p:cNvPr id="40" name="Rectangle 39"/>
          <p:cNvSpPr/>
          <p:nvPr/>
        </p:nvSpPr>
        <p:spPr>
          <a:xfrm>
            <a:off x="3600450" y="5230368"/>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00450" y="5303520"/>
            <a:ext cx="2219706" cy="219456"/>
          </a:xfrm>
          <a:prstGeom prst="rect">
            <a:avLst/>
          </a:prstGeom>
          <a:noFill/>
        </p:spPr>
        <p:txBody>
          <a:bodyPr wrap="square"/>
          <a:lstStyle/>
          <a:p>
            <a:pPr algn="l"/>
            <a:r>
              <a:rPr sz="750" b="1" i="0">
                <a:solidFill>
                  <a:srgbClr val="8A9D92"/>
                </a:solidFill>
                <a:latin typeface="Calibri"/>
              </a:rPr>
              <a:t>OUTPUT</a:t>
            </a:r>
          </a:p>
        </p:txBody>
      </p:sp>
      <p:sp>
        <p:nvSpPr>
          <p:cNvPr id="42" name="TextBox 41"/>
          <p:cNvSpPr txBox="1"/>
          <p:nvPr/>
        </p:nvSpPr>
        <p:spPr>
          <a:xfrm>
            <a:off x="3600450" y="5541264"/>
            <a:ext cx="2219706" cy="621792"/>
          </a:xfrm>
          <a:prstGeom prst="rect">
            <a:avLst/>
          </a:prstGeom>
          <a:noFill/>
        </p:spPr>
        <p:txBody>
          <a:bodyPr wrap="square"/>
          <a:lstStyle/>
          <a:p>
            <a:pPr algn="l"/>
            <a:r>
              <a:rPr sz="1050" b="0" i="0">
                <a:solidFill>
                  <a:srgbClr val="3D4D44"/>
                </a:solidFill>
                <a:latin typeface="Calibri Light"/>
              </a:rPr>
              <a:t>Cluster assignment per market / region</a:t>
            </a:r>
          </a:p>
        </p:txBody>
      </p:sp>
      <p:sp>
        <p:nvSpPr>
          <p:cNvPr id="43" name="Rectangle 42"/>
          <p:cNvSpPr/>
          <p:nvPr/>
        </p:nvSpPr>
        <p:spPr>
          <a:xfrm>
            <a:off x="6277356" y="1517904"/>
            <a:ext cx="2475738" cy="47643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77356" y="1517904"/>
            <a:ext cx="2475738" cy="731520"/>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41948" y="1572768"/>
            <a:ext cx="2219706" cy="256032"/>
          </a:xfrm>
          <a:prstGeom prst="rect">
            <a:avLst/>
          </a:prstGeom>
          <a:noFill/>
        </p:spPr>
        <p:txBody>
          <a:bodyPr wrap="square"/>
          <a:lstStyle/>
          <a:p>
            <a:pPr algn="l"/>
            <a:r>
              <a:rPr sz="800" b="1" i="0">
                <a:solidFill>
                  <a:srgbClr val="FFFFFF"/>
                </a:solidFill>
                <a:latin typeface="Calibri"/>
              </a:rPr>
              <a:t>TASK 3</a:t>
            </a:r>
          </a:p>
        </p:txBody>
      </p:sp>
      <p:sp>
        <p:nvSpPr>
          <p:cNvPr id="46" name="TextBox 45"/>
          <p:cNvSpPr txBox="1"/>
          <p:nvPr/>
        </p:nvSpPr>
        <p:spPr>
          <a:xfrm>
            <a:off x="6441948" y="1828800"/>
            <a:ext cx="2219706" cy="365760"/>
          </a:xfrm>
          <a:prstGeom prst="rect">
            <a:avLst/>
          </a:prstGeom>
          <a:noFill/>
        </p:spPr>
        <p:txBody>
          <a:bodyPr wrap="square"/>
          <a:lstStyle/>
          <a:p>
            <a:pPr algn="l"/>
            <a:r>
              <a:rPr sz="1500" b="1" i="0">
                <a:solidFill>
                  <a:srgbClr val="FFFFFF"/>
                </a:solidFill>
                <a:latin typeface="Calibri"/>
              </a:rPr>
              <a:t>Forecasting</a:t>
            </a:r>
          </a:p>
        </p:txBody>
      </p:sp>
      <p:sp>
        <p:nvSpPr>
          <p:cNvPr id="47" name="Rectangle 46"/>
          <p:cNvSpPr/>
          <p:nvPr/>
        </p:nvSpPr>
        <p:spPr>
          <a:xfrm>
            <a:off x="6441948" y="228600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1948" y="2395728"/>
            <a:ext cx="2219706" cy="219456"/>
          </a:xfrm>
          <a:prstGeom prst="rect">
            <a:avLst/>
          </a:prstGeom>
          <a:noFill/>
        </p:spPr>
        <p:txBody>
          <a:bodyPr wrap="square"/>
          <a:lstStyle/>
          <a:p>
            <a:pPr algn="l"/>
            <a:r>
              <a:rPr sz="750" b="1" i="0">
                <a:solidFill>
                  <a:srgbClr val="8A9D92"/>
                </a:solidFill>
                <a:latin typeface="Calibri"/>
              </a:rPr>
              <a:t>ALGORITHM</a:t>
            </a:r>
          </a:p>
        </p:txBody>
      </p:sp>
      <p:sp>
        <p:nvSpPr>
          <p:cNvPr id="49" name="TextBox 48"/>
          <p:cNvSpPr txBox="1"/>
          <p:nvPr/>
        </p:nvSpPr>
        <p:spPr>
          <a:xfrm>
            <a:off x="6441948" y="2633472"/>
            <a:ext cx="2219706" cy="621792"/>
          </a:xfrm>
          <a:prstGeom prst="rect">
            <a:avLst/>
          </a:prstGeom>
          <a:noFill/>
        </p:spPr>
        <p:txBody>
          <a:bodyPr wrap="square"/>
          <a:lstStyle/>
          <a:p>
            <a:pPr algn="l"/>
            <a:r>
              <a:rPr sz="1050" b="0" i="0">
                <a:solidFill>
                  <a:srgbClr val="3D4D44"/>
                </a:solidFill>
                <a:latin typeface="Calibri Light"/>
              </a:rPr>
              <a:t>Random Forest Regressor</a:t>
            </a:r>
          </a:p>
        </p:txBody>
      </p:sp>
      <p:sp>
        <p:nvSpPr>
          <p:cNvPr id="50" name="Rectangle 49"/>
          <p:cNvSpPr/>
          <p:nvPr/>
        </p:nvSpPr>
        <p:spPr>
          <a:xfrm>
            <a:off x="6441948" y="329184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41948" y="3364992"/>
            <a:ext cx="2219706" cy="219456"/>
          </a:xfrm>
          <a:prstGeom prst="rect">
            <a:avLst/>
          </a:prstGeom>
          <a:noFill/>
        </p:spPr>
        <p:txBody>
          <a:bodyPr wrap="square"/>
          <a:lstStyle/>
          <a:p>
            <a:pPr algn="l"/>
            <a:r>
              <a:rPr sz="750" b="1" i="0">
                <a:solidFill>
                  <a:srgbClr val="8A9D92"/>
                </a:solidFill>
                <a:latin typeface="Calibri"/>
              </a:rPr>
              <a:t>FEATURES</a:t>
            </a:r>
          </a:p>
        </p:txBody>
      </p:sp>
      <p:sp>
        <p:nvSpPr>
          <p:cNvPr id="52" name="TextBox 51"/>
          <p:cNvSpPr txBox="1"/>
          <p:nvPr/>
        </p:nvSpPr>
        <p:spPr>
          <a:xfrm>
            <a:off x="6441948" y="3602736"/>
            <a:ext cx="2219706" cy="621792"/>
          </a:xfrm>
          <a:prstGeom prst="rect">
            <a:avLst/>
          </a:prstGeom>
          <a:noFill/>
        </p:spPr>
        <p:txBody>
          <a:bodyPr wrap="square"/>
          <a:lstStyle/>
          <a:p>
            <a:pPr algn="l"/>
            <a:r>
              <a:rPr sz="1050" b="0" i="0">
                <a:solidFill>
                  <a:srgbClr val="3D4D44"/>
                </a:solidFill>
                <a:latin typeface="Calibri Light"/>
              </a:rPr>
              <a:t>6 lag prices, year, month encoding</a:t>
            </a:r>
          </a:p>
        </p:txBody>
      </p:sp>
      <p:sp>
        <p:nvSpPr>
          <p:cNvPr id="53" name="Rectangle 52"/>
          <p:cNvSpPr/>
          <p:nvPr/>
        </p:nvSpPr>
        <p:spPr>
          <a:xfrm>
            <a:off x="6441948" y="4261104"/>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41948" y="4334256"/>
            <a:ext cx="2219706" cy="219456"/>
          </a:xfrm>
          <a:prstGeom prst="rect">
            <a:avLst/>
          </a:prstGeom>
          <a:noFill/>
        </p:spPr>
        <p:txBody>
          <a:bodyPr wrap="square"/>
          <a:lstStyle/>
          <a:p>
            <a:pPr algn="l"/>
            <a:r>
              <a:rPr sz="750" b="1" i="0">
                <a:solidFill>
                  <a:srgbClr val="8A9D92"/>
                </a:solidFill>
                <a:latin typeface="Calibri"/>
              </a:rPr>
              <a:t>COMMODITY</a:t>
            </a:r>
          </a:p>
        </p:txBody>
      </p:sp>
      <p:sp>
        <p:nvSpPr>
          <p:cNvPr id="55" name="TextBox 54"/>
          <p:cNvSpPr txBox="1"/>
          <p:nvPr/>
        </p:nvSpPr>
        <p:spPr>
          <a:xfrm>
            <a:off x="6441948" y="4572000"/>
            <a:ext cx="2219706" cy="621792"/>
          </a:xfrm>
          <a:prstGeom prst="rect">
            <a:avLst/>
          </a:prstGeom>
          <a:noFill/>
        </p:spPr>
        <p:txBody>
          <a:bodyPr wrap="square"/>
          <a:lstStyle/>
          <a:p>
            <a:pPr algn="l"/>
            <a:r>
              <a:rPr sz="1050" b="0" i="0">
                <a:solidFill>
                  <a:srgbClr val="3D4D44"/>
                </a:solidFill>
                <a:latin typeface="Calibri Light"/>
              </a:rPr>
              <a:t>Maize (white) — most complete series</a:t>
            </a:r>
          </a:p>
        </p:txBody>
      </p:sp>
      <p:sp>
        <p:nvSpPr>
          <p:cNvPr id="56" name="Rectangle 55"/>
          <p:cNvSpPr/>
          <p:nvPr/>
        </p:nvSpPr>
        <p:spPr>
          <a:xfrm>
            <a:off x="6441948" y="5230368"/>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41948" y="5303520"/>
            <a:ext cx="2219706" cy="219456"/>
          </a:xfrm>
          <a:prstGeom prst="rect">
            <a:avLst/>
          </a:prstGeom>
          <a:noFill/>
        </p:spPr>
        <p:txBody>
          <a:bodyPr wrap="square"/>
          <a:lstStyle/>
          <a:p>
            <a:pPr algn="l"/>
            <a:r>
              <a:rPr sz="750" b="1" i="0">
                <a:solidFill>
                  <a:srgbClr val="8A9D92"/>
                </a:solidFill>
                <a:latin typeface="Calibri"/>
              </a:rPr>
              <a:t>EVALUATION</a:t>
            </a:r>
          </a:p>
        </p:txBody>
      </p:sp>
      <p:sp>
        <p:nvSpPr>
          <p:cNvPr id="58" name="TextBox 57"/>
          <p:cNvSpPr txBox="1"/>
          <p:nvPr/>
        </p:nvSpPr>
        <p:spPr>
          <a:xfrm>
            <a:off x="6441948" y="5541264"/>
            <a:ext cx="2219706" cy="621792"/>
          </a:xfrm>
          <a:prstGeom prst="rect">
            <a:avLst/>
          </a:prstGeom>
          <a:noFill/>
        </p:spPr>
        <p:txBody>
          <a:bodyPr wrap="square"/>
          <a:lstStyle/>
          <a:p>
            <a:pPr algn="l"/>
            <a:r>
              <a:rPr sz="1050" b="0" i="0">
                <a:solidFill>
                  <a:srgbClr val="3D4D44"/>
                </a:solidFill>
                <a:latin typeface="Calibri Light"/>
              </a:rPr>
              <a:t>RMSE, MAE, R2 (temporal 80/20 split)</a:t>
            </a:r>
          </a:p>
        </p:txBody>
      </p:sp>
      <p:sp>
        <p:nvSpPr>
          <p:cNvPr id="59" name="Rectangle 58"/>
          <p:cNvSpPr/>
          <p:nvPr/>
        </p:nvSpPr>
        <p:spPr>
          <a:xfrm>
            <a:off x="9118854" y="1517904"/>
            <a:ext cx="2475738" cy="47643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118854" y="1517904"/>
            <a:ext cx="2475738" cy="731520"/>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283446" y="1572768"/>
            <a:ext cx="2219706" cy="256032"/>
          </a:xfrm>
          <a:prstGeom prst="rect">
            <a:avLst/>
          </a:prstGeom>
          <a:noFill/>
        </p:spPr>
        <p:txBody>
          <a:bodyPr wrap="square"/>
          <a:lstStyle/>
          <a:p>
            <a:pPr algn="l"/>
            <a:r>
              <a:rPr sz="800" b="1" i="0">
                <a:solidFill>
                  <a:srgbClr val="FFFFFF"/>
                </a:solidFill>
                <a:latin typeface="Calibri"/>
              </a:rPr>
              <a:t>TASK 4</a:t>
            </a:r>
          </a:p>
        </p:txBody>
      </p:sp>
      <p:sp>
        <p:nvSpPr>
          <p:cNvPr id="62" name="TextBox 61"/>
          <p:cNvSpPr txBox="1"/>
          <p:nvPr/>
        </p:nvSpPr>
        <p:spPr>
          <a:xfrm>
            <a:off x="9283446" y="1828800"/>
            <a:ext cx="2219706" cy="365760"/>
          </a:xfrm>
          <a:prstGeom prst="rect">
            <a:avLst/>
          </a:prstGeom>
          <a:noFill/>
        </p:spPr>
        <p:txBody>
          <a:bodyPr wrap="square"/>
          <a:lstStyle/>
          <a:p>
            <a:pPr algn="l"/>
            <a:r>
              <a:rPr sz="1500" b="1" i="0">
                <a:solidFill>
                  <a:srgbClr val="FFFFFF"/>
                </a:solidFill>
                <a:latin typeface="Calibri"/>
              </a:rPr>
              <a:t>Pattern Discovery</a:t>
            </a:r>
          </a:p>
        </p:txBody>
      </p:sp>
      <p:sp>
        <p:nvSpPr>
          <p:cNvPr id="63" name="Rectangle 62"/>
          <p:cNvSpPr/>
          <p:nvPr/>
        </p:nvSpPr>
        <p:spPr>
          <a:xfrm>
            <a:off x="9283446" y="228600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283446" y="2395728"/>
            <a:ext cx="2219706" cy="219456"/>
          </a:xfrm>
          <a:prstGeom prst="rect">
            <a:avLst/>
          </a:prstGeom>
          <a:noFill/>
        </p:spPr>
        <p:txBody>
          <a:bodyPr wrap="square"/>
          <a:lstStyle/>
          <a:p>
            <a:pPr algn="l"/>
            <a:r>
              <a:rPr sz="750" b="1" i="0">
                <a:solidFill>
                  <a:srgbClr val="8A9D92"/>
                </a:solidFill>
                <a:latin typeface="Calibri"/>
              </a:rPr>
              <a:t>METHOD A</a:t>
            </a:r>
          </a:p>
        </p:txBody>
      </p:sp>
      <p:sp>
        <p:nvSpPr>
          <p:cNvPr id="65" name="TextBox 64"/>
          <p:cNvSpPr txBox="1"/>
          <p:nvPr/>
        </p:nvSpPr>
        <p:spPr>
          <a:xfrm>
            <a:off x="9283446" y="2633472"/>
            <a:ext cx="2219706" cy="621792"/>
          </a:xfrm>
          <a:prstGeom prst="rect">
            <a:avLst/>
          </a:prstGeom>
          <a:noFill/>
        </p:spPr>
        <p:txBody>
          <a:bodyPr wrap="square"/>
          <a:lstStyle/>
          <a:p>
            <a:pPr algn="l"/>
            <a:r>
              <a:rPr sz="1050" b="0" i="0">
                <a:solidFill>
                  <a:srgbClr val="3D4D44"/>
                </a:solidFill>
                <a:latin typeface="Calibri Light"/>
              </a:rPr>
              <a:t>Year-over-year % price change analysis</a:t>
            </a:r>
          </a:p>
        </p:txBody>
      </p:sp>
      <p:sp>
        <p:nvSpPr>
          <p:cNvPr id="66" name="Rectangle 65"/>
          <p:cNvSpPr/>
          <p:nvPr/>
        </p:nvSpPr>
        <p:spPr>
          <a:xfrm>
            <a:off x="9283446" y="3291840"/>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283446" y="3364992"/>
            <a:ext cx="2219706" cy="219456"/>
          </a:xfrm>
          <a:prstGeom prst="rect">
            <a:avLst/>
          </a:prstGeom>
          <a:noFill/>
        </p:spPr>
        <p:txBody>
          <a:bodyPr wrap="square"/>
          <a:lstStyle/>
          <a:p>
            <a:pPr algn="l"/>
            <a:r>
              <a:rPr sz="750" b="1" i="0">
                <a:solidFill>
                  <a:srgbClr val="8A9D92"/>
                </a:solidFill>
                <a:latin typeface="Calibri"/>
              </a:rPr>
              <a:t>METHOD B</a:t>
            </a:r>
          </a:p>
        </p:txBody>
      </p:sp>
      <p:sp>
        <p:nvSpPr>
          <p:cNvPr id="68" name="TextBox 67"/>
          <p:cNvSpPr txBox="1"/>
          <p:nvPr/>
        </p:nvSpPr>
        <p:spPr>
          <a:xfrm>
            <a:off x="9283446" y="3602736"/>
            <a:ext cx="2219706" cy="621792"/>
          </a:xfrm>
          <a:prstGeom prst="rect">
            <a:avLst/>
          </a:prstGeom>
          <a:noFill/>
        </p:spPr>
        <p:txBody>
          <a:bodyPr wrap="square"/>
          <a:lstStyle/>
          <a:p>
            <a:pPr algn="l"/>
            <a:r>
              <a:rPr sz="1050" b="0" i="0">
                <a:solidFill>
                  <a:srgbClr val="3D4D44"/>
                </a:solidFill>
                <a:latin typeface="Calibri Light"/>
              </a:rPr>
              <a:t>Coefficient of Variation (CV) ranking</a:t>
            </a:r>
          </a:p>
        </p:txBody>
      </p:sp>
      <p:sp>
        <p:nvSpPr>
          <p:cNvPr id="69" name="Rectangle 68"/>
          <p:cNvSpPr/>
          <p:nvPr/>
        </p:nvSpPr>
        <p:spPr>
          <a:xfrm>
            <a:off x="9283446" y="4261104"/>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283446" y="4334256"/>
            <a:ext cx="2219706" cy="219456"/>
          </a:xfrm>
          <a:prstGeom prst="rect">
            <a:avLst/>
          </a:prstGeom>
          <a:noFill/>
        </p:spPr>
        <p:txBody>
          <a:bodyPr wrap="square"/>
          <a:lstStyle/>
          <a:p>
            <a:pPr algn="l"/>
            <a:r>
              <a:rPr sz="750" b="1" i="0">
                <a:solidFill>
                  <a:srgbClr val="8A9D92"/>
                </a:solidFill>
                <a:latin typeface="Calibri"/>
              </a:rPr>
              <a:t>METHOD C</a:t>
            </a:r>
          </a:p>
        </p:txBody>
      </p:sp>
      <p:sp>
        <p:nvSpPr>
          <p:cNvPr id="71" name="TextBox 70"/>
          <p:cNvSpPr txBox="1"/>
          <p:nvPr/>
        </p:nvSpPr>
        <p:spPr>
          <a:xfrm>
            <a:off x="9283446" y="4572000"/>
            <a:ext cx="2219706" cy="621792"/>
          </a:xfrm>
          <a:prstGeom prst="rect">
            <a:avLst/>
          </a:prstGeom>
          <a:noFill/>
        </p:spPr>
        <p:txBody>
          <a:bodyPr wrap="square"/>
          <a:lstStyle/>
          <a:p>
            <a:pPr algn="l"/>
            <a:r>
              <a:rPr sz="1050" b="0" i="0">
                <a:solidFill>
                  <a:srgbClr val="3D4D44"/>
                </a:solidFill>
                <a:latin typeface="Calibri Light"/>
              </a:rPr>
              <a:t>Multi-commodity long-run trend chart</a:t>
            </a:r>
          </a:p>
        </p:txBody>
      </p:sp>
      <p:sp>
        <p:nvSpPr>
          <p:cNvPr id="72" name="Rectangle 71"/>
          <p:cNvSpPr/>
          <p:nvPr/>
        </p:nvSpPr>
        <p:spPr>
          <a:xfrm>
            <a:off x="9283446" y="5230368"/>
            <a:ext cx="2201418"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283446" y="5303520"/>
            <a:ext cx="2219706" cy="219456"/>
          </a:xfrm>
          <a:prstGeom prst="rect">
            <a:avLst/>
          </a:prstGeom>
          <a:noFill/>
        </p:spPr>
        <p:txBody>
          <a:bodyPr wrap="square"/>
          <a:lstStyle/>
          <a:p>
            <a:pPr algn="l"/>
            <a:r>
              <a:rPr sz="750" b="1" i="0">
                <a:solidFill>
                  <a:srgbClr val="8A9D92"/>
                </a:solidFill>
                <a:latin typeface="Calibri"/>
              </a:rPr>
              <a:t>METHOD D</a:t>
            </a:r>
          </a:p>
        </p:txBody>
      </p:sp>
      <p:sp>
        <p:nvSpPr>
          <p:cNvPr id="74" name="TextBox 73"/>
          <p:cNvSpPr txBox="1"/>
          <p:nvPr/>
        </p:nvSpPr>
        <p:spPr>
          <a:xfrm>
            <a:off x="9283446" y="5541264"/>
            <a:ext cx="2219706" cy="621792"/>
          </a:xfrm>
          <a:prstGeom prst="rect">
            <a:avLst/>
          </a:prstGeom>
          <a:noFill/>
        </p:spPr>
        <p:txBody>
          <a:bodyPr wrap="square"/>
          <a:lstStyle/>
          <a:p>
            <a:pPr algn="l"/>
            <a:r>
              <a:rPr sz="1050" b="0" i="0">
                <a:solidFill>
                  <a:srgbClr val="3D4D44"/>
                </a:solidFill>
                <a:latin typeface="Calibri Light"/>
              </a:rPr>
              <a:t>Regional mean price comparison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05  |  CLASSIFICATION — MODEL DESIGN</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Random Forest Price Level Classifier</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8 / 16</a:t>
            </a:r>
          </a:p>
        </p:txBody>
      </p:sp>
      <p:sp>
        <p:nvSpPr>
          <p:cNvPr id="10" name="TextBox 9"/>
          <p:cNvSpPr txBox="1"/>
          <p:nvPr/>
        </p:nvSpPr>
        <p:spPr>
          <a:xfrm>
            <a:off x="594360" y="987552"/>
            <a:ext cx="5317236" cy="292608"/>
          </a:xfrm>
          <a:prstGeom prst="rect">
            <a:avLst/>
          </a:prstGeom>
          <a:noFill/>
        </p:spPr>
        <p:txBody>
          <a:bodyPr wrap="square"/>
          <a:lstStyle/>
          <a:p>
            <a:pPr algn="l"/>
            <a:r>
              <a:rPr sz="1300" b="1" i="0">
                <a:solidFill>
                  <a:srgbClr val="1B4D3E"/>
                </a:solidFill>
                <a:latin typeface="Calibri"/>
              </a:rPr>
              <a:t>Model Configuration</a:t>
            </a:r>
          </a:p>
        </p:txBody>
      </p:sp>
      <p:sp>
        <p:nvSpPr>
          <p:cNvPr id="11" name="Rectangle 10"/>
          <p:cNvSpPr/>
          <p:nvPr/>
        </p:nvSpPr>
        <p:spPr>
          <a:xfrm>
            <a:off x="594360"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444752"/>
            <a:ext cx="1920240" cy="402336"/>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1499616"/>
            <a:ext cx="1737360" cy="310896"/>
          </a:xfrm>
          <a:prstGeom prst="rect">
            <a:avLst/>
          </a:prstGeom>
          <a:noFill/>
        </p:spPr>
        <p:txBody>
          <a:bodyPr wrap="square"/>
          <a:lstStyle/>
          <a:p>
            <a:pPr algn="l"/>
            <a:r>
              <a:rPr sz="950" b="1" i="0">
                <a:solidFill>
                  <a:srgbClr val="1B4D3E"/>
                </a:solidFill>
                <a:latin typeface="Calibri"/>
              </a:rPr>
              <a:t>Algorithm</a:t>
            </a:r>
          </a:p>
        </p:txBody>
      </p:sp>
      <p:sp>
        <p:nvSpPr>
          <p:cNvPr id="14" name="TextBox 13"/>
          <p:cNvSpPr txBox="1"/>
          <p:nvPr/>
        </p:nvSpPr>
        <p:spPr>
          <a:xfrm>
            <a:off x="2624328" y="1499616"/>
            <a:ext cx="3195827" cy="347472"/>
          </a:xfrm>
          <a:prstGeom prst="rect">
            <a:avLst/>
          </a:prstGeom>
          <a:noFill/>
        </p:spPr>
        <p:txBody>
          <a:bodyPr wrap="square"/>
          <a:lstStyle/>
          <a:p>
            <a:pPr algn="l"/>
            <a:r>
              <a:rPr sz="1000" b="0" i="0">
                <a:solidFill>
                  <a:srgbClr val="3D4D44"/>
                </a:solidFill>
                <a:latin typeface="Calibri Light"/>
              </a:rPr>
              <a:t>Random Forest Classifier (scikit-learn)</a:t>
            </a:r>
          </a:p>
        </p:txBody>
      </p:sp>
      <p:sp>
        <p:nvSpPr>
          <p:cNvPr id="15" name="Rectangle 14"/>
          <p:cNvSpPr/>
          <p:nvPr/>
        </p:nvSpPr>
        <p:spPr>
          <a:xfrm>
            <a:off x="594360" y="186537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956816"/>
            <a:ext cx="1920240" cy="402336"/>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 y="2011680"/>
            <a:ext cx="1737360" cy="310896"/>
          </a:xfrm>
          <a:prstGeom prst="rect">
            <a:avLst/>
          </a:prstGeom>
          <a:noFill/>
        </p:spPr>
        <p:txBody>
          <a:bodyPr wrap="square"/>
          <a:lstStyle/>
          <a:p>
            <a:pPr algn="l"/>
            <a:r>
              <a:rPr sz="950" b="1" i="0">
                <a:solidFill>
                  <a:srgbClr val="1B4D3E"/>
                </a:solidFill>
                <a:latin typeface="Calibri"/>
              </a:rPr>
              <a:t>Number of trees</a:t>
            </a:r>
          </a:p>
        </p:txBody>
      </p:sp>
      <p:sp>
        <p:nvSpPr>
          <p:cNvPr id="18" name="TextBox 17"/>
          <p:cNvSpPr txBox="1"/>
          <p:nvPr/>
        </p:nvSpPr>
        <p:spPr>
          <a:xfrm>
            <a:off x="2624328" y="2011680"/>
            <a:ext cx="3195827" cy="347472"/>
          </a:xfrm>
          <a:prstGeom prst="rect">
            <a:avLst/>
          </a:prstGeom>
          <a:noFill/>
        </p:spPr>
        <p:txBody>
          <a:bodyPr wrap="square"/>
          <a:lstStyle/>
          <a:p>
            <a:pPr algn="l"/>
            <a:r>
              <a:rPr sz="1000" b="0" i="0">
                <a:solidFill>
                  <a:srgbClr val="3D4D44"/>
                </a:solidFill>
                <a:latin typeface="Calibri Light"/>
              </a:rPr>
              <a:t>100 decision trees (n_estimators = 100)</a:t>
            </a:r>
          </a:p>
        </p:txBody>
      </p:sp>
      <p:sp>
        <p:nvSpPr>
          <p:cNvPr id="19" name="Rectangle 18"/>
          <p:cNvSpPr/>
          <p:nvPr/>
        </p:nvSpPr>
        <p:spPr>
          <a:xfrm>
            <a:off x="594360" y="237744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4360" y="2468880"/>
            <a:ext cx="1920240" cy="402336"/>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523744"/>
            <a:ext cx="1737360" cy="310896"/>
          </a:xfrm>
          <a:prstGeom prst="rect">
            <a:avLst/>
          </a:prstGeom>
          <a:noFill/>
        </p:spPr>
        <p:txBody>
          <a:bodyPr wrap="square"/>
          <a:lstStyle/>
          <a:p>
            <a:pPr algn="l"/>
            <a:r>
              <a:rPr sz="950" b="1" i="0">
                <a:solidFill>
                  <a:srgbClr val="1B4D3E"/>
                </a:solidFill>
                <a:latin typeface="Calibri"/>
              </a:rPr>
              <a:t>Max tree depth</a:t>
            </a:r>
          </a:p>
        </p:txBody>
      </p:sp>
      <p:sp>
        <p:nvSpPr>
          <p:cNvPr id="22" name="TextBox 21"/>
          <p:cNvSpPr txBox="1"/>
          <p:nvPr/>
        </p:nvSpPr>
        <p:spPr>
          <a:xfrm>
            <a:off x="2624328" y="2523744"/>
            <a:ext cx="3195827" cy="347472"/>
          </a:xfrm>
          <a:prstGeom prst="rect">
            <a:avLst/>
          </a:prstGeom>
          <a:noFill/>
        </p:spPr>
        <p:txBody>
          <a:bodyPr wrap="square"/>
          <a:lstStyle/>
          <a:p>
            <a:pPr algn="l"/>
            <a:r>
              <a:rPr sz="1000" b="0" i="0">
                <a:solidFill>
                  <a:srgbClr val="3D4D44"/>
                </a:solidFill>
                <a:latin typeface="Calibri Light"/>
              </a:rPr>
              <a:t>12 levels (max_depth = 12)</a:t>
            </a:r>
          </a:p>
        </p:txBody>
      </p:sp>
      <p:sp>
        <p:nvSpPr>
          <p:cNvPr id="23" name="Rectangle 22"/>
          <p:cNvSpPr/>
          <p:nvPr/>
        </p:nvSpPr>
        <p:spPr>
          <a:xfrm>
            <a:off x="594360" y="288950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2980944"/>
            <a:ext cx="1920240" cy="402336"/>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6" y="3035808"/>
            <a:ext cx="1737360" cy="310896"/>
          </a:xfrm>
          <a:prstGeom prst="rect">
            <a:avLst/>
          </a:prstGeom>
          <a:noFill/>
        </p:spPr>
        <p:txBody>
          <a:bodyPr wrap="square"/>
          <a:lstStyle/>
          <a:p>
            <a:pPr algn="l"/>
            <a:r>
              <a:rPr sz="950" b="1" i="0">
                <a:solidFill>
                  <a:srgbClr val="1B4D3E"/>
                </a:solidFill>
                <a:latin typeface="Calibri"/>
              </a:rPr>
              <a:t>Split criterion</a:t>
            </a:r>
          </a:p>
        </p:txBody>
      </p:sp>
      <p:sp>
        <p:nvSpPr>
          <p:cNvPr id="26" name="TextBox 25"/>
          <p:cNvSpPr txBox="1"/>
          <p:nvPr/>
        </p:nvSpPr>
        <p:spPr>
          <a:xfrm>
            <a:off x="2624328" y="3035808"/>
            <a:ext cx="3195827" cy="347472"/>
          </a:xfrm>
          <a:prstGeom prst="rect">
            <a:avLst/>
          </a:prstGeom>
          <a:noFill/>
        </p:spPr>
        <p:txBody>
          <a:bodyPr wrap="square"/>
          <a:lstStyle/>
          <a:p>
            <a:pPr algn="l"/>
            <a:r>
              <a:rPr sz="1000" b="0" i="0">
                <a:solidFill>
                  <a:srgbClr val="3D4D44"/>
                </a:solidFill>
                <a:latin typeface="Calibri Light"/>
              </a:rPr>
              <a:t>Gini impurity</a:t>
            </a:r>
          </a:p>
        </p:txBody>
      </p:sp>
      <p:sp>
        <p:nvSpPr>
          <p:cNvPr id="27" name="Rectangle 26"/>
          <p:cNvSpPr/>
          <p:nvPr/>
        </p:nvSpPr>
        <p:spPr>
          <a:xfrm>
            <a:off x="594360" y="3401568"/>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94360" y="3493008"/>
            <a:ext cx="1920240" cy="402336"/>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2376" y="3547872"/>
            <a:ext cx="1737360" cy="310896"/>
          </a:xfrm>
          <a:prstGeom prst="rect">
            <a:avLst/>
          </a:prstGeom>
          <a:noFill/>
        </p:spPr>
        <p:txBody>
          <a:bodyPr wrap="square"/>
          <a:lstStyle/>
          <a:p>
            <a:pPr algn="l"/>
            <a:r>
              <a:rPr sz="950" b="1" i="0">
                <a:solidFill>
                  <a:srgbClr val="1B4D3E"/>
                </a:solidFill>
                <a:latin typeface="Calibri"/>
              </a:rPr>
              <a:t>Train / test</a:t>
            </a:r>
          </a:p>
        </p:txBody>
      </p:sp>
      <p:sp>
        <p:nvSpPr>
          <p:cNvPr id="30" name="TextBox 29"/>
          <p:cNvSpPr txBox="1"/>
          <p:nvPr/>
        </p:nvSpPr>
        <p:spPr>
          <a:xfrm>
            <a:off x="2624328" y="3547872"/>
            <a:ext cx="3195827" cy="347472"/>
          </a:xfrm>
          <a:prstGeom prst="rect">
            <a:avLst/>
          </a:prstGeom>
          <a:noFill/>
        </p:spPr>
        <p:txBody>
          <a:bodyPr wrap="square"/>
          <a:lstStyle/>
          <a:p>
            <a:pPr algn="l"/>
            <a:r>
              <a:rPr sz="1000" b="0" i="0">
                <a:solidFill>
                  <a:srgbClr val="3D4D44"/>
                </a:solidFill>
                <a:latin typeface="Calibri Light"/>
              </a:rPr>
              <a:t>80% train — 20% test (stratified shuffle split)</a:t>
            </a:r>
          </a:p>
        </p:txBody>
      </p:sp>
      <p:sp>
        <p:nvSpPr>
          <p:cNvPr id="31" name="Rectangle 30"/>
          <p:cNvSpPr/>
          <p:nvPr/>
        </p:nvSpPr>
        <p:spPr>
          <a:xfrm>
            <a:off x="594360" y="391363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 y="4005072"/>
            <a:ext cx="1920240" cy="402336"/>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 y="4059936"/>
            <a:ext cx="1737360" cy="310896"/>
          </a:xfrm>
          <a:prstGeom prst="rect">
            <a:avLst/>
          </a:prstGeom>
          <a:noFill/>
        </p:spPr>
        <p:txBody>
          <a:bodyPr wrap="square"/>
          <a:lstStyle/>
          <a:p>
            <a:pPr algn="l"/>
            <a:r>
              <a:rPr sz="950" b="1" i="0">
                <a:solidFill>
                  <a:srgbClr val="1B4D3E"/>
                </a:solidFill>
                <a:latin typeface="Calibri"/>
              </a:rPr>
              <a:t>Random state</a:t>
            </a:r>
          </a:p>
        </p:txBody>
      </p:sp>
      <p:sp>
        <p:nvSpPr>
          <p:cNvPr id="34" name="TextBox 33"/>
          <p:cNvSpPr txBox="1"/>
          <p:nvPr/>
        </p:nvSpPr>
        <p:spPr>
          <a:xfrm>
            <a:off x="2624328" y="4059936"/>
            <a:ext cx="3195827" cy="347472"/>
          </a:xfrm>
          <a:prstGeom prst="rect">
            <a:avLst/>
          </a:prstGeom>
          <a:noFill/>
        </p:spPr>
        <p:txBody>
          <a:bodyPr wrap="square"/>
          <a:lstStyle/>
          <a:p>
            <a:pPr algn="l"/>
            <a:r>
              <a:rPr sz="1000" b="0" i="0">
                <a:solidFill>
                  <a:srgbClr val="3D4D44"/>
                </a:solidFill>
                <a:latin typeface="Calibri Light"/>
              </a:rPr>
              <a:t>42 (reproducibility)</a:t>
            </a:r>
          </a:p>
        </p:txBody>
      </p:sp>
      <p:sp>
        <p:nvSpPr>
          <p:cNvPr id="35" name="Rectangle 34"/>
          <p:cNvSpPr/>
          <p:nvPr/>
        </p:nvSpPr>
        <p:spPr>
          <a:xfrm>
            <a:off x="594360" y="442569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4553712"/>
            <a:ext cx="5317236" cy="292608"/>
          </a:xfrm>
          <a:prstGeom prst="rect">
            <a:avLst/>
          </a:prstGeom>
          <a:noFill/>
        </p:spPr>
        <p:txBody>
          <a:bodyPr wrap="square"/>
          <a:lstStyle/>
          <a:p>
            <a:pPr algn="l"/>
            <a:r>
              <a:rPr sz="1300" b="1" i="0">
                <a:solidFill>
                  <a:srgbClr val="1B4D3E"/>
                </a:solidFill>
                <a:latin typeface="Calibri"/>
              </a:rPr>
              <a:t>Labelling Strategy</a:t>
            </a:r>
          </a:p>
        </p:txBody>
      </p:sp>
      <p:sp>
        <p:nvSpPr>
          <p:cNvPr id="37" name="Rectangle 36"/>
          <p:cNvSpPr/>
          <p:nvPr/>
        </p:nvSpPr>
        <p:spPr>
          <a:xfrm>
            <a:off x="594360" y="488289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5010912"/>
            <a:ext cx="5317236" cy="2103120"/>
          </a:xfrm>
          <a:prstGeom prst="rect">
            <a:avLst/>
          </a:prstGeom>
          <a:noFill/>
        </p:spPr>
        <p:txBody>
          <a:bodyPr wrap="square"/>
          <a:lstStyle/>
          <a:p>
            <a:pPr algn="l"/>
            <a:r>
              <a:rPr sz="1000" b="0" i="0" dirty="0">
                <a:solidFill>
                  <a:srgbClr val="3D4D44"/>
                </a:solidFill>
                <a:latin typeface="Calibri Light"/>
              </a:rPr>
              <a:t>Each price observation is labelled relative to the distribution of that specific commodity. The 33rd and 66th percentiles of price, computed per commodity across all records, define the boundaries:
   LOW      — price below the 33rd percentile for that commodity
   MEDIUM  — price between 33rd and 66th percentile
   HIGH     — price above the 66th percentile
This relative labelling prevents commodities with inherently high prices (e.g. fish) from dominating the High class and ensures a balanced class distribution across all categories.</a:t>
            </a:r>
          </a:p>
        </p:txBody>
      </p:sp>
      <p:sp>
        <p:nvSpPr>
          <p:cNvPr id="39" name="TextBox 38"/>
          <p:cNvSpPr txBox="1"/>
          <p:nvPr/>
        </p:nvSpPr>
        <p:spPr>
          <a:xfrm>
            <a:off x="6277356" y="987552"/>
            <a:ext cx="5317236" cy="292608"/>
          </a:xfrm>
          <a:prstGeom prst="rect">
            <a:avLst/>
          </a:prstGeom>
          <a:noFill/>
        </p:spPr>
        <p:txBody>
          <a:bodyPr wrap="square"/>
          <a:lstStyle/>
          <a:p>
            <a:pPr algn="l"/>
            <a:r>
              <a:rPr sz="1300" b="1" i="0">
                <a:solidFill>
                  <a:srgbClr val="1B4D3E"/>
                </a:solidFill>
                <a:latin typeface="Calibri"/>
              </a:rPr>
              <a:t>Input Features</a:t>
            </a:r>
          </a:p>
        </p:txBody>
      </p:sp>
      <p:sp>
        <p:nvSpPr>
          <p:cNvPr id="40" name="Rectangle 39"/>
          <p:cNvSpPr/>
          <p:nvPr/>
        </p:nvSpPr>
        <p:spPr>
          <a:xfrm>
            <a:off x="6277356"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77356" y="1444752"/>
            <a:ext cx="1417320" cy="43891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5372" y="1517904"/>
            <a:ext cx="1234440" cy="310896"/>
          </a:xfrm>
          <a:prstGeom prst="rect">
            <a:avLst/>
          </a:prstGeom>
          <a:noFill/>
        </p:spPr>
        <p:txBody>
          <a:bodyPr wrap="square"/>
          <a:lstStyle/>
          <a:p>
            <a:pPr algn="l"/>
            <a:r>
              <a:rPr sz="1000" b="1" i="0">
                <a:solidFill>
                  <a:srgbClr val="C98B00"/>
                </a:solidFill>
                <a:latin typeface="Calibri"/>
              </a:rPr>
              <a:t>commodity</a:t>
            </a:r>
          </a:p>
        </p:txBody>
      </p:sp>
      <p:sp>
        <p:nvSpPr>
          <p:cNvPr id="43" name="TextBox 42"/>
          <p:cNvSpPr txBox="1"/>
          <p:nvPr/>
        </p:nvSpPr>
        <p:spPr>
          <a:xfrm>
            <a:off x="7813548" y="1517904"/>
            <a:ext cx="3689603" cy="347472"/>
          </a:xfrm>
          <a:prstGeom prst="rect">
            <a:avLst/>
          </a:prstGeom>
          <a:noFill/>
        </p:spPr>
        <p:txBody>
          <a:bodyPr wrap="square"/>
          <a:lstStyle/>
          <a:p>
            <a:pPr algn="l"/>
            <a:r>
              <a:rPr sz="1000" b="0" i="0">
                <a:solidFill>
                  <a:srgbClr val="3D4D44"/>
                </a:solidFill>
                <a:latin typeface="Calibri Light"/>
              </a:rPr>
              <a:t>Encoded food item — single most important feature</a:t>
            </a:r>
          </a:p>
        </p:txBody>
      </p:sp>
      <p:sp>
        <p:nvSpPr>
          <p:cNvPr id="44" name="Rectangle 43"/>
          <p:cNvSpPr/>
          <p:nvPr/>
        </p:nvSpPr>
        <p:spPr>
          <a:xfrm>
            <a:off x="6277356" y="190195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77356" y="1993392"/>
            <a:ext cx="1417320" cy="43891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5372" y="2066544"/>
            <a:ext cx="1234440" cy="310896"/>
          </a:xfrm>
          <a:prstGeom prst="rect">
            <a:avLst/>
          </a:prstGeom>
          <a:noFill/>
        </p:spPr>
        <p:txBody>
          <a:bodyPr wrap="square"/>
          <a:lstStyle/>
          <a:p>
            <a:pPr algn="l"/>
            <a:r>
              <a:rPr sz="1000" b="1" i="0">
                <a:solidFill>
                  <a:srgbClr val="C98B00"/>
                </a:solidFill>
                <a:latin typeface="Calibri"/>
              </a:rPr>
              <a:t>admin1</a:t>
            </a:r>
          </a:p>
        </p:txBody>
      </p:sp>
      <p:sp>
        <p:nvSpPr>
          <p:cNvPr id="47" name="TextBox 46"/>
          <p:cNvSpPr txBox="1"/>
          <p:nvPr/>
        </p:nvSpPr>
        <p:spPr>
          <a:xfrm>
            <a:off x="7813548" y="2066544"/>
            <a:ext cx="3689603" cy="347472"/>
          </a:xfrm>
          <a:prstGeom prst="rect">
            <a:avLst/>
          </a:prstGeom>
          <a:noFill/>
        </p:spPr>
        <p:txBody>
          <a:bodyPr wrap="square"/>
          <a:lstStyle/>
          <a:p>
            <a:pPr algn="l"/>
            <a:r>
              <a:rPr sz="1000" b="0" i="0">
                <a:solidFill>
                  <a:srgbClr val="3D4D44"/>
                </a:solidFill>
                <a:latin typeface="Calibri Light"/>
              </a:rPr>
              <a:t>Encoded administrative region (9 categories)</a:t>
            </a:r>
          </a:p>
        </p:txBody>
      </p:sp>
      <p:sp>
        <p:nvSpPr>
          <p:cNvPr id="48" name="Rectangle 47"/>
          <p:cNvSpPr/>
          <p:nvPr/>
        </p:nvSpPr>
        <p:spPr>
          <a:xfrm>
            <a:off x="6277356" y="245059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77356" y="2542032"/>
            <a:ext cx="1417320" cy="43891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5372" y="2615184"/>
            <a:ext cx="1234440" cy="310896"/>
          </a:xfrm>
          <a:prstGeom prst="rect">
            <a:avLst/>
          </a:prstGeom>
          <a:noFill/>
        </p:spPr>
        <p:txBody>
          <a:bodyPr wrap="square"/>
          <a:lstStyle/>
          <a:p>
            <a:pPr algn="l"/>
            <a:r>
              <a:rPr sz="1000" b="1" i="0">
                <a:solidFill>
                  <a:srgbClr val="C98B00"/>
                </a:solidFill>
                <a:latin typeface="Calibri"/>
              </a:rPr>
              <a:t>category</a:t>
            </a:r>
          </a:p>
        </p:txBody>
      </p:sp>
      <p:sp>
        <p:nvSpPr>
          <p:cNvPr id="51" name="TextBox 50"/>
          <p:cNvSpPr txBox="1"/>
          <p:nvPr/>
        </p:nvSpPr>
        <p:spPr>
          <a:xfrm>
            <a:off x="7813548" y="2615184"/>
            <a:ext cx="3689603" cy="347472"/>
          </a:xfrm>
          <a:prstGeom prst="rect">
            <a:avLst/>
          </a:prstGeom>
          <a:noFill/>
        </p:spPr>
        <p:txBody>
          <a:bodyPr wrap="square"/>
          <a:lstStyle/>
          <a:p>
            <a:pPr algn="l"/>
            <a:r>
              <a:rPr sz="1000" b="0" i="0">
                <a:solidFill>
                  <a:srgbClr val="3D4D44"/>
                </a:solidFill>
                <a:latin typeface="Calibri Light"/>
              </a:rPr>
              <a:t>Encoded food group (cereals, oils, protein...)</a:t>
            </a:r>
          </a:p>
        </p:txBody>
      </p:sp>
      <p:sp>
        <p:nvSpPr>
          <p:cNvPr id="52" name="Rectangle 51"/>
          <p:cNvSpPr/>
          <p:nvPr/>
        </p:nvSpPr>
        <p:spPr>
          <a:xfrm>
            <a:off x="6277356" y="299923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277356" y="3090672"/>
            <a:ext cx="1417320" cy="43891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5372" y="3163824"/>
            <a:ext cx="1234440" cy="310896"/>
          </a:xfrm>
          <a:prstGeom prst="rect">
            <a:avLst/>
          </a:prstGeom>
          <a:noFill/>
        </p:spPr>
        <p:txBody>
          <a:bodyPr wrap="square"/>
          <a:lstStyle/>
          <a:p>
            <a:pPr algn="l"/>
            <a:r>
              <a:rPr sz="1000" b="1" i="0">
                <a:solidFill>
                  <a:srgbClr val="C98B00"/>
                </a:solidFill>
                <a:latin typeface="Calibri"/>
              </a:rPr>
              <a:t>year</a:t>
            </a:r>
          </a:p>
        </p:txBody>
      </p:sp>
      <p:sp>
        <p:nvSpPr>
          <p:cNvPr id="55" name="TextBox 54"/>
          <p:cNvSpPr txBox="1"/>
          <p:nvPr/>
        </p:nvSpPr>
        <p:spPr>
          <a:xfrm>
            <a:off x="7813548" y="3163824"/>
            <a:ext cx="3689603" cy="347472"/>
          </a:xfrm>
          <a:prstGeom prst="rect">
            <a:avLst/>
          </a:prstGeom>
          <a:noFill/>
        </p:spPr>
        <p:txBody>
          <a:bodyPr wrap="square"/>
          <a:lstStyle/>
          <a:p>
            <a:pPr algn="l"/>
            <a:r>
              <a:rPr sz="1000" b="0" i="0">
                <a:solidFill>
                  <a:srgbClr val="3D4D44"/>
                </a:solidFill>
                <a:latin typeface="Calibri Light"/>
              </a:rPr>
              <a:t>Integer year of observation</a:t>
            </a:r>
          </a:p>
        </p:txBody>
      </p:sp>
      <p:sp>
        <p:nvSpPr>
          <p:cNvPr id="56" name="Rectangle 55"/>
          <p:cNvSpPr/>
          <p:nvPr/>
        </p:nvSpPr>
        <p:spPr>
          <a:xfrm>
            <a:off x="6277356" y="354787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277356" y="3639312"/>
            <a:ext cx="1417320" cy="43891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5372" y="3712463"/>
            <a:ext cx="1234440" cy="310896"/>
          </a:xfrm>
          <a:prstGeom prst="rect">
            <a:avLst/>
          </a:prstGeom>
          <a:noFill/>
        </p:spPr>
        <p:txBody>
          <a:bodyPr wrap="square"/>
          <a:lstStyle/>
          <a:p>
            <a:pPr algn="l"/>
            <a:r>
              <a:rPr sz="1000" b="1" i="0">
                <a:solidFill>
                  <a:srgbClr val="C98B00"/>
                </a:solidFill>
                <a:latin typeface="Calibri"/>
              </a:rPr>
              <a:t>month</a:t>
            </a:r>
          </a:p>
        </p:txBody>
      </p:sp>
      <p:sp>
        <p:nvSpPr>
          <p:cNvPr id="59" name="TextBox 58"/>
          <p:cNvSpPr txBox="1"/>
          <p:nvPr/>
        </p:nvSpPr>
        <p:spPr>
          <a:xfrm>
            <a:off x="7813548" y="3712463"/>
            <a:ext cx="3689603" cy="347472"/>
          </a:xfrm>
          <a:prstGeom prst="rect">
            <a:avLst/>
          </a:prstGeom>
          <a:noFill/>
        </p:spPr>
        <p:txBody>
          <a:bodyPr wrap="square"/>
          <a:lstStyle/>
          <a:p>
            <a:pPr algn="l"/>
            <a:r>
              <a:rPr sz="1000" b="0" i="0">
                <a:solidFill>
                  <a:srgbClr val="3D4D44"/>
                </a:solidFill>
                <a:latin typeface="Calibri Light"/>
              </a:rPr>
              <a:t>Calendar month (1–12)</a:t>
            </a:r>
          </a:p>
        </p:txBody>
      </p:sp>
      <p:sp>
        <p:nvSpPr>
          <p:cNvPr id="60" name="Rectangle 59"/>
          <p:cNvSpPr/>
          <p:nvPr/>
        </p:nvSpPr>
        <p:spPr>
          <a:xfrm>
            <a:off x="6277356" y="409651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277356" y="4389120"/>
            <a:ext cx="5317236" cy="292608"/>
          </a:xfrm>
          <a:prstGeom prst="rect">
            <a:avLst/>
          </a:prstGeom>
          <a:noFill/>
        </p:spPr>
        <p:txBody>
          <a:bodyPr wrap="square"/>
          <a:lstStyle/>
          <a:p>
            <a:pPr algn="l"/>
            <a:r>
              <a:rPr sz="1200" b="1" i="0">
                <a:solidFill>
                  <a:srgbClr val="1B4D3E"/>
                </a:solidFill>
                <a:latin typeface="Calibri"/>
              </a:rPr>
              <a:t>Feature Importance Chart</a:t>
            </a:r>
          </a:p>
        </p:txBody>
      </p:sp>
      <p:pic>
        <p:nvPicPr>
          <p:cNvPr id="62" name="Picture 61" descr="fig2c_feature_importance.png"/>
          <p:cNvPicPr>
            <a:picLocks noChangeAspect="1"/>
          </p:cNvPicPr>
          <p:nvPr/>
        </p:nvPicPr>
        <p:blipFill>
          <a:blip r:embed="rId2"/>
          <a:stretch>
            <a:fillRect/>
          </a:stretch>
        </p:blipFill>
        <p:spPr>
          <a:xfrm>
            <a:off x="6486234" y="4679900"/>
            <a:ext cx="5203742" cy="181999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944090"/>
            <a:ext cx="11770550" cy="913909"/>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05  |  CLASSIFICATION — RESULTS</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69.2% Accuracy — Performance and Interpretation</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9 / 16</a:t>
            </a:r>
          </a:p>
        </p:txBody>
      </p:sp>
      <p:sp>
        <p:nvSpPr>
          <p:cNvPr id="10" name="Rectangle 9"/>
          <p:cNvSpPr/>
          <p:nvPr/>
        </p:nvSpPr>
        <p:spPr>
          <a:xfrm>
            <a:off x="594360" y="987552"/>
            <a:ext cx="2017166" cy="100584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987552"/>
            <a:ext cx="201716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078992"/>
            <a:ext cx="2017166" cy="523036"/>
          </a:xfrm>
          <a:prstGeom prst="rect">
            <a:avLst/>
          </a:prstGeom>
          <a:noFill/>
        </p:spPr>
        <p:txBody>
          <a:bodyPr wrap="square"/>
          <a:lstStyle/>
          <a:p>
            <a:pPr algn="ctr"/>
            <a:r>
              <a:rPr sz="2800" b="1" i="0">
                <a:solidFill>
                  <a:srgbClr val="C98B00"/>
                </a:solidFill>
                <a:latin typeface="Calibri"/>
              </a:rPr>
              <a:t>69.2 %</a:t>
            </a:r>
          </a:p>
        </p:txBody>
      </p:sp>
      <p:sp>
        <p:nvSpPr>
          <p:cNvPr id="13" name="TextBox 12"/>
          <p:cNvSpPr txBox="1"/>
          <p:nvPr/>
        </p:nvSpPr>
        <p:spPr>
          <a:xfrm>
            <a:off x="594360" y="1560880"/>
            <a:ext cx="2017166" cy="422452"/>
          </a:xfrm>
          <a:prstGeom prst="rect">
            <a:avLst/>
          </a:prstGeom>
          <a:noFill/>
        </p:spPr>
        <p:txBody>
          <a:bodyPr wrap="square"/>
          <a:lstStyle/>
          <a:p>
            <a:pPr algn="ctr"/>
            <a:r>
              <a:rPr sz="900" b="0" i="0">
                <a:solidFill>
                  <a:srgbClr val="52B788"/>
                </a:solidFill>
                <a:latin typeface="Calibri Light"/>
              </a:rPr>
              <a:t>Overall Accuracy</a:t>
            </a:r>
          </a:p>
        </p:txBody>
      </p:sp>
      <p:sp>
        <p:nvSpPr>
          <p:cNvPr id="14" name="Rectangle 13"/>
          <p:cNvSpPr/>
          <p:nvPr/>
        </p:nvSpPr>
        <p:spPr>
          <a:xfrm>
            <a:off x="2840126" y="987552"/>
            <a:ext cx="2017166" cy="100584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40126" y="987552"/>
            <a:ext cx="201716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40126" y="1078992"/>
            <a:ext cx="2017166" cy="523036"/>
          </a:xfrm>
          <a:prstGeom prst="rect">
            <a:avLst/>
          </a:prstGeom>
          <a:noFill/>
        </p:spPr>
        <p:txBody>
          <a:bodyPr wrap="square"/>
          <a:lstStyle/>
          <a:p>
            <a:pPr algn="ctr"/>
            <a:r>
              <a:rPr sz="2800" b="1" i="0">
                <a:solidFill>
                  <a:srgbClr val="52B788"/>
                </a:solidFill>
                <a:latin typeface="Calibri"/>
              </a:rPr>
              <a:t>0.69</a:t>
            </a:r>
          </a:p>
        </p:txBody>
      </p:sp>
      <p:sp>
        <p:nvSpPr>
          <p:cNvPr id="17" name="TextBox 16"/>
          <p:cNvSpPr txBox="1"/>
          <p:nvPr/>
        </p:nvSpPr>
        <p:spPr>
          <a:xfrm>
            <a:off x="2840126" y="1560880"/>
            <a:ext cx="2017166" cy="422452"/>
          </a:xfrm>
          <a:prstGeom prst="rect">
            <a:avLst/>
          </a:prstGeom>
          <a:noFill/>
        </p:spPr>
        <p:txBody>
          <a:bodyPr wrap="square"/>
          <a:lstStyle/>
          <a:p>
            <a:pPr algn="ctr"/>
            <a:r>
              <a:rPr sz="900" b="0" i="0">
                <a:solidFill>
                  <a:srgbClr val="52B788"/>
                </a:solidFill>
                <a:latin typeface="Calibri Light"/>
              </a:rPr>
              <a:t>Macro F1-Score</a:t>
            </a:r>
          </a:p>
        </p:txBody>
      </p:sp>
      <p:sp>
        <p:nvSpPr>
          <p:cNvPr id="18" name="Rectangle 17"/>
          <p:cNvSpPr/>
          <p:nvPr/>
        </p:nvSpPr>
        <p:spPr>
          <a:xfrm>
            <a:off x="5085892" y="987552"/>
            <a:ext cx="2017166" cy="1005840"/>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85892" y="987552"/>
            <a:ext cx="201716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85892" y="1078992"/>
            <a:ext cx="2017166" cy="523036"/>
          </a:xfrm>
          <a:prstGeom prst="rect">
            <a:avLst/>
          </a:prstGeom>
          <a:noFill/>
        </p:spPr>
        <p:txBody>
          <a:bodyPr wrap="square"/>
          <a:lstStyle/>
          <a:p>
            <a:pPr algn="ctr"/>
            <a:r>
              <a:rPr sz="2800" b="1" i="0">
                <a:solidFill>
                  <a:srgbClr val="E8A820"/>
                </a:solidFill>
                <a:latin typeface="Calibri"/>
              </a:rPr>
              <a:t>0.70</a:t>
            </a:r>
          </a:p>
        </p:txBody>
      </p:sp>
      <p:sp>
        <p:nvSpPr>
          <p:cNvPr id="21" name="TextBox 20"/>
          <p:cNvSpPr txBox="1"/>
          <p:nvPr/>
        </p:nvSpPr>
        <p:spPr>
          <a:xfrm>
            <a:off x="5085892" y="1560880"/>
            <a:ext cx="2017166" cy="422452"/>
          </a:xfrm>
          <a:prstGeom prst="rect">
            <a:avLst/>
          </a:prstGeom>
          <a:noFill/>
        </p:spPr>
        <p:txBody>
          <a:bodyPr wrap="square"/>
          <a:lstStyle/>
          <a:p>
            <a:pPr algn="ctr"/>
            <a:r>
              <a:rPr sz="900" b="0" i="0">
                <a:solidFill>
                  <a:srgbClr val="52B788"/>
                </a:solidFill>
                <a:latin typeface="Calibri Light"/>
              </a:rPr>
              <a:t>F1 — Low class</a:t>
            </a:r>
          </a:p>
        </p:txBody>
      </p:sp>
      <p:sp>
        <p:nvSpPr>
          <p:cNvPr id="22" name="Rectangle 21"/>
          <p:cNvSpPr/>
          <p:nvPr/>
        </p:nvSpPr>
        <p:spPr>
          <a:xfrm>
            <a:off x="7331659" y="987552"/>
            <a:ext cx="2017166" cy="1005840"/>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31659" y="987552"/>
            <a:ext cx="201716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31659" y="1078992"/>
            <a:ext cx="2017166" cy="523036"/>
          </a:xfrm>
          <a:prstGeom prst="rect">
            <a:avLst/>
          </a:prstGeom>
          <a:noFill/>
        </p:spPr>
        <p:txBody>
          <a:bodyPr wrap="square"/>
          <a:lstStyle/>
          <a:p>
            <a:pPr algn="ctr"/>
            <a:r>
              <a:rPr sz="2800" b="1" i="0">
                <a:solidFill>
                  <a:srgbClr val="3A8C63"/>
                </a:solidFill>
                <a:latin typeface="Calibri"/>
              </a:rPr>
              <a:t>0.67</a:t>
            </a:r>
          </a:p>
        </p:txBody>
      </p:sp>
      <p:sp>
        <p:nvSpPr>
          <p:cNvPr id="25" name="TextBox 24"/>
          <p:cNvSpPr txBox="1"/>
          <p:nvPr/>
        </p:nvSpPr>
        <p:spPr>
          <a:xfrm>
            <a:off x="7331659" y="1560880"/>
            <a:ext cx="2017166" cy="422452"/>
          </a:xfrm>
          <a:prstGeom prst="rect">
            <a:avLst/>
          </a:prstGeom>
          <a:noFill/>
        </p:spPr>
        <p:txBody>
          <a:bodyPr wrap="square"/>
          <a:lstStyle/>
          <a:p>
            <a:pPr algn="ctr"/>
            <a:r>
              <a:rPr sz="900" b="0" i="0">
                <a:solidFill>
                  <a:srgbClr val="52B788"/>
                </a:solidFill>
                <a:latin typeface="Calibri Light"/>
              </a:rPr>
              <a:t>F1 — Medium class</a:t>
            </a:r>
          </a:p>
        </p:txBody>
      </p:sp>
      <p:sp>
        <p:nvSpPr>
          <p:cNvPr id="26" name="Rectangle 25"/>
          <p:cNvSpPr/>
          <p:nvPr/>
        </p:nvSpPr>
        <p:spPr>
          <a:xfrm>
            <a:off x="9577425" y="987552"/>
            <a:ext cx="2017166" cy="1005840"/>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577425" y="987552"/>
            <a:ext cx="2017166"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77425" y="1078992"/>
            <a:ext cx="2017166" cy="523036"/>
          </a:xfrm>
          <a:prstGeom prst="rect">
            <a:avLst/>
          </a:prstGeom>
          <a:noFill/>
        </p:spPr>
        <p:txBody>
          <a:bodyPr wrap="square"/>
          <a:lstStyle/>
          <a:p>
            <a:pPr algn="ctr"/>
            <a:r>
              <a:rPr sz="2800" b="1" i="0">
                <a:solidFill>
                  <a:srgbClr val="52B788"/>
                </a:solidFill>
                <a:latin typeface="Calibri"/>
              </a:rPr>
              <a:t>0.71</a:t>
            </a:r>
          </a:p>
        </p:txBody>
      </p:sp>
      <p:sp>
        <p:nvSpPr>
          <p:cNvPr id="29" name="TextBox 28"/>
          <p:cNvSpPr txBox="1"/>
          <p:nvPr/>
        </p:nvSpPr>
        <p:spPr>
          <a:xfrm>
            <a:off x="9577425" y="1560880"/>
            <a:ext cx="2017166" cy="422452"/>
          </a:xfrm>
          <a:prstGeom prst="rect">
            <a:avLst/>
          </a:prstGeom>
          <a:noFill/>
        </p:spPr>
        <p:txBody>
          <a:bodyPr wrap="square"/>
          <a:lstStyle/>
          <a:p>
            <a:pPr algn="ctr"/>
            <a:r>
              <a:rPr sz="900" b="0" i="0">
                <a:solidFill>
                  <a:srgbClr val="52B788"/>
                </a:solidFill>
                <a:latin typeface="Calibri Light"/>
              </a:rPr>
              <a:t>F1 — High class</a:t>
            </a:r>
          </a:p>
        </p:txBody>
      </p:sp>
      <p:sp>
        <p:nvSpPr>
          <p:cNvPr id="30" name="TextBox 29"/>
          <p:cNvSpPr txBox="1"/>
          <p:nvPr/>
        </p:nvSpPr>
        <p:spPr>
          <a:xfrm>
            <a:off x="594360" y="2139696"/>
            <a:ext cx="5317236" cy="292608"/>
          </a:xfrm>
          <a:prstGeom prst="rect">
            <a:avLst/>
          </a:prstGeom>
          <a:noFill/>
        </p:spPr>
        <p:txBody>
          <a:bodyPr wrap="square"/>
          <a:lstStyle/>
          <a:p>
            <a:pPr algn="l"/>
            <a:r>
              <a:rPr sz="1200" b="1" i="0">
                <a:solidFill>
                  <a:srgbClr val="1B4D3E"/>
                </a:solidFill>
                <a:latin typeface="Calibri"/>
              </a:rPr>
              <a:t>Confusion Matrix</a:t>
            </a:r>
          </a:p>
        </p:txBody>
      </p:sp>
      <p:pic>
        <p:nvPicPr>
          <p:cNvPr id="31" name="Picture 30" descr="fig2b_confusion_matrix.png"/>
          <p:cNvPicPr>
            <a:picLocks noChangeAspect="1"/>
          </p:cNvPicPr>
          <p:nvPr/>
        </p:nvPicPr>
        <p:blipFill>
          <a:blip r:embed="rId3"/>
          <a:stretch>
            <a:fillRect/>
          </a:stretch>
        </p:blipFill>
        <p:spPr>
          <a:xfrm>
            <a:off x="594360" y="2468880"/>
            <a:ext cx="4676887" cy="3743643"/>
          </a:xfrm>
          <a:prstGeom prst="rect">
            <a:avLst/>
          </a:prstGeom>
        </p:spPr>
      </p:pic>
      <p:sp>
        <p:nvSpPr>
          <p:cNvPr id="32" name="TextBox 31"/>
          <p:cNvSpPr txBox="1"/>
          <p:nvPr/>
        </p:nvSpPr>
        <p:spPr>
          <a:xfrm>
            <a:off x="6277356" y="2139696"/>
            <a:ext cx="5317236" cy="292608"/>
          </a:xfrm>
          <a:prstGeom prst="rect">
            <a:avLst/>
          </a:prstGeom>
          <a:noFill/>
        </p:spPr>
        <p:txBody>
          <a:bodyPr wrap="square"/>
          <a:lstStyle/>
          <a:p>
            <a:pPr algn="l"/>
            <a:r>
              <a:rPr sz="1200" b="1" i="0">
                <a:solidFill>
                  <a:srgbClr val="1B4D3E"/>
                </a:solidFill>
                <a:latin typeface="Calibri"/>
              </a:rPr>
              <a:t>Findings &amp; Interpretation</a:t>
            </a:r>
          </a:p>
        </p:txBody>
      </p:sp>
      <p:sp>
        <p:nvSpPr>
          <p:cNvPr id="33" name="Rectangle 32"/>
          <p:cNvSpPr/>
          <p:nvPr/>
        </p:nvSpPr>
        <p:spPr>
          <a:xfrm>
            <a:off x="6277356" y="246888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77356" y="2596896"/>
            <a:ext cx="5134715"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Rectangle 34"/>
          <p:cNvSpPr/>
          <p:nvPr/>
        </p:nvSpPr>
        <p:spPr>
          <a:xfrm>
            <a:off x="6277356" y="2601468"/>
            <a:ext cx="5134715" cy="45719"/>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41948" y="2688336"/>
            <a:ext cx="5061203" cy="274320"/>
          </a:xfrm>
          <a:prstGeom prst="rect">
            <a:avLst/>
          </a:prstGeom>
          <a:noFill/>
        </p:spPr>
        <p:txBody>
          <a:bodyPr wrap="square"/>
          <a:lstStyle/>
          <a:p>
            <a:pPr algn="l"/>
            <a:r>
              <a:rPr sz="1100" b="1" i="0">
                <a:solidFill>
                  <a:srgbClr val="1B4D3E"/>
                </a:solidFill>
                <a:latin typeface="Calibri"/>
              </a:rPr>
              <a:t>Commodity is the dominant feature</a:t>
            </a:r>
          </a:p>
        </p:txBody>
      </p:sp>
      <p:sp>
        <p:nvSpPr>
          <p:cNvPr id="37" name="TextBox 36"/>
          <p:cNvSpPr txBox="1"/>
          <p:nvPr/>
        </p:nvSpPr>
        <p:spPr>
          <a:xfrm>
            <a:off x="6441948" y="2910212"/>
            <a:ext cx="4841479" cy="621792"/>
          </a:xfrm>
          <a:prstGeom prst="rect">
            <a:avLst/>
          </a:prstGeom>
          <a:noFill/>
        </p:spPr>
        <p:txBody>
          <a:bodyPr wrap="square"/>
          <a:lstStyle/>
          <a:p>
            <a:pPr algn="l"/>
            <a:r>
              <a:rPr sz="900" b="0" i="0" dirty="0">
                <a:solidFill>
                  <a:srgbClr val="3D4D44"/>
                </a:solidFill>
                <a:latin typeface="Calibri Light"/>
              </a:rPr>
              <a:t>The commodity label (e.g. fish, maize, cassava) explains far more variance in price class than region, month, or year. Fish and meat reliably appear in the High class; cereals distribute more evenly.</a:t>
            </a:r>
          </a:p>
        </p:txBody>
      </p:sp>
      <p:sp>
        <p:nvSpPr>
          <p:cNvPr id="38" name="Rectangle 37"/>
          <p:cNvSpPr/>
          <p:nvPr/>
        </p:nvSpPr>
        <p:spPr>
          <a:xfrm>
            <a:off x="6277356" y="3488390"/>
            <a:ext cx="5134715" cy="8322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Rectangle 38"/>
          <p:cNvSpPr/>
          <p:nvPr/>
        </p:nvSpPr>
        <p:spPr>
          <a:xfrm>
            <a:off x="6277356" y="3492986"/>
            <a:ext cx="5134715" cy="45719"/>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20881" y="3554819"/>
            <a:ext cx="5061203" cy="274320"/>
          </a:xfrm>
          <a:prstGeom prst="rect">
            <a:avLst/>
          </a:prstGeom>
          <a:noFill/>
        </p:spPr>
        <p:txBody>
          <a:bodyPr wrap="square"/>
          <a:lstStyle/>
          <a:p>
            <a:pPr algn="l"/>
            <a:r>
              <a:rPr sz="1100" b="1" i="0" dirty="0">
                <a:solidFill>
                  <a:srgbClr val="1B4D3E"/>
                </a:solidFill>
                <a:latin typeface="Calibri"/>
              </a:rPr>
              <a:t>Adjacent-class errors are expected</a:t>
            </a:r>
          </a:p>
        </p:txBody>
      </p:sp>
      <p:sp>
        <p:nvSpPr>
          <p:cNvPr id="41" name="TextBox 40"/>
          <p:cNvSpPr txBox="1"/>
          <p:nvPr/>
        </p:nvSpPr>
        <p:spPr>
          <a:xfrm>
            <a:off x="6466332" y="3800990"/>
            <a:ext cx="4734799" cy="329184"/>
          </a:xfrm>
          <a:prstGeom prst="rect">
            <a:avLst/>
          </a:prstGeom>
          <a:noFill/>
        </p:spPr>
        <p:txBody>
          <a:bodyPr wrap="square"/>
          <a:lstStyle/>
          <a:p>
            <a:pPr algn="l"/>
            <a:r>
              <a:rPr sz="900" b="0" i="0" dirty="0">
                <a:solidFill>
                  <a:srgbClr val="3D4D44"/>
                </a:solidFill>
                <a:latin typeface="Calibri Light"/>
              </a:rPr>
              <a:t>Misclassifications are concentrated between Low/Medium and Medium/High — not between Low and High. This is a natural consequence of using continuous percentile boundaries as class separators.</a:t>
            </a:r>
          </a:p>
        </p:txBody>
      </p:sp>
      <p:sp>
        <p:nvSpPr>
          <p:cNvPr id="42" name="Rectangle 41"/>
          <p:cNvSpPr/>
          <p:nvPr/>
        </p:nvSpPr>
        <p:spPr>
          <a:xfrm>
            <a:off x="6277356" y="4388717"/>
            <a:ext cx="5134715"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3" name="Rectangle 42"/>
          <p:cNvSpPr/>
          <p:nvPr/>
        </p:nvSpPr>
        <p:spPr>
          <a:xfrm>
            <a:off x="6277356" y="4393289"/>
            <a:ext cx="5134715" cy="45719"/>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41948" y="4480157"/>
            <a:ext cx="5061203" cy="274320"/>
          </a:xfrm>
          <a:prstGeom prst="rect">
            <a:avLst/>
          </a:prstGeom>
          <a:noFill/>
        </p:spPr>
        <p:txBody>
          <a:bodyPr wrap="square"/>
          <a:lstStyle/>
          <a:p>
            <a:pPr algn="l"/>
            <a:r>
              <a:rPr sz="1100" b="1" i="0">
                <a:solidFill>
                  <a:srgbClr val="1B4D3E"/>
                </a:solidFill>
                <a:latin typeface="Calibri"/>
              </a:rPr>
              <a:t>Seasonal month is a secondary predictor</a:t>
            </a:r>
          </a:p>
        </p:txBody>
      </p:sp>
      <p:sp>
        <p:nvSpPr>
          <p:cNvPr id="45" name="TextBox 44"/>
          <p:cNvSpPr txBox="1"/>
          <p:nvPr/>
        </p:nvSpPr>
        <p:spPr>
          <a:xfrm>
            <a:off x="6405372" y="4707856"/>
            <a:ext cx="5061203" cy="621792"/>
          </a:xfrm>
          <a:prstGeom prst="rect">
            <a:avLst/>
          </a:prstGeom>
          <a:noFill/>
        </p:spPr>
        <p:txBody>
          <a:bodyPr wrap="square"/>
          <a:lstStyle/>
          <a:p>
            <a:pPr algn="l"/>
            <a:r>
              <a:rPr sz="900" b="0" i="0" dirty="0">
                <a:solidFill>
                  <a:srgbClr val="3D4D44"/>
                </a:solidFill>
                <a:latin typeface="Calibri Light"/>
              </a:rPr>
              <a:t>Controlling for commodity, lean-season months (June–August) show a higher proportion of High-class observations — confirming that seasonality provides additional predictive signal.</a:t>
            </a:r>
          </a:p>
        </p:txBody>
      </p:sp>
      <p:sp>
        <p:nvSpPr>
          <p:cNvPr id="46" name="Rectangle 45"/>
          <p:cNvSpPr/>
          <p:nvPr/>
        </p:nvSpPr>
        <p:spPr>
          <a:xfrm>
            <a:off x="6256289" y="5393165"/>
            <a:ext cx="5134715"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7" name="Rectangle 46"/>
          <p:cNvSpPr/>
          <p:nvPr/>
        </p:nvSpPr>
        <p:spPr>
          <a:xfrm>
            <a:off x="6256289" y="5397737"/>
            <a:ext cx="5134715" cy="45719"/>
          </a:xfrm>
          <a:prstGeom prst="rect">
            <a:avLst/>
          </a:prstGeom>
          <a:solidFill>
            <a:srgbClr val="8A9D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20881" y="5484604"/>
            <a:ext cx="5061203" cy="274320"/>
          </a:xfrm>
          <a:prstGeom prst="rect">
            <a:avLst/>
          </a:prstGeom>
          <a:noFill/>
        </p:spPr>
        <p:txBody>
          <a:bodyPr wrap="square"/>
          <a:lstStyle/>
          <a:p>
            <a:pPr algn="l"/>
            <a:r>
              <a:rPr sz="1100" b="1" i="0">
                <a:solidFill>
                  <a:srgbClr val="1B4D3E"/>
                </a:solidFill>
                <a:latin typeface="Calibri"/>
              </a:rPr>
              <a:t>Practical utility</a:t>
            </a:r>
          </a:p>
        </p:txBody>
      </p:sp>
      <p:sp>
        <p:nvSpPr>
          <p:cNvPr id="49" name="TextBox 48"/>
          <p:cNvSpPr txBox="1"/>
          <p:nvPr/>
        </p:nvSpPr>
        <p:spPr>
          <a:xfrm>
            <a:off x="6420881" y="5711222"/>
            <a:ext cx="5061203" cy="621792"/>
          </a:xfrm>
          <a:prstGeom prst="rect">
            <a:avLst/>
          </a:prstGeom>
          <a:noFill/>
        </p:spPr>
        <p:txBody>
          <a:bodyPr wrap="square"/>
          <a:lstStyle/>
          <a:p>
            <a:pPr algn="l"/>
            <a:r>
              <a:rPr sz="900" b="0" i="0" dirty="0">
                <a:solidFill>
                  <a:srgbClr val="3D4D44"/>
                </a:solidFill>
                <a:latin typeface="Calibri Light"/>
              </a:rPr>
              <a:t>A 69.2% classifier is sufficient as a price-level alerting system for farmers who currently have no quantitative guidance. Even a two-class version (High vs Not-High) would be operationally useful.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06  |  CLUSTERING — METHOD</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K-Means Market Segmentation — Data Preparation and Cluster Selection</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10 / 16</a:t>
            </a:r>
          </a:p>
        </p:txBody>
      </p:sp>
      <p:sp>
        <p:nvSpPr>
          <p:cNvPr id="10" name="TextBox 9"/>
          <p:cNvSpPr txBox="1"/>
          <p:nvPr/>
        </p:nvSpPr>
        <p:spPr>
          <a:xfrm>
            <a:off x="594360" y="987552"/>
            <a:ext cx="5317236" cy="292608"/>
          </a:xfrm>
          <a:prstGeom prst="rect">
            <a:avLst/>
          </a:prstGeom>
          <a:noFill/>
        </p:spPr>
        <p:txBody>
          <a:bodyPr wrap="square"/>
          <a:lstStyle/>
          <a:p>
            <a:pPr algn="l"/>
            <a:r>
              <a:rPr sz="1300" b="1" i="0">
                <a:solidFill>
                  <a:srgbClr val="1B4D3E"/>
                </a:solidFill>
                <a:latin typeface="Calibri"/>
              </a:rPr>
              <a:t>Data Preparation for Clustering</a:t>
            </a:r>
          </a:p>
        </p:txBody>
      </p:sp>
      <p:sp>
        <p:nvSpPr>
          <p:cNvPr id="11" name="Rectangle 10"/>
          <p:cNvSpPr/>
          <p:nvPr/>
        </p:nvSpPr>
        <p:spPr>
          <a:xfrm>
            <a:off x="594360"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444752"/>
            <a:ext cx="548640"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1682496"/>
            <a:ext cx="548640" cy="329184"/>
          </a:xfrm>
          <a:prstGeom prst="rect">
            <a:avLst/>
          </a:prstGeom>
          <a:noFill/>
        </p:spPr>
        <p:txBody>
          <a:bodyPr wrap="square"/>
          <a:lstStyle/>
          <a:p>
            <a:pPr algn="ctr"/>
            <a:r>
              <a:rPr sz="850" b="1" i="0">
                <a:solidFill>
                  <a:srgbClr val="FFFFFF"/>
                </a:solidFill>
                <a:latin typeface="Calibri"/>
              </a:rPr>
              <a:t>Step 1</a:t>
            </a:r>
          </a:p>
        </p:txBody>
      </p:sp>
      <p:sp>
        <p:nvSpPr>
          <p:cNvPr id="14" name="TextBox 13"/>
          <p:cNvSpPr txBox="1"/>
          <p:nvPr/>
        </p:nvSpPr>
        <p:spPr>
          <a:xfrm>
            <a:off x="1271016" y="1481328"/>
            <a:ext cx="4549140" cy="274320"/>
          </a:xfrm>
          <a:prstGeom prst="rect">
            <a:avLst/>
          </a:prstGeom>
          <a:noFill/>
        </p:spPr>
        <p:txBody>
          <a:bodyPr wrap="square"/>
          <a:lstStyle/>
          <a:p>
            <a:pPr algn="l"/>
            <a:r>
              <a:rPr sz="1100" b="1" i="0">
                <a:solidFill>
                  <a:srgbClr val="1B4D3E"/>
                </a:solidFill>
                <a:latin typeface="Calibri"/>
              </a:rPr>
              <a:t>Aggregate</a:t>
            </a:r>
          </a:p>
        </p:txBody>
      </p:sp>
      <p:sp>
        <p:nvSpPr>
          <p:cNvPr id="15" name="TextBox 14"/>
          <p:cNvSpPr txBox="1"/>
          <p:nvPr/>
        </p:nvSpPr>
        <p:spPr>
          <a:xfrm>
            <a:off x="1271016" y="1810512"/>
            <a:ext cx="4549140" cy="512064"/>
          </a:xfrm>
          <a:prstGeom prst="rect">
            <a:avLst/>
          </a:prstGeom>
          <a:noFill/>
        </p:spPr>
        <p:txBody>
          <a:bodyPr wrap="square"/>
          <a:lstStyle/>
          <a:p>
            <a:pPr algn="l"/>
            <a:r>
              <a:rPr sz="1000" b="0" i="0">
                <a:solidFill>
                  <a:srgbClr val="3D4D44"/>
                </a:solidFill>
                <a:latin typeface="Calibri Light"/>
              </a:rPr>
              <a:t>Compute the median price per market-commodity pair, producing a matrix with markets as rows and commodities as columns.</a:t>
            </a:r>
          </a:p>
        </p:txBody>
      </p:sp>
      <p:sp>
        <p:nvSpPr>
          <p:cNvPr id="16" name="Rectangle 15"/>
          <p:cNvSpPr/>
          <p:nvPr/>
        </p:nvSpPr>
        <p:spPr>
          <a:xfrm>
            <a:off x="594360" y="237744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2450592"/>
            <a:ext cx="548640"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2688336"/>
            <a:ext cx="548640" cy="329184"/>
          </a:xfrm>
          <a:prstGeom prst="rect">
            <a:avLst/>
          </a:prstGeom>
          <a:noFill/>
        </p:spPr>
        <p:txBody>
          <a:bodyPr wrap="square"/>
          <a:lstStyle/>
          <a:p>
            <a:pPr algn="ctr"/>
            <a:r>
              <a:rPr sz="850" b="1" i="0">
                <a:solidFill>
                  <a:srgbClr val="FFFFFF"/>
                </a:solidFill>
                <a:latin typeface="Calibri"/>
              </a:rPr>
              <a:t>Step 2</a:t>
            </a:r>
          </a:p>
        </p:txBody>
      </p:sp>
      <p:sp>
        <p:nvSpPr>
          <p:cNvPr id="19" name="TextBox 18"/>
          <p:cNvSpPr txBox="1"/>
          <p:nvPr/>
        </p:nvSpPr>
        <p:spPr>
          <a:xfrm>
            <a:off x="1271016" y="2487168"/>
            <a:ext cx="4549140" cy="274320"/>
          </a:xfrm>
          <a:prstGeom prst="rect">
            <a:avLst/>
          </a:prstGeom>
          <a:noFill/>
        </p:spPr>
        <p:txBody>
          <a:bodyPr wrap="square"/>
          <a:lstStyle/>
          <a:p>
            <a:pPr algn="l"/>
            <a:r>
              <a:rPr sz="1100" b="1" i="0">
                <a:solidFill>
                  <a:srgbClr val="1B4D3E"/>
                </a:solidFill>
                <a:latin typeface="Calibri"/>
              </a:rPr>
              <a:t>Standardise</a:t>
            </a:r>
          </a:p>
        </p:txBody>
      </p:sp>
      <p:sp>
        <p:nvSpPr>
          <p:cNvPr id="20" name="TextBox 19"/>
          <p:cNvSpPr txBox="1"/>
          <p:nvPr/>
        </p:nvSpPr>
        <p:spPr>
          <a:xfrm>
            <a:off x="1271016" y="2816352"/>
            <a:ext cx="4549140" cy="512064"/>
          </a:xfrm>
          <a:prstGeom prst="rect">
            <a:avLst/>
          </a:prstGeom>
          <a:noFill/>
        </p:spPr>
        <p:txBody>
          <a:bodyPr wrap="square"/>
          <a:lstStyle/>
          <a:p>
            <a:pPr algn="l"/>
            <a:r>
              <a:rPr sz="1000" b="0" i="0">
                <a:solidFill>
                  <a:srgbClr val="3D4D44"/>
                </a:solidFill>
                <a:latin typeface="Calibri Light"/>
              </a:rPr>
              <a:t>Apply StandardScaler to normalise each commodity column to zero mean and unit variance, preventing high-price items from dominating distance calculations.</a:t>
            </a:r>
          </a:p>
        </p:txBody>
      </p:sp>
      <p:sp>
        <p:nvSpPr>
          <p:cNvPr id="21" name="Rectangle 20"/>
          <p:cNvSpPr/>
          <p:nvPr/>
        </p:nvSpPr>
        <p:spPr>
          <a:xfrm>
            <a:off x="594360" y="338328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4360" y="3456432"/>
            <a:ext cx="548640"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694176"/>
            <a:ext cx="548640" cy="329184"/>
          </a:xfrm>
          <a:prstGeom prst="rect">
            <a:avLst/>
          </a:prstGeom>
          <a:noFill/>
        </p:spPr>
        <p:txBody>
          <a:bodyPr wrap="square"/>
          <a:lstStyle/>
          <a:p>
            <a:pPr algn="ctr"/>
            <a:r>
              <a:rPr sz="850" b="1" i="0">
                <a:solidFill>
                  <a:srgbClr val="FFFFFF"/>
                </a:solidFill>
                <a:latin typeface="Calibri"/>
              </a:rPr>
              <a:t>Step 3</a:t>
            </a:r>
          </a:p>
        </p:txBody>
      </p:sp>
      <p:sp>
        <p:nvSpPr>
          <p:cNvPr id="24" name="TextBox 23"/>
          <p:cNvSpPr txBox="1"/>
          <p:nvPr/>
        </p:nvSpPr>
        <p:spPr>
          <a:xfrm>
            <a:off x="1271016" y="3493008"/>
            <a:ext cx="4549140" cy="274320"/>
          </a:xfrm>
          <a:prstGeom prst="rect">
            <a:avLst/>
          </a:prstGeom>
          <a:noFill/>
        </p:spPr>
        <p:txBody>
          <a:bodyPr wrap="square"/>
          <a:lstStyle/>
          <a:p>
            <a:pPr algn="l"/>
            <a:r>
              <a:rPr sz="1100" b="1" i="0">
                <a:solidFill>
                  <a:srgbClr val="1B4D3E"/>
                </a:solidFill>
                <a:latin typeface="Calibri"/>
              </a:rPr>
              <a:t>Select k</a:t>
            </a:r>
          </a:p>
        </p:txBody>
      </p:sp>
      <p:sp>
        <p:nvSpPr>
          <p:cNvPr id="25" name="TextBox 24"/>
          <p:cNvSpPr txBox="1"/>
          <p:nvPr/>
        </p:nvSpPr>
        <p:spPr>
          <a:xfrm>
            <a:off x="1271016" y="3822192"/>
            <a:ext cx="4549140" cy="512064"/>
          </a:xfrm>
          <a:prstGeom prst="rect">
            <a:avLst/>
          </a:prstGeom>
          <a:noFill/>
        </p:spPr>
        <p:txBody>
          <a:bodyPr wrap="square"/>
          <a:lstStyle/>
          <a:p>
            <a:pPr algn="l"/>
            <a:r>
              <a:rPr sz="1000" b="0" i="0">
                <a:solidFill>
                  <a:srgbClr val="3D4D44"/>
                </a:solidFill>
                <a:latin typeface="Calibri Light"/>
              </a:rPr>
              <a:t>Fit K-Means for k = 2 to 10. Plot the WCSS (within-cluster sum of squares) and identify the elbow — the point where adding more clusters yields diminishing returns.</a:t>
            </a:r>
          </a:p>
        </p:txBody>
      </p:sp>
      <p:sp>
        <p:nvSpPr>
          <p:cNvPr id="26" name="Rectangle 25"/>
          <p:cNvSpPr/>
          <p:nvPr/>
        </p:nvSpPr>
        <p:spPr>
          <a:xfrm>
            <a:off x="594360" y="438912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4360" y="4462272"/>
            <a:ext cx="548640"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700016"/>
            <a:ext cx="548640" cy="329184"/>
          </a:xfrm>
          <a:prstGeom prst="rect">
            <a:avLst/>
          </a:prstGeom>
          <a:noFill/>
        </p:spPr>
        <p:txBody>
          <a:bodyPr wrap="square"/>
          <a:lstStyle/>
          <a:p>
            <a:pPr algn="ctr"/>
            <a:r>
              <a:rPr sz="850" b="1" i="0">
                <a:solidFill>
                  <a:srgbClr val="FFFFFF"/>
                </a:solidFill>
                <a:latin typeface="Calibri"/>
              </a:rPr>
              <a:t>Step 4</a:t>
            </a:r>
          </a:p>
        </p:txBody>
      </p:sp>
      <p:sp>
        <p:nvSpPr>
          <p:cNvPr id="29" name="TextBox 28"/>
          <p:cNvSpPr txBox="1"/>
          <p:nvPr/>
        </p:nvSpPr>
        <p:spPr>
          <a:xfrm>
            <a:off x="1271016" y="4498848"/>
            <a:ext cx="4549140" cy="274320"/>
          </a:xfrm>
          <a:prstGeom prst="rect">
            <a:avLst/>
          </a:prstGeom>
          <a:noFill/>
        </p:spPr>
        <p:txBody>
          <a:bodyPr wrap="square"/>
          <a:lstStyle/>
          <a:p>
            <a:pPr algn="l"/>
            <a:r>
              <a:rPr sz="1100" b="1" i="0">
                <a:solidFill>
                  <a:srgbClr val="1B4D3E"/>
                </a:solidFill>
                <a:latin typeface="Calibri"/>
              </a:rPr>
              <a:t>Cluster</a:t>
            </a:r>
          </a:p>
        </p:txBody>
      </p:sp>
      <p:sp>
        <p:nvSpPr>
          <p:cNvPr id="30" name="TextBox 29"/>
          <p:cNvSpPr txBox="1"/>
          <p:nvPr/>
        </p:nvSpPr>
        <p:spPr>
          <a:xfrm>
            <a:off x="1271016" y="4828032"/>
            <a:ext cx="4549140" cy="512064"/>
          </a:xfrm>
          <a:prstGeom prst="rect">
            <a:avLst/>
          </a:prstGeom>
          <a:noFill/>
        </p:spPr>
        <p:txBody>
          <a:bodyPr wrap="square"/>
          <a:lstStyle/>
          <a:p>
            <a:pPr algn="l"/>
            <a:r>
              <a:rPr sz="1000" b="0" i="0">
                <a:solidFill>
                  <a:srgbClr val="3D4D44"/>
                </a:solidFill>
                <a:latin typeface="Calibri Light"/>
              </a:rPr>
              <a:t>Run K-Means with k = 4 (random_state = 42) and assign each market a cluster label.</a:t>
            </a:r>
          </a:p>
        </p:txBody>
      </p:sp>
      <p:sp>
        <p:nvSpPr>
          <p:cNvPr id="31" name="Rectangle 30"/>
          <p:cNvSpPr/>
          <p:nvPr/>
        </p:nvSpPr>
        <p:spPr>
          <a:xfrm>
            <a:off x="594360" y="539496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 y="5468112"/>
            <a:ext cx="548640"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5705856"/>
            <a:ext cx="548640" cy="329184"/>
          </a:xfrm>
          <a:prstGeom prst="rect">
            <a:avLst/>
          </a:prstGeom>
          <a:noFill/>
        </p:spPr>
        <p:txBody>
          <a:bodyPr wrap="square"/>
          <a:lstStyle/>
          <a:p>
            <a:pPr algn="ctr"/>
            <a:r>
              <a:rPr sz="850" b="1" i="0">
                <a:solidFill>
                  <a:srgbClr val="FFFFFF"/>
                </a:solidFill>
                <a:latin typeface="Calibri"/>
              </a:rPr>
              <a:t>Step 5</a:t>
            </a:r>
          </a:p>
        </p:txBody>
      </p:sp>
      <p:sp>
        <p:nvSpPr>
          <p:cNvPr id="34" name="TextBox 33"/>
          <p:cNvSpPr txBox="1"/>
          <p:nvPr/>
        </p:nvSpPr>
        <p:spPr>
          <a:xfrm>
            <a:off x="1271016" y="5504688"/>
            <a:ext cx="4549140" cy="274320"/>
          </a:xfrm>
          <a:prstGeom prst="rect">
            <a:avLst/>
          </a:prstGeom>
          <a:noFill/>
        </p:spPr>
        <p:txBody>
          <a:bodyPr wrap="square"/>
          <a:lstStyle/>
          <a:p>
            <a:pPr algn="l"/>
            <a:r>
              <a:rPr sz="1100" b="1" i="0">
                <a:solidFill>
                  <a:srgbClr val="1B4D3E"/>
                </a:solidFill>
                <a:latin typeface="Calibri"/>
              </a:rPr>
              <a:t>Visualise</a:t>
            </a:r>
          </a:p>
        </p:txBody>
      </p:sp>
      <p:sp>
        <p:nvSpPr>
          <p:cNvPr id="35" name="TextBox 34"/>
          <p:cNvSpPr txBox="1"/>
          <p:nvPr/>
        </p:nvSpPr>
        <p:spPr>
          <a:xfrm>
            <a:off x="1271016" y="5833872"/>
            <a:ext cx="4549140" cy="512064"/>
          </a:xfrm>
          <a:prstGeom prst="rect">
            <a:avLst/>
          </a:prstGeom>
          <a:noFill/>
        </p:spPr>
        <p:txBody>
          <a:bodyPr wrap="square"/>
          <a:lstStyle/>
          <a:p>
            <a:pPr algn="l"/>
            <a:r>
              <a:rPr sz="1000" b="0" i="0">
                <a:solidFill>
                  <a:srgbClr val="3D4D44"/>
                </a:solidFill>
                <a:latin typeface="Calibri Light"/>
              </a:rPr>
              <a:t>Apply PCA to reduce the standardised matrix to two dimensions. Plot each market coloured by cluster for visual validation.</a:t>
            </a:r>
          </a:p>
        </p:txBody>
      </p:sp>
      <p:sp>
        <p:nvSpPr>
          <p:cNvPr id="36" name="TextBox 35"/>
          <p:cNvSpPr txBox="1"/>
          <p:nvPr/>
        </p:nvSpPr>
        <p:spPr>
          <a:xfrm>
            <a:off x="6277356" y="987552"/>
            <a:ext cx="5317236" cy="292608"/>
          </a:xfrm>
          <a:prstGeom prst="rect">
            <a:avLst/>
          </a:prstGeom>
          <a:noFill/>
        </p:spPr>
        <p:txBody>
          <a:bodyPr wrap="square"/>
          <a:lstStyle/>
          <a:p>
            <a:pPr algn="l"/>
            <a:r>
              <a:rPr sz="1300" b="1" i="0">
                <a:solidFill>
                  <a:srgbClr val="1B4D3E"/>
                </a:solidFill>
                <a:latin typeface="Calibri"/>
              </a:rPr>
              <a:t>Elbow Chart — Selecting k = 4</a:t>
            </a:r>
          </a:p>
        </p:txBody>
      </p:sp>
      <p:pic>
        <p:nvPicPr>
          <p:cNvPr id="37" name="Picture 36" descr="fig3a_elbow.png"/>
          <p:cNvPicPr>
            <a:picLocks noChangeAspect="1"/>
          </p:cNvPicPr>
          <p:nvPr/>
        </p:nvPicPr>
        <p:blipFill>
          <a:blip r:embed="rId2"/>
          <a:stretch>
            <a:fillRect/>
          </a:stretch>
        </p:blipFill>
        <p:spPr>
          <a:xfrm>
            <a:off x="6277356" y="1335024"/>
            <a:ext cx="5317236" cy="2991268"/>
          </a:xfrm>
          <a:prstGeom prst="rect">
            <a:avLst/>
          </a:prstGeom>
        </p:spPr>
      </p:pic>
      <p:sp>
        <p:nvSpPr>
          <p:cNvPr id="38" name="TextBox 37"/>
          <p:cNvSpPr txBox="1"/>
          <p:nvPr/>
        </p:nvSpPr>
        <p:spPr>
          <a:xfrm>
            <a:off x="6277356" y="4462272"/>
            <a:ext cx="5317236" cy="292608"/>
          </a:xfrm>
          <a:prstGeom prst="rect">
            <a:avLst/>
          </a:prstGeom>
          <a:noFill/>
        </p:spPr>
        <p:txBody>
          <a:bodyPr wrap="square"/>
          <a:lstStyle/>
          <a:p>
            <a:pPr algn="l"/>
            <a:r>
              <a:rPr sz="1100" b="1" i="0">
                <a:solidFill>
                  <a:srgbClr val="1B4D3E"/>
                </a:solidFill>
                <a:latin typeface="Calibri"/>
              </a:rPr>
              <a:t>Why k = 4?</a:t>
            </a:r>
          </a:p>
        </p:txBody>
      </p:sp>
      <p:sp>
        <p:nvSpPr>
          <p:cNvPr id="39" name="Rectangle 38"/>
          <p:cNvSpPr/>
          <p:nvPr/>
        </p:nvSpPr>
        <p:spPr>
          <a:xfrm>
            <a:off x="6277356" y="4773168"/>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77356" y="4901184"/>
            <a:ext cx="5317236" cy="1417320"/>
          </a:xfrm>
          <a:prstGeom prst="rect">
            <a:avLst/>
          </a:prstGeom>
          <a:noFill/>
        </p:spPr>
        <p:txBody>
          <a:bodyPr wrap="square"/>
          <a:lstStyle/>
          <a:p>
            <a:pPr algn="l"/>
            <a:r>
              <a:rPr sz="1050" b="0" i="0">
                <a:solidFill>
                  <a:srgbClr val="3D4D44"/>
                </a:solidFill>
                <a:latin typeface="Calibri Light"/>
              </a:rPr>
              <a:t>The WCSS curve shows a clear inflection (elbow) at k = 4. Beyond four clusters the marginal gain in compactness falls below the cost of added model complexity. The four-cluster solution also maps interpretably onto Cameroon's economic geography: urban commercial, northern grain, western highland, and eastern border markets.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06  |  CLUSTERING — RESULTS</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Four Market Groups — PCA Projection and Cluster Profiles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11 / 16</a:t>
            </a:r>
          </a:p>
        </p:txBody>
      </p:sp>
      <p:pic>
        <p:nvPicPr>
          <p:cNvPr id="10" name="Picture 9" descr="fig3b_pca_clusters.png"/>
          <p:cNvPicPr>
            <a:picLocks noChangeAspect="1"/>
          </p:cNvPicPr>
          <p:nvPr/>
        </p:nvPicPr>
        <p:blipFill>
          <a:blip r:embed="rId2"/>
          <a:stretch>
            <a:fillRect/>
          </a:stretch>
        </p:blipFill>
        <p:spPr>
          <a:xfrm>
            <a:off x="415798" y="1292333"/>
            <a:ext cx="5495671" cy="4794904"/>
          </a:xfrm>
          <a:prstGeom prst="rect">
            <a:avLst/>
          </a:prstGeom>
        </p:spPr>
      </p:pic>
      <p:sp>
        <p:nvSpPr>
          <p:cNvPr id="11" name="TextBox 10"/>
          <p:cNvSpPr txBox="1"/>
          <p:nvPr/>
        </p:nvSpPr>
        <p:spPr>
          <a:xfrm>
            <a:off x="6277356" y="987552"/>
            <a:ext cx="5317236" cy="292608"/>
          </a:xfrm>
          <a:prstGeom prst="rect">
            <a:avLst/>
          </a:prstGeom>
          <a:noFill/>
        </p:spPr>
        <p:txBody>
          <a:bodyPr wrap="square"/>
          <a:lstStyle/>
          <a:p>
            <a:pPr algn="l"/>
            <a:r>
              <a:rPr sz="1300" b="1" i="0">
                <a:solidFill>
                  <a:srgbClr val="1B4D3E"/>
                </a:solidFill>
                <a:latin typeface="Calibri"/>
              </a:rPr>
              <a:t>Cluster Profiles</a:t>
            </a:r>
          </a:p>
        </p:txBody>
      </p:sp>
      <p:sp>
        <p:nvSpPr>
          <p:cNvPr id="12" name="Rectangle 11"/>
          <p:cNvSpPr/>
          <p:nvPr/>
        </p:nvSpPr>
        <p:spPr>
          <a:xfrm>
            <a:off x="6277356"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77356" y="1444752"/>
            <a:ext cx="5317236" cy="993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77356" y="1444752"/>
            <a:ext cx="5317236" cy="5029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77356" y="1495044"/>
            <a:ext cx="50292" cy="9372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6812" y="1554480"/>
            <a:ext cx="4988051" cy="274320"/>
          </a:xfrm>
          <a:prstGeom prst="rect">
            <a:avLst/>
          </a:prstGeom>
          <a:noFill/>
        </p:spPr>
        <p:txBody>
          <a:bodyPr wrap="square"/>
          <a:lstStyle/>
          <a:p>
            <a:pPr algn="l"/>
            <a:r>
              <a:rPr sz="1100" b="1" i="0">
                <a:solidFill>
                  <a:srgbClr val="1B4D3E"/>
                </a:solidFill>
                <a:latin typeface="Calibri"/>
              </a:rPr>
              <a:t>Cluster 0 — Urban Commercial Markets</a:t>
            </a:r>
          </a:p>
        </p:txBody>
      </p:sp>
      <p:sp>
        <p:nvSpPr>
          <p:cNvPr id="17" name="TextBox 16"/>
          <p:cNvSpPr txBox="1"/>
          <p:nvPr/>
        </p:nvSpPr>
        <p:spPr>
          <a:xfrm>
            <a:off x="6496811" y="1757476"/>
            <a:ext cx="4988051" cy="731520"/>
          </a:xfrm>
          <a:prstGeom prst="rect">
            <a:avLst/>
          </a:prstGeom>
          <a:noFill/>
        </p:spPr>
        <p:txBody>
          <a:bodyPr wrap="square"/>
          <a:lstStyle/>
          <a:p>
            <a:pPr algn="l"/>
            <a:r>
              <a:rPr sz="1050" b="0" i="0" dirty="0">
                <a:solidFill>
                  <a:srgbClr val="3D4D44"/>
                </a:solidFill>
                <a:latin typeface="Calibri Light"/>
              </a:rPr>
              <a:t>Douala and </a:t>
            </a:r>
            <a:r>
              <a:rPr sz="1050" b="0" i="0" dirty="0" err="1">
                <a:solidFill>
                  <a:srgbClr val="3D4D44"/>
                </a:solidFill>
                <a:latin typeface="Calibri Light"/>
              </a:rPr>
              <a:t>Yaounde</a:t>
            </a:r>
            <a:r>
              <a:rPr sz="1050" b="0" i="0" dirty="0">
                <a:solidFill>
                  <a:srgbClr val="3D4D44"/>
                </a:solidFill>
                <a:latin typeface="Calibri Light"/>
              </a:rPr>
              <a:t> surroundings. Highest diversity of commodities; highest average prices driven by consumer demand and operating costs. Most price-stable due to multiple competing suppliers.</a:t>
            </a:r>
          </a:p>
        </p:txBody>
      </p:sp>
      <p:sp>
        <p:nvSpPr>
          <p:cNvPr id="18" name="Rectangle 17"/>
          <p:cNvSpPr/>
          <p:nvPr/>
        </p:nvSpPr>
        <p:spPr>
          <a:xfrm>
            <a:off x="6277229" y="2511372"/>
            <a:ext cx="5317236" cy="10730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77229" y="2511372"/>
            <a:ext cx="5317236" cy="45719"/>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77229" y="2561664"/>
            <a:ext cx="50292" cy="1029680"/>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6685" y="2621100"/>
            <a:ext cx="4988051" cy="236708"/>
          </a:xfrm>
          <a:prstGeom prst="rect">
            <a:avLst/>
          </a:prstGeom>
          <a:noFill/>
        </p:spPr>
        <p:txBody>
          <a:bodyPr wrap="square"/>
          <a:lstStyle/>
          <a:p>
            <a:pPr algn="l"/>
            <a:r>
              <a:rPr sz="1100" b="1" i="0">
                <a:solidFill>
                  <a:srgbClr val="276C4E"/>
                </a:solidFill>
                <a:latin typeface="Calibri"/>
              </a:rPr>
              <a:t>Cluster 1 — Northern Grain Markets</a:t>
            </a:r>
          </a:p>
        </p:txBody>
      </p:sp>
      <p:sp>
        <p:nvSpPr>
          <p:cNvPr id="22" name="TextBox 21"/>
          <p:cNvSpPr txBox="1"/>
          <p:nvPr/>
        </p:nvSpPr>
        <p:spPr>
          <a:xfrm>
            <a:off x="6496685" y="2968572"/>
            <a:ext cx="4988051" cy="536538"/>
          </a:xfrm>
          <a:prstGeom prst="rect">
            <a:avLst/>
          </a:prstGeom>
          <a:noFill/>
        </p:spPr>
        <p:txBody>
          <a:bodyPr wrap="square"/>
          <a:lstStyle/>
          <a:p>
            <a:pPr algn="l"/>
            <a:r>
              <a:rPr sz="1050" b="0" i="0" dirty="0">
                <a:solidFill>
                  <a:srgbClr val="3D4D44"/>
                </a:solidFill>
                <a:latin typeface="Calibri Light"/>
              </a:rPr>
              <a:t>Garoua, </a:t>
            </a:r>
            <a:r>
              <a:rPr sz="1050" b="0" i="0" dirty="0" err="1">
                <a:solidFill>
                  <a:srgbClr val="3D4D44"/>
                </a:solidFill>
                <a:latin typeface="Calibri Light"/>
              </a:rPr>
              <a:t>Maroua</a:t>
            </a:r>
            <a:r>
              <a:rPr sz="1050" b="0" i="0" dirty="0">
                <a:solidFill>
                  <a:srgbClr val="3D4D44"/>
                </a:solidFill>
                <a:latin typeface="Calibri Light"/>
              </a:rPr>
              <a:t>, </a:t>
            </a:r>
            <a:r>
              <a:rPr sz="1050" b="0" i="0" dirty="0" err="1">
                <a:solidFill>
                  <a:srgbClr val="3D4D44"/>
                </a:solidFill>
                <a:latin typeface="Calibri Light"/>
              </a:rPr>
              <a:t>Ngaoundere</a:t>
            </a:r>
            <a:r>
              <a:rPr sz="1050" b="0" i="0" dirty="0">
                <a:solidFill>
                  <a:srgbClr val="3D4D44"/>
                </a:solidFill>
                <a:latin typeface="Calibri Light"/>
              </a:rPr>
              <a:t>. Lower cereal prices reflecting strong local sorghum and millet production. Elevated prices for perishables and imports requiring long-distance transport.</a:t>
            </a:r>
          </a:p>
        </p:txBody>
      </p:sp>
      <p:sp>
        <p:nvSpPr>
          <p:cNvPr id="23" name="Rectangle 22"/>
          <p:cNvSpPr/>
          <p:nvPr/>
        </p:nvSpPr>
        <p:spPr>
          <a:xfrm>
            <a:off x="6277229" y="3703319"/>
            <a:ext cx="5317236" cy="993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77229" y="3703319"/>
            <a:ext cx="5317236" cy="45719"/>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77229" y="3753610"/>
            <a:ext cx="50292" cy="953755"/>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6685" y="3813047"/>
            <a:ext cx="4988051" cy="219254"/>
          </a:xfrm>
          <a:prstGeom prst="rect">
            <a:avLst/>
          </a:prstGeom>
          <a:noFill/>
        </p:spPr>
        <p:txBody>
          <a:bodyPr wrap="square"/>
          <a:lstStyle/>
          <a:p>
            <a:pPr algn="l"/>
            <a:r>
              <a:rPr sz="1100" b="1" i="0">
                <a:solidFill>
                  <a:srgbClr val="3A8C63"/>
                </a:solidFill>
                <a:latin typeface="Calibri"/>
              </a:rPr>
              <a:t>Cluster 2 — Western Highland Markets</a:t>
            </a:r>
          </a:p>
        </p:txBody>
      </p:sp>
      <p:sp>
        <p:nvSpPr>
          <p:cNvPr id="27" name="TextBox 26"/>
          <p:cNvSpPr txBox="1"/>
          <p:nvPr/>
        </p:nvSpPr>
        <p:spPr>
          <a:xfrm>
            <a:off x="6496685" y="4160519"/>
            <a:ext cx="4988051" cy="584678"/>
          </a:xfrm>
          <a:prstGeom prst="rect">
            <a:avLst/>
          </a:prstGeom>
          <a:noFill/>
        </p:spPr>
        <p:txBody>
          <a:bodyPr wrap="square"/>
          <a:lstStyle/>
          <a:p>
            <a:pPr algn="l"/>
            <a:r>
              <a:rPr sz="1050" b="0" i="0">
                <a:solidFill>
                  <a:srgbClr val="3D4D44"/>
                </a:solidFill>
                <a:latin typeface="Calibri Light"/>
              </a:rPr>
              <a:t>Bafoussam, Bamenda area. Moderate price levels; strong cassava and cocoyam supply from fertile highlands. Connected to Centre region supply chain via major road corridors.</a:t>
            </a:r>
          </a:p>
        </p:txBody>
      </p:sp>
      <p:sp>
        <p:nvSpPr>
          <p:cNvPr id="28" name="Rectangle 27"/>
          <p:cNvSpPr/>
          <p:nvPr/>
        </p:nvSpPr>
        <p:spPr>
          <a:xfrm>
            <a:off x="6277356" y="4999024"/>
            <a:ext cx="5317236" cy="9372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77356" y="4999024"/>
            <a:ext cx="5317236" cy="45719"/>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77356" y="5049316"/>
            <a:ext cx="50292" cy="89935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96812" y="5108752"/>
            <a:ext cx="4988051" cy="206749"/>
          </a:xfrm>
          <a:prstGeom prst="rect">
            <a:avLst/>
          </a:prstGeom>
          <a:noFill/>
        </p:spPr>
        <p:txBody>
          <a:bodyPr wrap="square"/>
          <a:lstStyle/>
          <a:p>
            <a:pPr algn="l"/>
            <a:r>
              <a:rPr sz="1100" b="1" i="0" dirty="0">
                <a:solidFill>
                  <a:srgbClr val="1B4D3E"/>
                </a:solidFill>
                <a:latin typeface="Calibri"/>
              </a:rPr>
              <a:t>Cluster 3 — Eastern Border Markets</a:t>
            </a:r>
          </a:p>
        </p:txBody>
      </p:sp>
      <p:sp>
        <p:nvSpPr>
          <p:cNvPr id="32" name="TextBox 31"/>
          <p:cNvSpPr txBox="1"/>
          <p:nvPr/>
        </p:nvSpPr>
        <p:spPr>
          <a:xfrm>
            <a:off x="6496812" y="5456224"/>
            <a:ext cx="4988051" cy="551329"/>
          </a:xfrm>
          <a:prstGeom prst="rect">
            <a:avLst/>
          </a:prstGeom>
          <a:noFill/>
        </p:spPr>
        <p:txBody>
          <a:bodyPr wrap="square"/>
          <a:lstStyle/>
          <a:p>
            <a:pPr algn="l"/>
            <a:r>
              <a:rPr sz="1050" b="0" i="0" dirty="0" err="1">
                <a:solidFill>
                  <a:srgbClr val="3D4D44"/>
                </a:solidFill>
                <a:latin typeface="Calibri Light"/>
              </a:rPr>
              <a:t>Bertoua</a:t>
            </a:r>
            <a:r>
              <a:rPr sz="1050" b="0" i="0" dirty="0">
                <a:solidFill>
                  <a:srgbClr val="3D4D44"/>
                </a:solidFill>
                <a:latin typeface="Calibri Light"/>
              </a:rPr>
              <a:t> and east region. Highest price variance — most exposed to transport disruptions and cross-border trade fluctuations. Least data coverage, indicating monitoring gaps.</a:t>
            </a:r>
          </a:p>
        </p:txBody>
      </p:sp>
      <p:sp>
        <p:nvSpPr>
          <p:cNvPr id="33" name="TextBox 32"/>
          <p:cNvSpPr txBox="1"/>
          <p:nvPr/>
        </p:nvSpPr>
        <p:spPr>
          <a:xfrm>
            <a:off x="6277356" y="6876288"/>
            <a:ext cx="5317236" cy="365760"/>
          </a:xfrm>
          <a:prstGeom prst="rect">
            <a:avLst/>
          </a:prstGeom>
          <a:noFill/>
        </p:spPr>
        <p:txBody>
          <a:bodyPr wrap="square"/>
          <a:lstStyle/>
          <a:p>
            <a:pPr algn="l"/>
            <a:r>
              <a:rPr sz="850" b="0" i="1">
                <a:solidFill>
                  <a:srgbClr val="8A9D92"/>
                </a:solidFill>
                <a:latin typeface="Calibri Light"/>
              </a:rPr>
              <a:t>Note: PCA explains approximately 58% of total variance in the first two components. Remaining variance is distributed across minor price dimensions not fully visible in this 2D projection.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07  |  FORECASTING — MODEL DESIGN</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Lag-Based Random Forest Regressor for Maize Price Prediction</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12 / 16</a:t>
            </a:r>
          </a:p>
        </p:txBody>
      </p:sp>
      <p:sp>
        <p:nvSpPr>
          <p:cNvPr id="10" name="TextBox 9"/>
          <p:cNvSpPr txBox="1"/>
          <p:nvPr/>
        </p:nvSpPr>
        <p:spPr>
          <a:xfrm>
            <a:off x="594360" y="987552"/>
            <a:ext cx="5317236" cy="292608"/>
          </a:xfrm>
          <a:prstGeom prst="rect">
            <a:avLst/>
          </a:prstGeom>
          <a:noFill/>
        </p:spPr>
        <p:txBody>
          <a:bodyPr wrap="square"/>
          <a:lstStyle/>
          <a:p>
            <a:pPr algn="l"/>
            <a:r>
              <a:rPr sz="1300" b="1" i="0">
                <a:solidFill>
                  <a:srgbClr val="1B4D3E"/>
                </a:solidFill>
                <a:latin typeface="Calibri"/>
              </a:rPr>
              <a:t>Feature Engineering</a:t>
            </a:r>
          </a:p>
        </p:txBody>
      </p:sp>
      <p:sp>
        <p:nvSpPr>
          <p:cNvPr id="11" name="Rectangle 10"/>
          <p:cNvSpPr/>
          <p:nvPr/>
        </p:nvSpPr>
        <p:spPr>
          <a:xfrm>
            <a:off x="594360"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444752"/>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1517904"/>
            <a:ext cx="969264" cy="292608"/>
          </a:xfrm>
          <a:prstGeom prst="rect">
            <a:avLst/>
          </a:prstGeom>
          <a:noFill/>
        </p:spPr>
        <p:txBody>
          <a:bodyPr wrap="square"/>
          <a:lstStyle/>
          <a:p>
            <a:pPr algn="l"/>
            <a:r>
              <a:rPr sz="1000" b="1" i="0">
                <a:solidFill>
                  <a:srgbClr val="C98B00"/>
                </a:solidFill>
                <a:latin typeface="Calibri"/>
              </a:rPr>
              <a:t>lag_1</a:t>
            </a:r>
          </a:p>
        </p:txBody>
      </p:sp>
      <p:sp>
        <p:nvSpPr>
          <p:cNvPr id="14" name="TextBox 13"/>
          <p:cNvSpPr txBox="1"/>
          <p:nvPr/>
        </p:nvSpPr>
        <p:spPr>
          <a:xfrm>
            <a:off x="1856231" y="1517904"/>
            <a:ext cx="3945635" cy="347472"/>
          </a:xfrm>
          <a:prstGeom prst="rect">
            <a:avLst/>
          </a:prstGeom>
          <a:noFill/>
        </p:spPr>
        <p:txBody>
          <a:bodyPr wrap="square"/>
          <a:lstStyle/>
          <a:p>
            <a:pPr algn="l"/>
            <a:r>
              <a:rPr sz="1000" b="0" i="0">
                <a:solidFill>
                  <a:srgbClr val="3D4D44"/>
                </a:solidFill>
                <a:latin typeface="Calibri Light"/>
              </a:rPr>
              <a:t>Price one month before the target — strongest predictor</a:t>
            </a:r>
          </a:p>
        </p:txBody>
      </p:sp>
      <p:sp>
        <p:nvSpPr>
          <p:cNvPr id="15" name="Rectangle 14"/>
          <p:cNvSpPr/>
          <p:nvPr/>
        </p:nvSpPr>
        <p:spPr>
          <a:xfrm>
            <a:off x="594360" y="188366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1975104"/>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 y="2048256"/>
            <a:ext cx="969264" cy="292608"/>
          </a:xfrm>
          <a:prstGeom prst="rect">
            <a:avLst/>
          </a:prstGeom>
          <a:noFill/>
        </p:spPr>
        <p:txBody>
          <a:bodyPr wrap="square"/>
          <a:lstStyle/>
          <a:p>
            <a:pPr algn="l"/>
            <a:r>
              <a:rPr sz="1000" b="1" i="0">
                <a:solidFill>
                  <a:srgbClr val="C98B00"/>
                </a:solidFill>
                <a:latin typeface="Calibri"/>
              </a:rPr>
              <a:t>lag_2</a:t>
            </a:r>
          </a:p>
        </p:txBody>
      </p:sp>
      <p:sp>
        <p:nvSpPr>
          <p:cNvPr id="18" name="TextBox 17"/>
          <p:cNvSpPr txBox="1"/>
          <p:nvPr/>
        </p:nvSpPr>
        <p:spPr>
          <a:xfrm>
            <a:off x="1856231" y="2048256"/>
            <a:ext cx="3945635" cy="347472"/>
          </a:xfrm>
          <a:prstGeom prst="rect">
            <a:avLst/>
          </a:prstGeom>
          <a:noFill/>
        </p:spPr>
        <p:txBody>
          <a:bodyPr wrap="square"/>
          <a:lstStyle/>
          <a:p>
            <a:pPr algn="l"/>
            <a:r>
              <a:rPr sz="1000" b="0" i="0">
                <a:solidFill>
                  <a:srgbClr val="3D4D44"/>
                </a:solidFill>
                <a:latin typeface="Calibri Light"/>
              </a:rPr>
              <a:t>Price two months before the target</a:t>
            </a:r>
          </a:p>
        </p:txBody>
      </p:sp>
      <p:sp>
        <p:nvSpPr>
          <p:cNvPr id="19" name="Rectangle 18"/>
          <p:cNvSpPr/>
          <p:nvPr/>
        </p:nvSpPr>
        <p:spPr>
          <a:xfrm>
            <a:off x="594360" y="241401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4360" y="2505456"/>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2578608"/>
            <a:ext cx="969264" cy="292608"/>
          </a:xfrm>
          <a:prstGeom prst="rect">
            <a:avLst/>
          </a:prstGeom>
          <a:noFill/>
        </p:spPr>
        <p:txBody>
          <a:bodyPr wrap="square"/>
          <a:lstStyle/>
          <a:p>
            <a:pPr algn="l"/>
            <a:r>
              <a:rPr sz="1000" b="1" i="0">
                <a:solidFill>
                  <a:srgbClr val="C98B00"/>
                </a:solidFill>
                <a:latin typeface="Calibri"/>
              </a:rPr>
              <a:t>lag_3</a:t>
            </a:r>
          </a:p>
        </p:txBody>
      </p:sp>
      <p:sp>
        <p:nvSpPr>
          <p:cNvPr id="22" name="TextBox 21"/>
          <p:cNvSpPr txBox="1"/>
          <p:nvPr/>
        </p:nvSpPr>
        <p:spPr>
          <a:xfrm>
            <a:off x="1856231" y="2578608"/>
            <a:ext cx="3945635" cy="347472"/>
          </a:xfrm>
          <a:prstGeom prst="rect">
            <a:avLst/>
          </a:prstGeom>
          <a:noFill/>
        </p:spPr>
        <p:txBody>
          <a:bodyPr wrap="square"/>
          <a:lstStyle/>
          <a:p>
            <a:pPr algn="l"/>
            <a:r>
              <a:rPr sz="1000" b="0" i="0">
                <a:solidFill>
                  <a:srgbClr val="3D4D44"/>
                </a:solidFill>
                <a:latin typeface="Calibri Light"/>
              </a:rPr>
              <a:t>Price three months before the target</a:t>
            </a:r>
          </a:p>
        </p:txBody>
      </p:sp>
      <p:sp>
        <p:nvSpPr>
          <p:cNvPr id="23" name="Rectangle 22"/>
          <p:cNvSpPr/>
          <p:nvPr/>
        </p:nvSpPr>
        <p:spPr>
          <a:xfrm>
            <a:off x="594360" y="2944368"/>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3035808"/>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3108960"/>
            <a:ext cx="969264" cy="292608"/>
          </a:xfrm>
          <a:prstGeom prst="rect">
            <a:avLst/>
          </a:prstGeom>
          <a:noFill/>
        </p:spPr>
        <p:txBody>
          <a:bodyPr wrap="square"/>
          <a:lstStyle/>
          <a:p>
            <a:pPr algn="l"/>
            <a:r>
              <a:rPr sz="1000" b="1" i="0">
                <a:solidFill>
                  <a:srgbClr val="C98B00"/>
                </a:solidFill>
                <a:latin typeface="Calibri"/>
              </a:rPr>
              <a:t>lag_4</a:t>
            </a:r>
          </a:p>
        </p:txBody>
      </p:sp>
      <p:sp>
        <p:nvSpPr>
          <p:cNvPr id="26" name="TextBox 25"/>
          <p:cNvSpPr txBox="1"/>
          <p:nvPr/>
        </p:nvSpPr>
        <p:spPr>
          <a:xfrm>
            <a:off x="1856231" y="3108960"/>
            <a:ext cx="3945635" cy="347472"/>
          </a:xfrm>
          <a:prstGeom prst="rect">
            <a:avLst/>
          </a:prstGeom>
          <a:noFill/>
        </p:spPr>
        <p:txBody>
          <a:bodyPr wrap="square"/>
          <a:lstStyle/>
          <a:p>
            <a:pPr algn="l"/>
            <a:r>
              <a:rPr sz="1000" b="0" i="0">
                <a:solidFill>
                  <a:srgbClr val="3D4D44"/>
                </a:solidFill>
                <a:latin typeface="Calibri Light"/>
              </a:rPr>
              <a:t>Price four months before the target</a:t>
            </a:r>
          </a:p>
        </p:txBody>
      </p:sp>
      <p:sp>
        <p:nvSpPr>
          <p:cNvPr id="27" name="Rectangle 26"/>
          <p:cNvSpPr/>
          <p:nvPr/>
        </p:nvSpPr>
        <p:spPr>
          <a:xfrm>
            <a:off x="594360" y="3474720"/>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94360" y="3566160"/>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3639312"/>
            <a:ext cx="969264" cy="292608"/>
          </a:xfrm>
          <a:prstGeom prst="rect">
            <a:avLst/>
          </a:prstGeom>
          <a:noFill/>
        </p:spPr>
        <p:txBody>
          <a:bodyPr wrap="square"/>
          <a:lstStyle/>
          <a:p>
            <a:pPr algn="l"/>
            <a:r>
              <a:rPr sz="1000" b="1" i="0">
                <a:solidFill>
                  <a:srgbClr val="C98B00"/>
                </a:solidFill>
                <a:latin typeface="Calibri"/>
              </a:rPr>
              <a:t>lag_5</a:t>
            </a:r>
          </a:p>
        </p:txBody>
      </p:sp>
      <p:sp>
        <p:nvSpPr>
          <p:cNvPr id="30" name="TextBox 29"/>
          <p:cNvSpPr txBox="1"/>
          <p:nvPr/>
        </p:nvSpPr>
        <p:spPr>
          <a:xfrm>
            <a:off x="1856231" y="3639312"/>
            <a:ext cx="3945635" cy="347472"/>
          </a:xfrm>
          <a:prstGeom prst="rect">
            <a:avLst/>
          </a:prstGeom>
          <a:noFill/>
        </p:spPr>
        <p:txBody>
          <a:bodyPr wrap="square"/>
          <a:lstStyle/>
          <a:p>
            <a:pPr algn="l"/>
            <a:r>
              <a:rPr sz="1000" b="0" i="0">
                <a:solidFill>
                  <a:srgbClr val="3D4D44"/>
                </a:solidFill>
                <a:latin typeface="Calibri Light"/>
              </a:rPr>
              <a:t>Price five months before the target</a:t>
            </a:r>
          </a:p>
        </p:txBody>
      </p:sp>
      <p:sp>
        <p:nvSpPr>
          <p:cNvPr id="31" name="Rectangle 30"/>
          <p:cNvSpPr/>
          <p:nvPr/>
        </p:nvSpPr>
        <p:spPr>
          <a:xfrm>
            <a:off x="594360" y="4005072"/>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 y="4096512"/>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4088" y="4169664"/>
            <a:ext cx="969264" cy="292608"/>
          </a:xfrm>
          <a:prstGeom prst="rect">
            <a:avLst/>
          </a:prstGeom>
          <a:noFill/>
        </p:spPr>
        <p:txBody>
          <a:bodyPr wrap="square"/>
          <a:lstStyle/>
          <a:p>
            <a:pPr algn="l"/>
            <a:r>
              <a:rPr sz="1000" b="1" i="0">
                <a:solidFill>
                  <a:srgbClr val="C98B00"/>
                </a:solidFill>
                <a:latin typeface="Calibri"/>
              </a:rPr>
              <a:t>lag_6</a:t>
            </a:r>
          </a:p>
        </p:txBody>
      </p:sp>
      <p:sp>
        <p:nvSpPr>
          <p:cNvPr id="34" name="TextBox 33"/>
          <p:cNvSpPr txBox="1"/>
          <p:nvPr/>
        </p:nvSpPr>
        <p:spPr>
          <a:xfrm>
            <a:off x="1856231" y="4169664"/>
            <a:ext cx="3945635" cy="347472"/>
          </a:xfrm>
          <a:prstGeom prst="rect">
            <a:avLst/>
          </a:prstGeom>
          <a:noFill/>
        </p:spPr>
        <p:txBody>
          <a:bodyPr wrap="square"/>
          <a:lstStyle/>
          <a:p>
            <a:pPr algn="l"/>
            <a:r>
              <a:rPr sz="1000" b="0" i="0">
                <a:solidFill>
                  <a:srgbClr val="3D4D44"/>
                </a:solidFill>
                <a:latin typeface="Calibri Light"/>
              </a:rPr>
              <a:t>Price six months before the target</a:t>
            </a:r>
          </a:p>
        </p:txBody>
      </p:sp>
      <p:sp>
        <p:nvSpPr>
          <p:cNvPr id="35" name="Rectangle 34"/>
          <p:cNvSpPr/>
          <p:nvPr/>
        </p:nvSpPr>
        <p:spPr>
          <a:xfrm>
            <a:off x="594360" y="453542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94360" y="4626864"/>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4088" y="4700016"/>
            <a:ext cx="969264" cy="292608"/>
          </a:xfrm>
          <a:prstGeom prst="rect">
            <a:avLst/>
          </a:prstGeom>
          <a:noFill/>
        </p:spPr>
        <p:txBody>
          <a:bodyPr wrap="square"/>
          <a:lstStyle/>
          <a:p>
            <a:pPr algn="l"/>
            <a:r>
              <a:rPr sz="1000" b="1" i="0">
                <a:solidFill>
                  <a:srgbClr val="C98B00"/>
                </a:solidFill>
                <a:latin typeface="Calibri"/>
              </a:rPr>
              <a:t>year</a:t>
            </a:r>
          </a:p>
        </p:txBody>
      </p:sp>
      <p:sp>
        <p:nvSpPr>
          <p:cNvPr id="38" name="TextBox 37"/>
          <p:cNvSpPr txBox="1"/>
          <p:nvPr/>
        </p:nvSpPr>
        <p:spPr>
          <a:xfrm>
            <a:off x="1856231" y="4700016"/>
            <a:ext cx="3945635" cy="347472"/>
          </a:xfrm>
          <a:prstGeom prst="rect">
            <a:avLst/>
          </a:prstGeom>
          <a:noFill/>
        </p:spPr>
        <p:txBody>
          <a:bodyPr wrap="square"/>
          <a:lstStyle/>
          <a:p>
            <a:pPr algn="l"/>
            <a:r>
              <a:rPr sz="1000" b="0" i="0">
                <a:solidFill>
                  <a:srgbClr val="3D4D44"/>
                </a:solidFill>
                <a:latin typeface="Calibri Light"/>
              </a:rPr>
              <a:t>Integer calendar year — captures long-run trend</a:t>
            </a:r>
          </a:p>
        </p:txBody>
      </p:sp>
      <p:sp>
        <p:nvSpPr>
          <p:cNvPr id="39" name="Rectangle 38"/>
          <p:cNvSpPr/>
          <p:nvPr/>
        </p:nvSpPr>
        <p:spPr>
          <a:xfrm>
            <a:off x="594360" y="5065775"/>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94360" y="5157216"/>
            <a:ext cx="1143000" cy="420624"/>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4088" y="5230368"/>
            <a:ext cx="969264" cy="292608"/>
          </a:xfrm>
          <a:prstGeom prst="rect">
            <a:avLst/>
          </a:prstGeom>
          <a:noFill/>
        </p:spPr>
        <p:txBody>
          <a:bodyPr wrap="square"/>
          <a:lstStyle/>
          <a:p>
            <a:pPr algn="l"/>
            <a:r>
              <a:rPr sz="1000" b="1" i="0">
                <a:solidFill>
                  <a:srgbClr val="C98B00"/>
                </a:solidFill>
                <a:latin typeface="Calibri"/>
              </a:rPr>
              <a:t>month</a:t>
            </a:r>
          </a:p>
        </p:txBody>
      </p:sp>
      <p:sp>
        <p:nvSpPr>
          <p:cNvPr id="42" name="TextBox 41"/>
          <p:cNvSpPr txBox="1"/>
          <p:nvPr/>
        </p:nvSpPr>
        <p:spPr>
          <a:xfrm>
            <a:off x="1856231" y="5230368"/>
            <a:ext cx="3945635" cy="347472"/>
          </a:xfrm>
          <a:prstGeom prst="rect">
            <a:avLst/>
          </a:prstGeom>
          <a:noFill/>
        </p:spPr>
        <p:txBody>
          <a:bodyPr wrap="square"/>
          <a:lstStyle/>
          <a:p>
            <a:pPr algn="l"/>
            <a:r>
              <a:rPr sz="1000" b="0" i="0">
                <a:solidFill>
                  <a:srgbClr val="3D4D44"/>
                </a:solidFill>
                <a:latin typeface="Calibri Light"/>
              </a:rPr>
              <a:t>Calendar month 1–12 — captures seasonality</a:t>
            </a:r>
          </a:p>
        </p:txBody>
      </p:sp>
      <p:sp>
        <p:nvSpPr>
          <p:cNvPr id="43" name="Rectangle 42"/>
          <p:cNvSpPr/>
          <p:nvPr/>
        </p:nvSpPr>
        <p:spPr>
          <a:xfrm>
            <a:off x="594360" y="5596127"/>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94360" y="5673655"/>
            <a:ext cx="5317236" cy="292608"/>
          </a:xfrm>
          <a:prstGeom prst="rect">
            <a:avLst/>
          </a:prstGeom>
          <a:noFill/>
        </p:spPr>
        <p:txBody>
          <a:bodyPr wrap="square"/>
          <a:lstStyle/>
          <a:p>
            <a:pPr algn="l"/>
            <a:r>
              <a:rPr lang="en-US" sz="1100" b="1" i="0" dirty="0">
                <a:solidFill>
                  <a:srgbClr val="1B4D3E"/>
                </a:solidFill>
                <a:latin typeface="Calibri"/>
              </a:rPr>
              <a:t>Commodity choice — why</a:t>
            </a:r>
            <a:r>
              <a:rPr lang="en-CM" sz="1100" b="1" i="0" dirty="0">
                <a:solidFill>
                  <a:srgbClr val="1B4D3E"/>
                </a:solidFill>
                <a:latin typeface="Calibri"/>
              </a:rPr>
              <a:t> </a:t>
            </a:r>
            <a:r>
              <a:rPr lang="en-US" sz="1100" b="1" i="0" dirty="0">
                <a:solidFill>
                  <a:srgbClr val="1B4D3E"/>
                </a:solidFill>
                <a:latin typeface="Calibri"/>
              </a:rPr>
              <a:t>Maize (white)?</a:t>
            </a:r>
          </a:p>
        </p:txBody>
      </p:sp>
      <p:sp>
        <p:nvSpPr>
          <p:cNvPr id="45" name="Rectangle 44"/>
          <p:cNvSpPr/>
          <p:nvPr/>
        </p:nvSpPr>
        <p:spPr>
          <a:xfrm>
            <a:off x="594360" y="5930341"/>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4630" y="6031778"/>
            <a:ext cx="5317236" cy="914400"/>
          </a:xfrm>
          <a:prstGeom prst="rect">
            <a:avLst/>
          </a:prstGeom>
          <a:noFill/>
        </p:spPr>
        <p:txBody>
          <a:bodyPr wrap="square"/>
          <a:lstStyle/>
          <a:p>
            <a:pPr algn="l"/>
            <a:r>
              <a:rPr sz="900" b="0" i="0" dirty="0">
                <a:solidFill>
                  <a:srgbClr val="3D4D44"/>
                </a:solidFill>
                <a:latin typeface="Calibri Light"/>
              </a:rPr>
              <a:t>Maize (white) has the most complete monthly time-series across all nine regions, providing 255 consecutive national average observations from 2005 to 2026. Other commodities have missing months that would require imputation, introducing additional uncertainty.</a:t>
            </a:r>
          </a:p>
        </p:txBody>
      </p:sp>
      <p:sp>
        <p:nvSpPr>
          <p:cNvPr id="47" name="TextBox 46"/>
          <p:cNvSpPr txBox="1"/>
          <p:nvPr/>
        </p:nvSpPr>
        <p:spPr>
          <a:xfrm>
            <a:off x="6277356" y="987552"/>
            <a:ext cx="5317236" cy="292608"/>
          </a:xfrm>
          <a:prstGeom prst="rect">
            <a:avLst/>
          </a:prstGeom>
          <a:noFill/>
        </p:spPr>
        <p:txBody>
          <a:bodyPr wrap="square"/>
          <a:lstStyle/>
          <a:p>
            <a:pPr algn="l"/>
            <a:r>
              <a:rPr sz="1300" b="1" i="0">
                <a:solidFill>
                  <a:srgbClr val="1B4D3E"/>
                </a:solidFill>
                <a:latin typeface="Calibri"/>
              </a:rPr>
              <a:t>Model Configuration</a:t>
            </a:r>
          </a:p>
        </p:txBody>
      </p:sp>
      <p:sp>
        <p:nvSpPr>
          <p:cNvPr id="48" name="Rectangle 47"/>
          <p:cNvSpPr/>
          <p:nvPr/>
        </p:nvSpPr>
        <p:spPr>
          <a:xfrm>
            <a:off x="6277356" y="1316736"/>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77356" y="1444752"/>
            <a:ext cx="1828800" cy="420624"/>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5372" y="1517904"/>
            <a:ext cx="1664208" cy="292608"/>
          </a:xfrm>
          <a:prstGeom prst="rect">
            <a:avLst/>
          </a:prstGeom>
          <a:noFill/>
        </p:spPr>
        <p:txBody>
          <a:bodyPr wrap="square"/>
          <a:lstStyle/>
          <a:p>
            <a:pPr algn="l"/>
            <a:r>
              <a:rPr sz="950" b="1" i="0">
                <a:solidFill>
                  <a:srgbClr val="1B4D3E"/>
                </a:solidFill>
                <a:latin typeface="Calibri"/>
              </a:rPr>
              <a:t>Algorithm</a:t>
            </a:r>
          </a:p>
        </p:txBody>
      </p:sp>
      <p:sp>
        <p:nvSpPr>
          <p:cNvPr id="51" name="TextBox 50"/>
          <p:cNvSpPr txBox="1"/>
          <p:nvPr/>
        </p:nvSpPr>
        <p:spPr>
          <a:xfrm>
            <a:off x="8234172" y="1517904"/>
            <a:ext cx="3268979" cy="347472"/>
          </a:xfrm>
          <a:prstGeom prst="rect">
            <a:avLst/>
          </a:prstGeom>
          <a:noFill/>
        </p:spPr>
        <p:txBody>
          <a:bodyPr wrap="square"/>
          <a:lstStyle/>
          <a:p>
            <a:pPr algn="l"/>
            <a:r>
              <a:rPr sz="1000" b="0" i="0">
                <a:solidFill>
                  <a:srgbClr val="3D4D44"/>
                </a:solidFill>
                <a:latin typeface="Calibri Light"/>
              </a:rPr>
              <a:t>Random Forest Regressor (scikit-learn)</a:t>
            </a:r>
          </a:p>
        </p:txBody>
      </p:sp>
      <p:sp>
        <p:nvSpPr>
          <p:cNvPr id="52" name="Rectangle 51"/>
          <p:cNvSpPr/>
          <p:nvPr/>
        </p:nvSpPr>
        <p:spPr>
          <a:xfrm>
            <a:off x="6277356" y="188366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277356" y="1993392"/>
            <a:ext cx="1828800" cy="420624"/>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5372" y="2066544"/>
            <a:ext cx="1664208" cy="292608"/>
          </a:xfrm>
          <a:prstGeom prst="rect">
            <a:avLst/>
          </a:prstGeom>
          <a:noFill/>
        </p:spPr>
        <p:txBody>
          <a:bodyPr wrap="square"/>
          <a:lstStyle/>
          <a:p>
            <a:pPr algn="l"/>
            <a:r>
              <a:rPr sz="950" b="1" i="0">
                <a:solidFill>
                  <a:srgbClr val="1B4D3E"/>
                </a:solidFill>
                <a:latin typeface="Calibri"/>
              </a:rPr>
              <a:t>Trees</a:t>
            </a:r>
          </a:p>
        </p:txBody>
      </p:sp>
      <p:sp>
        <p:nvSpPr>
          <p:cNvPr id="55" name="TextBox 54"/>
          <p:cNvSpPr txBox="1"/>
          <p:nvPr/>
        </p:nvSpPr>
        <p:spPr>
          <a:xfrm>
            <a:off x="8234172" y="2066544"/>
            <a:ext cx="3268979" cy="347472"/>
          </a:xfrm>
          <a:prstGeom prst="rect">
            <a:avLst/>
          </a:prstGeom>
          <a:noFill/>
        </p:spPr>
        <p:txBody>
          <a:bodyPr wrap="square"/>
          <a:lstStyle/>
          <a:p>
            <a:pPr algn="l"/>
            <a:r>
              <a:rPr sz="1000" b="0" i="0">
                <a:solidFill>
                  <a:srgbClr val="3D4D44"/>
                </a:solidFill>
                <a:latin typeface="Calibri Light"/>
              </a:rPr>
              <a:t>100 estimators</a:t>
            </a:r>
          </a:p>
        </p:txBody>
      </p:sp>
      <p:sp>
        <p:nvSpPr>
          <p:cNvPr id="56" name="Rectangle 55"/>
          <p:cNvSpPr/>
          <p:nvPr/>
        </p:nvSpPr>
        <p:spPr>
          <a:xfrm>
            <a:off x="6277356" y="243230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277356" y="2542032"/>
            <a:ext cx="1828800" cy="420624"/>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5372" y="2615184"/>
            <a:ext cx="1664208" cy="292608"/>
          </a:xfrm>
          <a:prstGeom prst="rect">
            <a:avLst/>
          </a:prstGeom>
          <a:noFill/>
        </p:spPr>
        <p:txBody>
          <a:bodyPr wrap="square"/>
          <a:lstStyle/>
          <a:p>
            <a:pPr algn="l"/>
            <a:r>
              <a:rPr sz="950" b="1" i="0">
                <a:solidFill>
                  <a:srgbClr val="1B4D3E"/>
                </a:solidFill>
                <a:latin typeface="Calibri"/>
              </a:rPr>
              <a:t>Max depth</a:t>
            </a:r>
          </a:p>
        </p:txBody>
      </p:sp>
      <p:sp>
        <p:nvSpPr>
          <p:cNvPr id="59" name="TextBox 58"/>
          <p:cNvSpPr txBox="1"/>
          <p:nvPr/>
        </p:nvSpPr>
        <p:spPr>
          <a:xfrm>
            <a:off x="8234172" y="2615184"/>
            <a:ext cx="3268979" cy="347472"/>
          </a:xfrm>
          <a:prstGeom prst="rect">
            <a:avLst/>
          </a:prstGeom>
          <a:noFill/>
        </p:spPr>
        <p:txBody>
          <a:bodyPr wrap="square"/>
          <a:lstStyle/>
          <a:p>
            <a:pPr algn="l"/>
            <a:r>
              <a:rPr sz="1000" b="0" i="0">
                <a:solidFill>
                  <a:srgbClr val="3D4D44"/>
                </a:solidFill>
                <a:latin typeface="Calibri Light"/>
              </a:rPr>
              <a:t>None (fully grown trees)</a:t>
            </a:r>
          </a:p>
        </p:txBody>
      </p:sp>
      <p:sp>
        <p:nvSpPr>
          <p:cNvPr id="60" name="Rectangle 59"/>
          <p:cNvSpPr/>
          <p:nvPr/>
        </p:nvSpPr>
        <p:spPr>
          <a:xfrm>
            <a:off x="6277356" y="298094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277356" y="3090672"/>
            <a:ext cx="1828800" cy="420624"/>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5372" y="3163824"/>
            <a:ext cx="1664208" cy="292608"/>
          </a:xfrm>
          <a:prstGeom prst="rect">
            <a:avLst/>
          </a:prstGeom>
          <a:noFill/>
        </p:spPr>
        <p:txBody>
          <a:bodyPr wrap="square"/>
          <a:lstStyle/>
          <a:p>
            <a:pPr algn="l"/>
            <a:r>
              <a:rPr sz="950" b="1" i="0">
                <a:solidFill>
                  <a:srgbClr val="1B4D3E"/>
                </a:solidFill>
                <a:latin typeface="Calibri"/>
              </a:rPr>
              <a:t>Train split</a:t>
            </a:r>
          </a:p>
        </p:txBody>
      </p:sp>
      <p:sp>
        <p:nvSpPr>
          <p:cNvPr id="63" name="TextBox 62"/>
          <p:cNvSpPr txBox="1"/>
          <p:nvPr/>
        </p:nvSpPr>
        <p:spPr>
          <a:xfrm>
            <a:off x="8234172" y="3163824"/>
            <a:ext cx="3268979" cy="347472"/>
          </a:xfrm>
          <a:prstGeom prst="rect">
            <a:avLst/>
          </a:prstGeom>
          <a:noFill/>
        </p:spPr>
        <p:txBody>
          <a:bodyPr wrap="square"/>
          <a:lstStyle/>
          <a:p>
            <a:pPr algn="l"/>
            <a:r>
              <a:rPr sz="1000" b="0" i="0">
                <a:solidFill>
                  <a:srgbClr val="3D4D44"/>
                </a:solidFill>
                <a:latin typeface="Calibri Light"/>
              </a:rPr>
              <a:t>First 80% of timeline (temporal — no shuffling)</a:t>
            </a:r>
          </a:p>
        </p:txBody>
      </p:sp>
      <p:sp>
        <p:nvSpPr>
          <p:cNvPr id="64" name="Rectangle 63"/>
          <p:cNvSpPr/>
          <p:nvPr/>
        </p:nvSpPr>
        <p:spPr>
          <a:xfrm>
            <a:off x="6277356" y="352958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77356" y="3639312"/>
            <a:ext cx="1828800" cy="420624"/>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05372" y="3712463"/>
            <a:ext cx="1664208" cy="292608"/>
          </a:xfrm>
          <a:prstGeom prst="rect">
            <a:avLst/>
          </a:prstGeom>
          <a:noFill/>
        </p:spPr>
        <p:txBody>
          <a:bodyPr wrap="square"/>
          <a:lstStyle/>
          <a:p>
            <a:pPr algn="l"/>
            <a:r>
              <a:rPr sz="950" b="1" i="0">
                <a:solidFill>
                  <a:srgbClr val="1B4D3E"/>
                </a:solidFill>
                <a:latin typeface="Calibri"/>
              </a:rPr>
              <a:t>Test split</a:t>
            </a:r>
          </a:p>
        </p:txBody>
      </p:sp>
      <p:sp>
        <p:nvSpPr>
          <p:cNvPr id="67" name="TextBox 66"/>
          <p:cNvSpPr txBox="1"/>
          <p:nvPr/>
        </p:nvSpPr>
        <p:spPr>
          <a:xfrm>
            <a:off x="8234172" y="3712463"/>
            <a:ext cx="3268979" cy="347472"/>
          </a:xfrm>
          <a:prstGeom prst="rect">
            <a:avLst/>
          </a:prstGeom>
          <a:noFill/>
        </p:spPr>
        <p:txBody>
          <a:bodyPr wrap="square"/>
          <a:lstStyle/>
          <a:p>
            <a:pPr algn="l"/>
            <a:r>
              <a:rPr sz="1000" b="0" i="0">
                <a:solidFill>
                  <a:srgbClr val="3D4D44"/>
                </a:solidFill>
                <a:latin typeface="Calibri Light"/>
              </a:rPr>
              <a:t>Final 20% — strictly future observations</a:t>
            </a:r>
          </a:p>
        </p:txBody>
      </p:sp>
      <p:sp>
        <p:nvSpPr>
          <p:cNvPr id="68" name="Rectangle 67"/>
          <p:cNvSpPr/>
          <p:nvPr/>
        </p:nvSpPr>
        <p:spPr>
          <a:xfrm>
            <a:off x="6277356" y="407822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6277356" y="4187952"/>
            <a:ext cx="1828800" cy="420624"/>
          </a:xfrm>
          <a:prstGeom prst="rect">
            <a:avLst/>
          </a:prstGeom>
          <a:solidFill>
            <a:srgbClr val="EC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05372" y="4261104"/>
            <a:ext cx="1664208" cy="292608"/>
          </a:xfrm>
          <a:prstGeom prst="rect">
            <a:avLst/>
          </a:prstGeom>
          <a:noFill/>
        </p:spPr>
        <p:txBody>
          <a:bodyPr wrap="square"/>
          <a:lstStyle/>
          <a:p>
            <a:pPr algn="l"/>
            <a:r>
              <a:rPr sz="950" b="1" i="0">
                <a:solidFill>
                  <a:srgbClr val="1B4D3E"/>
                </a:solidFill>
                <a:latin typeface="Calibri"/>
              </a:rPr>
              <a:t>Target variable</a:t>
            </a:r>
          </a:p>
        </p:txBody>
      </p:sp>
      <p:sp>
        <p:nvSpPr>
          <p:cNvPr id="71" name="TextBox 70"/>
          <p:cNvSpPr txBox="1"/>
          <p:nvPr/>
        </p:nvSpPr>
        <p:spPr>
          <a:xfrm>
            <a:off x="8234172" y="4261104"/>
            <a:ext cx="3268979" cy="347472"/>
          </a:xfrm>
          <a:prstGeom prst="rect">
            <a:avLst/>
          </a:prstGeom>
          <a:noFill/>
        </p:spPr>
        <p:txBody>
          <a:bodyPr wrap="square"/>
          <a:lstStyle/>
          <a:p>
            <a:pPr algn="l"/>
            <a:r>
              <a:rPr sz="1000" b="0" i="0">
                <a:solidFill>
                  <a:srgbClr val="3D4D44"/>
                </a:solidFill>
                <a:latin typeface="Calibri Light"/>
              </a:rPr>
              <a:t>Monthly national average Maize price (XAF)</a:t>
            </a:r>
          </a:p>
        </p:txBody>
      </p:sp>
      <p:sp>
        <p:nvSpPr>
          <p:cNvPr id="72" name="Rectangle 71"/>
          <p:cNvSpPr/>
          <p:nvPr/>
        </p:nvSpPr>
        <p:spPr>
          <a:xfrm>
            <a:off x="6277356" y="4626864"/>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277356" y="4828032"/>
            <a:ext cx="5317236" cy="292608"/>
          </a:xfrm>
          <a:prstGeom prst="rect">
            <a:avLst/>
          </a:prstGeom>
          <a:noFill/>
        </p:spPr>
        <p:txBody>
          <a:bodyPr wrap="square"/>
          <a:lstStyle/>
          <a:p>
            <a:pPr algn="l"/>
            <a:r>
              <a:rPr sz="1100" b="1" i="0">
                <a:solidFill>
                  <a:srgbClr val="1B4D3E"/>
                </a:solidFill>
                <a:latin typeface="Calibri"/>
              </a:rPr>
              <a:t>Why temporal split?</a:t>
            </a:r>
          </a:p>
        </p:txBody>
      </p:sp>
      <p:sp>
        <p:nvSpPr>
          <p:cNvPr id="74" name="Rectangle 73"/>
          <p:cNvSpPr/>
          <p:nvPr/>
        </p:nvSpPr>
        <p:spPr>
          <a:xfrm>
            <a:off x="6277356" y="5138928"/>
            <a:ext cx="5317236"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277356" y="5266944"/>
            <a:ext cx="5317236" cy="861364"/>
          </a:xfrm>
          <a:prstGeom prst="rect">
            <a:avLst/>
          </a:prstGeom>
          <a:noFill/>
        </p:spPr>
        <p:txBody>
          <a:bodyPr wrap="square"/>
          <a:lstStyle/>
          <a:p>
            <a:pPr algn="l"/>
            <a:r>
              <a:rPr sz="900" b="0" i="0" dirty="0">
                <a:solidFill>
                  <a:srgbClr val="3D4D44"/>
                </a:solidFill>
                <a:latin typeface="Calibri Light"/>
              </a:rPr>
              <a:t>A random shuffle split would allow the model to see future data during training — an unrealistic advantage called data leakage. A temporal split ensures the model is only evaluated on observations it could not have encountered during training, producing an honest estimate of real-world forecast performance.</a:t>
            </a:r>
          </a:p>
        </p:txBody>
      </p:sp>
      <p:sp>
        <p:nvSpPr>
          <p:cNvPr id="76" name="TextBox 75"/>
          <p:cNvSpPr txBox="1"/>
          <p:nvPr/>
        </p:nvSpPr>
        <p:spPr>
          <a:xfrm>
            <a:off x="6277356" y="6025035"/>
            <a:ext cx="5317236" cy="594360"/>
          </a:xfrm>
          <a:prstGeom prst="rect">
            <a:avLst/>
          </a:prstGeom>
          <a:noFill/>
        </p:spPr>
        <p:txBody>
          <a:bodyPr wrap="square"/>
          <a:lstStyle/>
          <a:p>
            <a:pPr algn="l"/>
            <a:r>
              <a:rPr sz="950" b="0" i="1" dirty="0">
                <a:solidFill>
                  <a:srgbClr val="8A9D92"/>
                </a:solidFill>
                <a:latin typeface="Calibri Light"/>
              </a:rPr>
              <a:t>Limitations acknowledged: The model does not incorporate weather, conflict, or exchange rate data. Incorporating external shocks as features would substantially improve R2.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1925"/>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07  |  FORECASTING — RESULTS</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Actual vs Predicted Maize Prices and Model Evaluation Metrics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13 / 16</a:t>
            </a:r>
          </a:p>
        </p:txBody>
      </p:sp>
      <p:sp>
        <p:nvSpPr>
          <p:cNvPr id="10" name="Rectangle 9"/>
          <p:cNvSpPr/>
          <p:nvPr/>
        </p:nvSpPr>
        <p:spPr>
          <a:xfrm>
            <a:off x="594360" y="987551"/>
            <a:ext cx="3453384" cy="1090635"/>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987552"/>
            <a:ext cx="3453384"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078992"/>
            <a:ext cx="3453384" cy="475488"/>
          </a:xfrm>
          <a:prstGeom prst="rect">
            <a:avLst/>
          </a:prstGeom>
          <a:noFill/>
        </p:spPr>
        <p:txBody>
          <a:bodyPr wrap="square"/>
          <a:lstStyle/>
          <a:p>
            <a:pPr algn="ctr"/>
            <a:r>
              <a:rPr sz="2600" b="1" i="0">
                <a:solidFill>
                  <a:srgbClr val="C98B00"/>
                </a:solidFill>
                <a:latin typeface="Calibri"/>
              </a:rPr>
              <a:t>0.48</a:t>
            </a:r>
          </a:p>
        </p:txBody>
      </p:sp>
      <p:sp>
        <p:nvSpPr>
          <p:cNvPr id="13" name="TextBox 12"/>
          <p:cNvSpPr txBox="1"/>
          <p:nvPr/>
        </p:nvSpPr>
        <p:spPr>
          <a:xfrm>
            <a:off x="594360" y="1554480"/>
            <a:ext cx="3453384" cy="237744"/>
          </a:xfrm>
          <a:prstGeom prst="rect">
            <a:avLst/>
          </a:prstGeom>
          <a:noFill/>
        </p:spPr>
        <p:txBody>
          <a:bodyPr wrap="square"/>
          <a:lstStyle/>
          <a:p>
            <a:pPr algn="ctr"/>
            <a:r>
              <a:rPr sz="1000" b="1" i="0">
                <a:solidFill>
                  <a:srgbClr val="FFFFFF"/>
                </a:solidFill>
                <a:latin typeface="Calibri"/>
              </a:rPr>
              <a:t>R-Squared</a:t>
            </a:r>
          </a:p>
        </p:txBody>
      </p:sp>
      <p:sp>
        <p:nvSpPr>
          <p:cNvPr id="14" name="TextBox 13"/>
          <p:cNvSpPr txBox="1"/>
          <p:nvPr/>
        </p:nvSpPr>
        <p:spPr>
          <a:xfrm>
            <a:off x="859155" y="1792224"/>
            <a:ext cx="2923794" cy="256032"/>
          </a:xfrm>
          <a:prstGeom prst="rect">
            <a:avLst/>
          </a:prstGeom>
          <a:noFill/>
        </p:spPr>
        <p:txBody>
          <a:bodyPr wrap="square"/>
          <a:lstStyle/>
          <a:p>
            <a:pPr algn="ctr"/>
            <a:r>
              <a:rPr sz="850" b="0" i="0" dirty="0">
                <a:solidFill>
                  <a:srgbClr val="52B788"/>
                </a:solidFill>
                <a:latin typeface="Calibri Light"/>
              </a:rPr>
              <a:t>Lag features explain 48% of monthly price variance</a:t>
            </a:r>
          </a:p>
        </p:txBody>
      </p:sp>
      <p:sp>
        <p:nvSpPr>
          <p:cNvPr id="15" name="Rectangle 14"/>
          <p:cNvSpPr/>
          <p:nvPr/>
        </p:nvSpPr>
        <p:spPr>
          <a:xfrm>
            <a:off x="4367784" y="987551"/>
            <a:ext cx="3453384" cy="1090635"/>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67784" y="987552"/>
            <a:ext cx="3453384" cy="50292"/>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7784" y="1078992"/>
            <a:ext cx="3453384" cy="475488"/>
          </a:xfrm>
          <a:prstGeom prst="rect">
            <a:avLst/>
          </a:prstGeom>
          <a:noFill/>
        </p:spPr>
        <p:txBody>
          <a:bodyPr wrap="square"/>
          <a:lstStyle/>
          <a:p>
            <a:pPr algn="ctr"/>
            <a:r>
              <a:rPr sz="2600" b="1" i="0">
                <a:solidFill>
                  <a:srgbClr val="52B788"/>
                </a:solidFill>
                <a:latin typeface="Calibri"/>
              </a:rPr>
              <a:t>59.96 XAF</a:t>
            </a:r>
          </a:p>
        </p:txBody>
      </p:sp>
      <p:sp>
        <p:nvSpPr>
          <p:cNvPr id="18" name="TextBox 17"/>
          <p:cNvSpPr txBox="1"/>
          <p:nvPr/>
        </p:nvSpPr>
        <p:spPr>
          <a:xfrm>
            <a:off x="4367784" y="1554480"/>
            <a:ext cx="3453384" cy="237744"/>
          </a:xfrm>
          <a:prstGeom prst="rect">
            <a:avLst/>
          </a:prstGeom>
          <a:noFill/>
        </p:spPr>
        <p:txBody>
          <a:bodyPr wrap="square"/>
          <a:lstStyle/>
          <a:p>
            <a:pPr algn="ctr"/>
            <a:r>
              <a:rPr sz="1000" b="1" i="0">
                <a:solidFill>
                  <a:srgbClr val="FFFFFF"/>
                </a:solidFill>
                <a:latin typeface="Calibri"/>
              </a:rPr>
              <a:t>RMSE</a:t>
            </a:r>
          </a:p>
        </p:txBody>
      </p:sp>
      <p:sp>
        <p:nvSpPr>
          <p:cNvPr id="19" name="TextBox 18"/>
          <p:cNvSpPr txBox="1"/>
          <p:nvPr/>
        </p:nvSpPr>
        <p:spPr>
          <a:xfrm>
            <a:off x="4541265" y="1784329"/>
            <a:ext cx="3106293" cy="256032"/>
          </a:xfrm>
          <a:prstGeom prst="rect">
            <a:avLst/>
          </a:prstGeom>
          <a:noFill/>
        </p:spPr>
        <p:txBody>
          <a:bodyPr wrap="square"/>
          <a:lstStyle/>
          <a:p>
            <a:pPr algn="ctr"/>
            <a:r>
              <a:rPr sz="850" b="0" i="0" dirty="0">
                <a:solidFill>
                  <a:srgbClr val="52B788"/>
                </a:solidFill>
                <a:latin typeface="Calibri Light"/>
              </a:rPr>
              <a:t>Root mean squared error on the held-out test period</a:t>
            </a:r>
          </a:p>
        </p:txBody>
      </p:sp>
      <p:sp>
        <p:nvSpPr>
          <p:cNvPr id="20" name="Rectangle 19"/>
          <p:cNvSpPr/>
          <p:nvPr/>
        </p:nvSpPr>
        <p:spPr>
          <a:xfrm>
            <a:off x="8141208" y="987551"/>
            <a:ext cx="3453384" cy="1090635"/>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41208" y="987552"/>
            <a:ext cx="3453384" cy="50292"/>
          </a:xfrm>
          <a:prstGeom prst="rect">
            <a:avLst/>
          </a:prstGeom>
          <a:solidFill>
            <a:srgbClr val="E8A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41208" y="1078992"/>
            <a:ext cx="3453384" cy="475488"/>
          </a:xfrm>
          <a:prstGeom prst="rect">
            <a:avLst/>
          </a:prstGeom>
          <a:noFill/>
        </p:spPr>
        <p:txBody>
          <a:bodyPr wrap="square"/>
          <a:lstStyle/>
          <a:p>
            <a:pPr algn="ctr"/>
            <a:r>
              <a:rPr sz="2600" b="1" i="0">
                <a:solidFill>
                  <a:srgbClr val="E8A820"/>
                </a:solidFill>
                <a:latin typeface="Calibri"/>
              </a:rPr>
              <a:t>35.05 XAF</a:t>
            </a:r>
          </a:p>
        </p:txBody>
      </p:sp>
      <p:sp>
        <p:nvSpPr>
          <p:cNvPr id="23" name="TextBox 22"/>
          <p:cNvSpPr txBox="1"/>
          <p:nvPr/>
        </p:nvSpPr>
        <p:spPr>
          <a:xfrm>
            <a:off x="8141208" y="1554480"/>
            <a:ext cx="3453384" cy="237744"/>
          </a:xfrm>
          <a:prstGeom prst="rect">
            <a:avLst/>
          </a:prstGeom>
          <a:noFill/>
        </p:spPr>
        <p:txBody>
          <a:bodyPr wrap="square"/>
          <a:lstStyle/>
          <a:p>
            <a:pPr algn="ctr"/>
            <a:r>
              <a:rPr sz="1000" b="1" i="0">
                <a:solidFill>
                  <a:srgbClr val="FFFFFF"/>
                </a:solidFill>
                <a:latin typeface="Calibri"/>
              </a:rPr>
              <a:t>MAE</a:t>
            </a:r>
          </a:p>
        </p:txBody>
      </p:sp>
      <p:sp>
        <p:nvSpPr>
          <p:cNvPr id="24" name="TextBox 23"/>
          <p:cNvSpPr txBox="1"/>
          <p:nvPr/>
        </p:nvSpPr>
        <p:spPr>
          <a:xfrm>
            <a:off x="8314752" y="1792224"/>
            <a:ext cx="3106295" cy="256032"/>
          </a:xfrm>
          <a:prstGeom prst="rect">
            <a:avLst/>
          </a:prstGeom>
          <a:noFill/>
        </p:spPr>
        <p:txBody>
          <a:bodyPr wrap="square"/>
          <a:lstStyle/>
          <a:p>
            <a:pPr algn="ctr"/>
            <a:r>
              <a:rPr sz="850" b="0" i="0" dirty="0">
                <a:solidFill>
                  <a:srgbClr val="52B788"/>
                </a:solidFill>
                <a:latin typeface="Calibri Light"/>
              </a:rPr>
              <a:t>Mean absolute error — typical monthly forecast error</a:t>
            </a:r>
          </a:p>
        </p:txBody>
      </p:sp>
      <p:pic>
        <p:nvPicPr>
          <p:cNvPr id="25" name="Picture 24" descr="fig4a_actual_vs_predicted.png"/>
          <p:cNvPicPr>
            <a:picLocks noChangeAspect="1"/>
          </p:cNvPicPr>
          <p:nvPr/>
        </p:nvPicPr>
        <p:blipFill>
          <a:blip r:embed="rId2"/>
          <a:stretch>
            <a:fillRect/>
          </a:stretch>
        </p:blipFill>
        <p:spPr>
          <a:xfrm>
            <a:off x="594360" y="2265884"/>
            <a:ext cx="6980408" cy="2673107"/>
          </a:xfrm>
          <a:prstGeom prst="rect">
            <a:avLst/>
          </a:prstGeom>
        </p:spPr>
      </p:pic>
      <p:pic>
        <p:nvPicPr>
          <p:cNvPr id="26" name="Picture 25" descr="fig4b_scatter.png"/>
          <p:cNvPicPr>
            <a:picLocks noChangeAspect="1"/>
          </p:cNvPicPr>
          <p:nvPr/>
        </p:nvPicPr>
        <p:blipFill>
          <a:blip r:embed="rId3"/>
          <a:stretch>
            <a:fillRect/>
          </a:stretch>
        </p:blipFill>
        <p:spPr>
          <a:xfrm>
            <a:off x="8141208" y="2363354"/>
            <a:ext cx="3655664" cy="3650663"/>
          </a:xfrm>
          <a:prstGeom prst="rect">
            <a:avLst/>
          </a:prstGeom>
        </p:spPr>
      </p:pic>
      <p:sp>
        <p:nvSpPr>
          <p:cNvPr id="27" name="TextBox 26"/>
          <p:cNvSpPr txBox="1"/>
          <p:nvPr/>
        </p:nvSpPr>
        <p:spPr>
          <a:xfrm>
            <a:off x="594360" y="4998504"/>
            <a:ext cx="3655664" cy="237744"/>
          </a:xfrm>
          <a:prstGeom prst="rect">
            <a:avLst/>
          </a:prstGeom>
          <a:noFill/>
        </p:spPr>
        <p:txBody>
          <a:bodyPr wrap="square"/>
          <a:lstStyle/>
          <a:p>
            <a:pPr algn="l"/>
            <a:r>
              <a:rPr sz="950" b="1" i="0" dirty="0">
                <a:solidFill>
                  <a:srgbClr val="1B4D3E"/>
                </a:solidFill>
                <a:latin typeface="Calibri"/>
              </a:rPr>
              <a:t>Chart notes:</a:t>
            </a:r>
          </a:p>
        </p:txBody>
      </p:sp>
      <p:sp>
        <p:nvSpPr>
          <p:cNvPr id="29" name="TextBox 28"/>
          <p:cNvSpPr txBox="1"/>
          <p:nvPr/>
        </p:nvSpPr>
        <p:spPr>
          <a:xfrm>
            <a:off x="594360" y="5218726"/>
            <a:ext cx="5330190" cy="365760"/>
          </a:xfrm>
          <a:prstGeom prst="rect">
            <a:avLst/>
          </a:prstGeom>
          <a:noFill/>
        </p:spPr>
        <p:txBody>
          <a:bodyPr wrap="square"/>
          <a:lstStyle/>
          <a:p>
            <a:pPr algn="l"/>
            <a:r>
              <a:rPr sz="1000" b="0" i="0" dirty="0">
                <a:solidFill>
                  <a:srgbClr val="3D4D44"/>
                </a:solidFill>
                <a:latin typeface="Calibri Light"/>
              </a:rPr>
              <a:t>1.  Left: actual prices (blue) vs model predictions (orange) over the full test period. The trend and seasonal pattern are well captured; prediction errors peak in shock years (2014, 2022).</a:t>
            </a:r>
          </a:p>
        </p:txBody>
      </p:sp>
      <p:sp>
        <p:nvSpPr>
          <p:cNvPr id="30" name="TextBox 29"/>
          <p:cNvSpPr txBox="1"/>
          <p:nvPr/>
        </p:nvSpPr>
        <p:spPr>
          <a:xfrm>
            <a:off x="594360" y="5613674"/>
            <a:ext cx="5882640" cy="365760"/>
          </a:xfrm>
          <a:prstGeom prst="rect">
            <a:avLst/>
          </a:prstGeom>
          <a:noFill/>
        </p:spPr>
        <p:txBody>
          <a:bodyPr wrap="square"/>
          <a:lstStyle/>
          <a:p>
            <a:pPr algn="l"/>
            <a:r>
              <a:rPr sz="1000" b="0" i="0" dirty="0">
                <a:solidFill>
                  <a:srgbClr val="3D4D44"/>
                </a:solidFill>
                <a:latin typeface="Calibri Light"/>
              </a:rPr>
              <a:t>2.  Right: actual vs predicted scatter. Points close to the diagonal indicate accurate prediction. Outliers above the line correspond to unexpected price surges the model could not anticipate from lag features alone.</a:t>
            </a:r>
          </a:p>
        </p:txBody>
      </p:sp>
      <p:sp>
        <p:nvSpPr>
          <p:cNvPr id="31" name="TextBox 30"/>
          <p:cNvSpPr txBox="1"/>
          <p:nvPr/>
        </p:nvSpPr>
        <p:spPr>
          <a:xfrm>
            <a:off x="564196" y="6045895"/>
            <a:ext cx="5720715" cy="365760"/>
          </a:xfrm>
          <a:prstGeom prst="rect">
            <a:avLst/>
          </a:prstGeom>
          <a:noFill/>
        </p:spPr>
        <p:txBody>
          <a:bodyPr wrap="square"/>
          <a:lstStyle/>
          <a:p>
            <a:pPr algn="l"/>
            <a:r>
              <a:rPr sz="1000" b="0" i="0" dirty="0">
                <a:solidFill>
                  <a:srgbClr val="3D4D44"/>
                </a:solidFill>
                <a:latin typeface="Calibri Light"/>
              </a:rPr>
              <a:t>3.  Interpretation: An R2 of 0.48 is reasonable for a univariate lag model without external variables. Adding weather anomaly and exchange rate data could push R2 above 0.70.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39711"/>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08  |  PATTERN DISCOVERY</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Year-over-Year Changes, Commodity Volatility, and Long-Run Trends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14 / 16</a:t>
            </a:r>
          </a:p>
        </p:txBody>
      </p:sp>
      <p:pic>
        <p:nvPicPr>
          <p:cNvPr id="10" name="Picture 9" descr="fig5a_yoy_change.png"/>
          <p:cNvPicPr>
            <a:picLocks noChangeAspect="1"/>
          </p:cNvPicPr>
          <p:nvPr/>
        </p:nvPicPr>
        <p:blipFill>
          <a:blip r:embed="rId2"/>
          <a:stretch>
            <a:fillRect/>
          </a:stretch>
        </p:blipFill>
        <p:spPr>
          <a:xfrm>
            <a:off x="594360" y="987552"/>
            <a:ext cx="5317236" cy="1890863"/>
          </a:xfrm>
          <a:prstGeom prst="rect">
            <a:avLst/>
          </a:prstGeom>
        </p:spPr>
      </p:pic>
      <p:sp>
        <p:nvSpPr>
          <p:cNvPr id="11" name="TextBox 10"/>
          <p:cNvSpPr txBox="1"/>
          <p:nvPr/>
        </p:nvSpPr>
        <p:spPr>
          <a:xfrm>
            <a:off x="594296" y="2955596"/>
            <a:ext cx="5317236" cy="529498"/>
          </a:xfrm>
          <a:prstGeom prst="rect">
            <a:avLst/>
          </a:prstGeom>
          <a:noFill/>
        </p:spPr>
        <p:txBody>
          <a:bodyPr wrap="square"/>
          <a:lstStyle/>
          <a:p>
            <a:pPr algn="l"/>
            <a:r>
              <a:rPr sz="950" b="0" i="0" dirty="0">
                <a:solidFill>
                  <a:srgbClr val="3D4D44"/>
                </a:solidFill>
                <a:latin typeface="Calibri Light"/>
              </a:rPr>
              <a:t>Year-over-Year % price change. Largest spikes: 2008 (global food crisis), 2014 (oil price collapse reducing purchasing power), and 2022 (post-COVID commodity inflation). These shock years represent external events not predictable from price history alone.</a:t>
            </a:r>
          </a:p>
        </p:txBody>
      </p:sp>
      <p:pic>
        <p:nvPicPr>
          <p:cNvPr id="12" name="Picture 11" descr="fig5b_volatility.png"/>
          <p:cNvPicPr>
            <a:picLocks noChangeAspect="1"/>
          </p:cNvPicPr>
          <p:nvPr/>
        </p:nvPicPr>
        <p:blipFill>
          <a:blip r:embed="rId3"/>
          <a:stretch>
            <a:fillRect/>
          </a:stretch>
        </p:blipFill>
        <p:spPr>
          <a:xfrm>
            <a:off x="6572631" y="968291"/>
            <a:ext cx="4375404" cy="1929384"/>
          </a:xfrm>
          <a:prstGeom prst="rect">
            <a:avLst/>
          </a:prstGeom>
        </p:spPr>
      </p:pic>
      <p:sp>
        <p:nvSpPr>
          <p:cNvPr id="13" name="TextBox 12"/>
          <p:cNvSpPr txBox="1"/>
          <p:nvPr/>
        </p:nvSpPr>
        <p:spPr>
          <a:xfrm>
            <a:off x="6572631" y="2981827"/>
            <a:ext cx="5317236" cy="549614"/>
          </a:xfrm>
          <a:prstGeom prst="rect">
            <a:avLst/>
          </a:prstGeom>
          <a:noFill/>
        </p:spPr>
        <p:txBody>
          <a:bodyPr wrap="square"/>
          <a:lstStyle/>
          <a:p>
            <a:pPr algn="l"/>
            <a:r>
              <a:rPr sz="950" b="0" i="0" dirty="0">
                <a:solidFill>
                  <a:srgbClr val="3D4D44"/>
                </a:solidFill>
                <a:latin typeface="Calibri Light"/>
              </a:rPr>
              <a:t>Coefficient of Variation (CV = std/mean) per commodity. Fresh fish, leafy vegetables, and tomatoes rank highest (CV &gt; 0.40) — far more volatile than staple cereals. Maize and sorghum are the most price-stable commodities, benefiting from national reserve policies.</a:t>
            </a:r>
          </a:p>
        </p:txBody>
      </p:sp>
      <p:sp>
        <p:nvSpPr>
          <p:cNvPr id="14" name="Rectangle 13"/>
          <p:cNvSpPr/>
          <p:nvPr/>
        </p:nvSpPr>
        <p:spPr>
          <a:xfrm>
            <a:off x="594360" y="3592358"/>
            <a:ext cx="11000232"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778417"/>
            <a:ext cx="11000232" cy="274320"/>
          </a:xfrm>
          <a:prstGeom prst="rect">
            <a:avLst/>
          </a:prstGeom>
          <a:noFill/>
        </p:spPr>
        <p:txBody>
          <a:bodyPr wrap="square"/>
          <a:lstStyle/>
          <a:p>
            <a:pPr algn="l"/>
            <a:r>
              <a:rPr sz="1100" b="1" i="0" dirty="0">
                <a:solidFill>
                  <a:srgbClr val="1B4D3E"/>
                </a:solidFill>
                <a:latin typeface="Calibri"/>
              </a:rPr>
              <a:t>Long-Run Price Trends — Five Staple Commodities (2005 – 2026)</a:t>
            </a:r>
          </a:p>
        </p:txBody>
      </p:sp>
      <p:pic>
        <p:nvPicPr>
          <p:cNvPr id="16" name="Picture 15" descr="fig5c_staple_trends.png"/>
          <p:cNvPicPr>
            <a:picLocks noChangeAspect="1"/>
          </p:cNvPicPr>
          <p:nvPr/>
        </p:nvPicPr>
        <p:blipFill>
          <a:blip r:embed="rId4"/>
          <a:stretch>
            <a:fillRect/>
          </a:stretch>
        </p:blipFill>
        <p:spPr>
          <a:xfrm>
            <a:off x="3487229" y="4187098"/>
            <a:ext cx="5214366" cy="23338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7744"/>
            <a:ext cx="12188952"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09  |  RESULTS SUMMARY</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Consolidated Performance Metrics Across All Four Analytical Tasks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15 / 16</a:t>
            </a:r>
          </a:p>
        </p:txBody>
      </p:sp>
      <p:sp>
        <p:nvSpPr>
          <p:cNvPr id="10" name="Rectangle 9"/>
          <p:cNvSpPr/>
          <p:nvPr/>
        </p:nvSpPr>
        <p:spPr>
          <a:xfrm>
            <a:off x="594360" y="1033272"/>
            <a:ext cx="11000232" cy="45720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124712"/>
            <a:ext cx="1591056" cy="292608"/>
          </a:xfrm>
          <a:prstGeom prst="rect">
            <a:avLst/>
          </a:prstGeom>
          <a:noFill/>
        </p:spPr>
        <p:txBody>
          <a:bodyPr wrap="square"/>
          <a:lstStyle/>
          <a:p>
            <a:pPr algn="l"/>
            <a:r>
              <a:rPr sz="1050" b="1" i="0">
                <a:solidFill>
                  <a:srgbClr val="FFFFFF"/>
                </a:solidFill>
                <a:latin typeface="Calibri"/>
              </a:rPr>
              <a:t>Task</a:t>
            </a:r>
          </a:p>
        </p:txBody>
      </p:sp>
      <p:sp>
        <p:nvSpPr>
          <p:cNvPr id="12" name="TextBox 11"/>
          <p:cNvSpPr txBox="1"/>
          <p:nvPr/>
        </p:nvSpPr>
        <p:spPr>
          <a:xfrm>
            <a:off x="2532888" y="1124712"/>
            <a:ext cx="1865376" cy="292608"/>
          </a:xfrm>
          <a:prstGeom prst="rect">
            <a:avLst/>
          </a:prstGeom>
          <a:noFill/>
        </p:spPr>
        <p:txBody>
          <a:bodyPr wrap="square"/>
          <a:lstStyle/>
          <a:p>
            <a:pPr algn="l"/>
            <a:r>
              <a:rPr sz="1050" b="1" i="0">
                <a:solidFill>
                  <a:srgbClr val="FFFFFF"/>
                </a:solidFill>
                <a:latin typeface="Calibri"/>
              </a:rPr>
              <a:t>Method</a:t>
            </a:r>
          </a:p>
        </p:txBody>
      </p:sp>
      <p:sp>
        <p:nvSpPr>
          <p:cNvPr id="13" name="TextBox 12"/>
          <p:cNvSpPr txBox="1"/>
          <p:nvPr/>
        </p:nvSpPr>
        <p:spPr>
          <a:xfrm>
            <a:off x="4681728" y="1124712"/>
            <a:ext cx="1362456" cy="292608"/>
          </a:xfrm>
          <a:prstGeom prst="rect">
            <a:avLst/>
          </a:prstGeom>
          <a:noFill/>
        </p:spPr>
        <p:txBody>
          <a:bodyPr wrap="square"/>
          <a:lstStyle/>
          <a:p>
            <a:pPr algn="l"/>
            <a:r>
              <a:rPr sz="1050" b="1" i="0">
                <a:solidFill>
                  <a:srgbClr val="FFFFFF"/>
                </a:solidFill>
                <a:latin typeface="Calibri"/>
              </a:rPr>
              <a:t>Metric</a:t>
            </a:r>
          </a:p>
        </p:txBody>
      </p:sp>
      <p:sp>
        <p:nvSpPr>
          <p:cNvPr id="14" name="TextBox 13"/>
          <p:cNvSpPr txBox="1"/>
          <p:nvPr/>
        </p:nvSpPr>
        <p:spPr>
          <a:xfrm>
            <a:off x="6327648" y="1124712"/>
            <a:ext cx="1362456" cy="292608"/>
          </a:xfrm>
          <a:prstGeom prst="rect">
            <a:avLst/>
          </a:prstGeom>
          <a:noFill/>
        </p:spPr>
        <p:txBody>
          <a:bodyPr wrap="square"/>
          <a:lstStyle/>
          <a:p>
            <a:pPr algn="l"/>
            <a:r>
              <a:rPr sz="1050" b="1" i="0">
                <a:solidFill>
                  <a:srgbClr val="FFFFFF"/>
                </a:solidFill>
                <a:latin typeface="Calibri"/>
              </a:rPr>
              <a:t>Result</a:t>
            </a:r>
          </a:p>
        </p:txBody>
      </p:sp>
      <p:sp>
        <p:nvSpPr>
          <p:cNvPr id="15" name="TextBox 14"/>
          <p:cNvSpPr txBox="1"/>
          <p:nvPr/>
        </p:nvSpPr>
        <p:spPr>
          <a:xfrm>
            <a:off x="7973567" y="1124712"/>
            <a:ext cx="1499616" cy="292608"/>
          </a:xfrm>
          <a:prstGeom prst="rect">
            <a:avLst/>
          </a:prstGeom>
          <a:noFill/>
        </p:spPr>
        <p:txBody>
          <a:bodyPr wrap="square"/>
          <a:lstStyle/>
          <a:p>
            <a:pPr algn="l"/>
            <a:r>
              <a:rPr sz="1050" b="1" i="0">
                <a:solidFill>
                  <a:srgbClr val="FFFFFF"/>
                </a:solidFill>
                <a:latin typeface="Calibri"/>
              </a:rPr>
              <a:t>Status</a:t>
            </a:r>
          </a:p>
        </p:txBody>
      </p:sp>
      <p:sp>
        <p:nvSpPr>
          <p:cNvPr id="16" name="TextBox 15"/>
          <p:cNvSpPr txBox="1"/>
          <p:nvPr/>
        </p:nvSpPr>
        <p:spPr>
          <a:xfrm>
            <a:off x="9089010" y="1098804"/>
            <a:ext cx="2395727" cy="292608"/>
          </a:xfrm>
          <a:prstGeom prst="rect">
            <a:avLst/>
          </a:prstGeom>
          <a:noFill/>
        </p:spPr>
        <p:txBody>
          <a:bodyPr wrap="square"/>
          <a:lstStyle/>
          <a:p>
            <a:pPr algn="l"/>
            <a:r>
              <a:rPr sz="1050" b="1" i="0">
                <a:solidFill>
                  <a:srgbClr val="FFFFFF"/>
                </a:solidFill>
                <a:latin typeface="Calibri"/>
              </a:rPr>
              <a:t>Interpretation</a:t>
            </a:r>
          </a:p>
        </p:txBody>
      </p:sp>
      <p:sp>
        <p:nvSpPr>
          <p:cNvPr id="17" name="Rectangle 16"/>
          <p:cNvSpPr/>
          <p:nvPr/>
        </p:nvSpPr>
        <p:spPr>
          <a:xfrm>
            <a:off x="594360" y="1527048"/>
            <a:ext cx="11000232" cy="4572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1600200"/>
            <a:ext cx="1591056" cy="347472"/>
          </a:xfrm>
          <a:prstGeom prst="rect">
            <a:avLst/>
          </a:prstGeom>
          <a:noFill/>
        </p:spPr>
        <p:txBody>
          <a:bodyPr wrap="square"/>
          <a:lstStyle/>
          <a:p>
            <a:pPr algn="l"/>
            <a:r>
              <a:rPr sz="950" b="1" i="0">
                <a:solidFill>
                  <a:srgbClr val="1B4D3E"/>
                </a:solidFill>
                <a:latin typeface="Calibri"/>
              </a:rPr>
              <a:t>Classification</a:t>
            </a:r>
          </a:p>
        </p:txBody>
      </p:sp>
      <p:sp>
        <p:nvSpPr>
          <p:cNvPr id="19" name="TextBox 18"/>
          <p:cNvSpPr txBox="1"/>
          <p:nvPr/>
        </p:nvSpPr>
        <p:spPr>
          <a:xfrm>
            <a:off x="2532888" y="1600200"/>
            <a:ext cx="1865376" cy="347472"/>
          </a:xfrm>
          <a:prstGeom prst="rect">
            <a:avLst/>
          </a:prstGeom>
          <a:noFill/>
        </p:spPr>
        <p:txBody>
          <a:bodyPr wrap="square"/>
          <a:lstStyle/>
          <a:p>
            <a:pPr algn="l"/>
            <a:r>
              <a:rPr sz="950" b="0" i="0">
                <a:solidFill>
                  <a:srgbClr val="3D4D44"/>
                </a:solidFill>
                <a:latin typeface="Calibri Light"/>
              </a:rPr>
              <a:t>Random Forest</a:t>
            </a:r>
          </a:p>
        </p:txBody>
      </p:sp>
      <p:sp>
        <p:nvSpPr>
          <p:cNvPr id="20" name="TextBox 19"/>
          <p:cNvSpPr txBox="1"/>
          <p:nvPr/>
        </p:nvSpPr>
        <p:spPr>
          <a:xfrm>
            <a:off x="4681728" y="1600200"/>
            <a:ext cx="1362456" cy="347472"/>
          </a:xfrm>
          <a:prstGeom prst="rect">
            <a:avLst/>
          </a:prstGeom>
          <a:noFill/>
        </p:spPr>
        <p:txBody>
          <a:bodyPr wrap="square"/>
          <a:lstStyle/>
          <a:p>
            <a:pPr algn="l"/>
            <a:r>
              <a:rPr sz="950" b="0" i="0">
                <a:solidFill>
                  <a:srgbClr val="8A9D92"/>
                </a:solidFill>
                <a:latin typeface="Calibri Light"/>
              </a:rPr>
              <a:t>Accuracy</a:t>
            </a:r>
          </a:p>
        </p:txBody>
      </p:sp>
      <p:sp>
        <p:nvSpPr>
          <p:cNvPr id="21" name="TextBox 20"/>
          <p:cNvSpPr txBox="1"/>
          <p:nvPr/>
        </p:nvSpPr>
        <p:spPr>
          <a:xfrm>
            <a:off x="6327648" y="1600200"/>
            <a:ext cx="1362456" cy="347472"/>
          </a:xfrm>
          <a:prstGeom prst="rect">
            <a:avLst/>
          </a:prstGeom>
          <a:noFill/>
        </p:spPr>
        <p:txBody>
          <a:bodyPr wrap="square"/>
          <a:lstStyle/>
          <a:p>
            <a:pPr algn="l"/>
            <a:r>
              <a:rPr sz="950" b="1" i="0">
                <a:solidFill>
                  <a:srgbClr val="C98B00"/>
                </a:solidFill>
                <a:latin typeface="Calibri"/>
              </a:rPr>
              <a:t>69.2 %</a:t>
            </a:r>
          </a:p>
        </p:txBody>
      </p:sp>
      <p:sp>
        <p:nvSpPr>
          <p:cNvPr id="22" name="TextBox 21"/>
          <p:cNvSpPr txBox="1"/>
          <p:nvPr/>
        </p:nvSpPr>
        <p:spPr>
          <a:xfrm>
            <a:off x="7973567" y="1600200"/>
            <a:ext cx="1499616" cy="347472"/>
          </a:xfrm>
          <a:prstGeom prst="rect">
            <a:avLst/>
          </a:prstGeom>
          <a:noFill/>
        </p:spPr>
        <p:txBody>
          <a:bodyPr wrap="square"/>
          <a:lstStyle/>
          <a:p>
            <a:pPr algn="l"/>
            <a:r>
              <a:rPr sz="950" b="0" i="0">
                <a:solidFill>
                  <a:srgbClr val="276C4E"/>
                </a:solidFill>
                <a:latin typeface="Calibri Light"/>
              </a:rPr>
              <a:t>Achieved</a:t>
            </a:r>
          </a:p>
        </p:txBody>
      </p:sp>
      <p:sp>
        <p:nvSpPr>
          <p:cNvPr id="23" name="TextBox 22"/>
          <p:cNvSpPr txBox="1"/>
          <p:nvPr/>
        </p:nvSpPr>
        <p:spPr>
          <a:xfrm>
            <a:off x="9089010" y="1574292"/>
            <a:ext cx="2395727" cy="347472"/>
          </a:xfrm>
          <a:prstGeom prst="rect">
            <a:avLst/>
          </a:prstGeom>
          <a:noFill/>
        </p:spPr>
        <p:txBody>
          <a:bodyPr wrap="square"/>
          <a:lstStyle/>
          <a:p>
            <a:pPr algn="l"/>
            <a:r>
              <a:rPr sz="950" b="0" i="0">
                <a:solidFill>
                  <a:srgbClr val="3D4D44"/>
                </a:solidFill>
                <a:latin typeface="Calibri Light"/>
              </a:rPr>
              <a:t>Above 65% threshold for operational use as a price-level alert</a:t>
            </a:r>
          </a:p>
        </p:txBody>
      </p:sp>
      <p:sp>
        <p:nvSpPr>
          <p:cNvPr id="24" name="Rectangle 23"/>
          <p:cNvSpPr/>
          <p:nvPr/>
        </p:nvSpPr>
        <p:spPr>
          <a:xfrm>
            <a:off x="594360" y="2002536"/>
            <a:ext cx="1100023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2075688"/>
            <a:ext cx="1591056" cy="347472"/>
          </a:xfrm>
          <a:prstGeom prst="rect">
            <a:avLst/>
          </a:prstGeom>
          <a:noFill/>
        </p:spPr>
        <p:txBody>
          <a:bodyPr wrap="square"/>
          <a:lstStyle/>
          <a:p>
            <a:pPr algn="l"/>
            <a:r>
              <a:rPr sz="950" b="1" i="0">
                <a:solidFill>
                  <a:srgbClr val="1B4D3E"/>
                </a:solidFill>
                <a:latin typeface="Calibri"/>
              </a:rPr>
              <a:t>Classification</a:t>
            </a:r>
          </a:p>
        </p:txBody>
      </p:sp>
      <p:sp>
        <p:nvSpPr>
          <p:cNvPr id="26" name="TextBox 25"/>
          <p:cNvSpPr txBox="1"/>
          <p:nvPr/>
        </p:nvSpPr>
        <p:spPr>
          <a:xfrm>
            <a:off x="2532888" y="2075688"/>
            <a:ext cx="1865376" cy="347472"/>
          </a:xfrm>
          <a:prstGeom prst="rect">
            <a:avLst/>
          </a:prstGeom>
          <a:noFill/>
        </p:spPr>
        <p:txBody>
          <a:bodyPr wrap="square"/>
          <a:lstStyle/>
          <a:p>
            <a:pPr algn="l"/>
            <a:r>
              <a:rPr sz="950" b="0" i="0">
                <a:solidFill>
                  <a:srgbClr val="3D4D44"/>
                </a:solidFill>
                <a:latin typeface="Calibri Light"/>
              </a:rPr>
              <a:t>Random Forest</a:t>
            </a:r>
          </a:p>
        </p:txBody>
      </p:sp>
      <p:sp>
        <p:nvSpPr>
          <p:cNvPr id="27" name="TextBox 26"/>
          <p:cNvSpPr txBox="1"/>
          <p:nvPr/>
        </p:nvSpPr>
        <p:spPr>
          <a:xfrm>
            <a:off x="4681728" y="2075688"/>
            <a:ext cx="1362456" cy="347472"/>
          </a:xfrm>
          <a:prstGeom prst="rect">
            <a:avLst/>
          </a:prstGeom>
          <a:noFill/>
        </p:spPr>
        <p:txBody>
          <a:bodyPr wrap="square"/>
          <a:lstStyle/>
          <a:p>
            <a:pPr algn="l"/>
            <a:r>
              <a:rPr sz="950" b="0" i="0">
                <a:solidFill>
                  <a:srgbClr val="8A9D92"/>
                </a:solidFill>
                <a:latin typeface="Calibri Light"/>
              </a:rPr>
              <a:t>F1 (macro)</a:t>
            </a:r>
          </a:p>
        </p:txBody>
      </p:sp>
      <p:sp>
        <p:nvSpPr>
          <p:cNvPr id="28" name="TextBox 27"/>
          <p:cNvSpPr txBox="1"/>
          <p:nvPr/>
        </p:nvSpPr>
        <p:spPr>
          <a:xfrm>
            <a:off x="6327648" y="2075688"/>
            <a:ext cx="1362456" cy="347472"/>
          </a:xfrm>
          <a:prstGeom prst="rect">
            <a:avLst/>
          </a:prstGeom>
          <a:noFill/>
        </p:spPr>
        <p:txBody>
          <a:bodyPr wrap="square"/>
          <a:lstStyle/>
          <a:p>
            <a:pPr algn="l"/>
            <a:r>
              <a:rPr sz="950" b="1" i="0">
                <a:solidFill>
                  <a:srgbClr val="C98B00"/>
                </a:solidFill>
                <a:latin typeface="Calibri"/>
              </a:rPr>
              <a:t>0.69</a:t>
            </a:r>
          </a:p>
        </p:txBody>
      </p:sp>
      <p:sp>
        <p:nvSpPr>
          <p:cNvPr id="29" name="TextBox 28"/>
          <p:cNvSpPr txBox="1"/>
          <p:nvPr/>
        </p:nvSpPr>
        <p:spPr>
          <a:xfrm>
            <a:off x="7973567" y="2075688"/>
            <a:ext cx="1499616" cy="347472"/>
          </a:xfrm>
          <a:prstGeom prst="rect">
            <a:avLst/>
          </a:prstGeom>
          <a:noFill/>
        </p:spPr>
        <p:txBody>
          <a:bodyPr wrap="square"/>
          <a:lstStyle/>
          <a:p>
            <a:pPr algn="l"/>
            <a:r>
              <a:rPr sz="950" b="0" i="0">
                <a:solidFill>
                  <a:srgbClr val="276C4E"/>
                </a:solidFill>
                <a:latin typeface="Calibri Light"/>
              </a:rPr>
              <a:t>Achieved</a:t>
            </a:r>
          </a:p>
        </p:txBody>
      </p:sp>
      <p:sp>
        <p:nvSpPr>
          <p:cNvPr id="30" name="TextBox 29"/>
          <p:cNvSpPr txBox="1"/>
          <p:nvPr/>
        </p:nvSpPr>
        <p:spPr>
          <a:xfrm>
            <a:off x="9089010" y="2049780"/>
            <a:ext cx="2395727" cy="347472"/>
          </a:xfrm>
          <a:prstGeom prst="rect">
            <a:avLst/>
          </a:prstGeom>
          <a:noFill/>
        </p:spPr>
        <p:txBody>
          <a:bodyPr wrap="square"/>
          <a:lstStyle/>
          <a:p>
            <a:pPr algn="l"/>
            <a:r>
              <a:rPr sz="950" b="0" i="0">
                <a:solidFill>
                  <a:srgbClr val="3D4D44"/>
                </a:solidFill>
                <a:latin typeface="Calibri Light"/>
              </a:rPr>
              <a:t>Balanced performance across Low, Medium, and High classes</a:t>
            </a:r>
          </a:p>
        </p:txBody>
      </p:sp>
      <p:sp>
        <p:nvSpPr>
          <p:cNvPr id="31" name="Rectangle 30"/>
          <p:cNvSpPr/>
          <p:nvPr/>
        </p:nvSpPr>
        <p:spPr>
          <a:xfrm>
            <a:off x="594360" y="2478024"/>
            <a:ext cx="11000232" cy="4572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4088" y="2551176"/>
            <a:ext cx="1591056" cy="347472"/>
          </a:xfrm>
          <a:prstGeom prst="rect">
            <a:avLst/>
          </a:prstGeom>
          <a:noFill/>
        </p:spPr>
        <p:txBody>
          <a:bodyPr wrap="square"/>
          <a:lstStyle/>
          <a:p>
            <a:pPr algn="l"/>
            <a:r>
              <a:rPr sz="950" b="1" i="0">
                <a:solidFill>
                  <a:srgbClr val="1B4D3E"/>
                </a:solidFill>
                <a:latin typeface="Calibri"/>
              </a:rPr>
              <a:t>Classification</a:t>
            </a:r>
          </a:p>
        </p:txBody>
      </p:sp>
      <p:sp>
        <p:nvSpPr>
          <p:cNvPr id="33" name="TextBox 32"/>
          <p:cNvSpPr txBox="1"/>
          <p:nvPr/>
        </p:nvSpPr>
        <p:spPr>
          <a:xfrm>
            <a:off x="2532888" y="2551176"/>
            <a:ext cx="1865376" cy="347472"/>
          </a:xfrm>
          <a:prstGeom prst="rect">
            <a:avLst/>
          </a:prstGeom>
          <a:noFill/>
        </p:spPr>
        <p:txBody>
          <a:bodyPr wrap="square"/>
          <a:lstStyle/>
          <a:p>
            <a:pPr algn="l"/>
            <a:r>
              <a:rPr sz="950" b="0" i="0">
                <a:solidFill>
                  <a:srgbClr val="3D4D44"/>
                </a:solidFill>
                <a:latin typeface="Calibri Light"/>
              </a:rPr>
              <a:t>Feature analysis</a:t>
            </a:r>
          </a:p>
        </p:txBody>
      </p:sp>
      <p:sp>
        <p:nvSpPr>
          <p:cNvPr id="34" name="TextBox 33"/>
          <p:cNvSpPr txBox="1"/>
          <p:nvPr/>
        </p:nvSpPr>
        <p:spPr>
          <a:xfrm>
            <a:off x="4681728" y="2551176"/>
            <a:ext cx="1362456" cy="347472"/>
          </a:xfrm>
          <a:prstGeom prst="rect">
            <a:avLst/>
          </a:prstGeom>
          <a:noFill/>
        </p:spPr>
        <p:txBody>
          <a:bodyPr wrap="square"/>
          <a:lstStyle/>
          <a:p>
            <a:pPr algn="l"/>
            <a:r>
              <a:rPr sz="950" b="0" i="0">
                <a:solidFill>
                  <a:srgbClr val="8A9D92"/>
                </a:solidFill>
                <a:latin typeface="Calibri Light"/>
              </a:rPr>
              <a:t>Top feature</a:t>
            </a:r>
          </a:p>
        </p:txBody>
      </p:sp>
      <p:sp>
        <p:nvSpPr>
          <p:cNvPr id="35" name="TextBox 34"/>
          <p:cNvSpPr txBox="1"/>
          <p:nvPr/>
        </p:nvSpPr>
        <p:spPr>
          <a:xfrm>
            <a:off x="6327648" y="2551176"/>
            <a:ext cx="1362456" cy="347472"/>
          </a:xfrm>
          <a:prstGeom prst="rect">
            <a:avLst/>
          </a:prstGeom>
          <a:noFill/>
        </p:spPr>
        <p:txBody>
          <a:bodyPr wrap="square"/>
          <a:lstStyle/>
          <a:p>
            <a:pPr algn="l"/>
            <a:r>
              <a:rPr sz="950" b="1" i="0">
                <a:solidFill>
                  <a:srgbClr val="C98B00"/>
                </a:solidFill>
                <a:latin typeface="Calibri"/>
              </a:rPr>
              <a:t>Commodity</a:t>
            </a:r>
          </a:p>
        </p:txBody>
      </p:sp>
      <p:sp>
        <p:nvSpPr>
          <p:cNvPr id="36" name="TextBox 35"/>
          <p:cNvSpPr txBox="1"/>
          <p:nvPr/>
        </p:nvSpPr>
        <p:spPr>
          <a:xfrm>
            <a:off x="7973567" y="2551176"/>
            <a:ext cx="1499616" cy="347472"/>
          </a:xfrm>
          <a:prstGeom prst="rect">
            <a:avLst/>
          </a:prstGeom>
          <a:noFill/>
        </p:spPr>
        <p:txBody>
          <a:bodyPr wrap="square"/>
          <a:lstStyle/>
          <a:p>
            <a:pPr algn="l"/>
            <a:r>
              <a:rPr sz="950" b="0" i="0">
                <a:solidFill>
                  <a:srgbClr val="8A9D92"/>
                </a:solidFill>
                <a:latin typeface="Calibri Light"/>
              </a:rPr>
              <a:t>Noted</a:t>
            </a:r>
          </a:p>
        </p:txBody>
      </p:sp>
      <p:sp>
        <p:nvSpPr>
          <p:cNvPr id="37" name="TextBox 36"/>
          <p:cNvSpPr txBox="1"/>
          <p:nvPr/>
        </p:nvSpPr>
        <p:spPr>
          <a:xfrm>
            <a:off x="9089010" y="2525268"/>
            <a:ext cx="2395727" cy="347472"/>
          </a:xfrm>
          <a:prstGeom prst="rect">
            <a:avLst/>
          </a:prstGeom>
          <a:noFill/>
        </p:spPr>
        <p:txBody>
          <a:bodyPr wrap="square"/>
          <a:lstStyle/>
          <a:p>
            <a:pPr algn="l"/>
            <a:r>
              <a:rPr sz="950" b="0" i="0">
                <a:solidFill>
                  <a:srgbClr val="3D4D44"/>
                </a:solidFill>
                <a:latin typeface="Calibri Light"/>
              </a:rPr>
              <a:t>Commodity encoding dominates over region, month, and year</a:t>
            </a:r>
          </a:p>
        </p:txBody>
      </p:sp>
      <p:sp>
        <p:nvSpPr>
          <p:cNvPr id="38" name="Rectangle 37"/>
          <p:cNvSpPr/>
          <p:nvPr/>
        </p:nvSpPr>
        <p:spPr>
          <a:xfrm>
            <a:off x="594360" y="2953512"/>
            <a:ext cx="1100023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04088" y="3026664"/>
            <a:ext cx="1591056" cy="347472"/>
          </a:xfrm>
          <a:prstGeom prst="rect">
            <a:avLst/>
          </a:prstGeom>
          <a:noFill/>
        </p:spPr>
        <p:txBody>
          <a:bodyPr wrap="square"/>
          <a:lstStyle/>
          <a:p>
            <a:pPr algn="l"/>
            <a:r>
              <a:rPr sz="950" b="1" i="0">
                <a:solidFill>
                  <a:srgbClr val="1B4D3E"/>
                </a:solidFill>
                <a:latin typeface="Calibri"/>
              </a:rPr>
              <a:t>Clustering</a:t>
            </a:r>
          </a:p>
        </p:txBody>
      </p:sp>
      <p:sp>
        <p:nvSpPr>
          <p:cNvPr id="40" name="TextBox 39"/>
          <p:cNvSpPr txBox="1"/>
          <p:nvPr/>
        </p:nvSpPr>
        <p:spPr>
          <a:xfrm>
            <a:off x="2532888" y="3026664"/>
            <a:ext cx="1865376" cy="347472"/>
          </a:xfrm>
          <a:prstGeom prst="rect">
            <a:avLst/>
          </a:prstGeom>
          <a:noFill/>
        </p:spPr>
        <p:txBody>
          <a:bodyPr wrap="square"/>
          <a:lstStyle/>
          <a:p>
            <a:pPr algn="l"/>
            <a:r>
              <a:rPr sz="950" b="0" i="0">
                <a:solidFill>
                  <a:srgbClr val="3D4D44"/>
                </a:solidFill>
                <a:latin typeface="Calibri Light"/>
              </a:rPr>
              <a:t>K-Means</a:t>
            </a:r>
          </a:p>
        </p:txBody>
      </p:sp>
      <p:sp>
        <p:nvSpPr>
          <p:cNvPr id="41" name="TextBox 40"/>
          <p:cNvSpPr txBox="1"/>
          <p:nvPr/>
        </p:nvSpPr>
        <p:spPr>
          <a:xfrm>
            <a:off x="4681728" y="3026664"/>
            <a:ext cx="1362456" cy="347472"/>
          </a:xfrm>
          <a:prstGeom prst="rect">
            <a:avLst/>
          </a:prstGeom>
          <a:noFill/>
        </p:spPr>
        <p:txBody>
          <a:bodyPr wrap="square"/>
          <a:lstStyle/>
          <a:p>
            <a:pPr algn="l"/>
            <a:r>
              <a:rPr sz="950" b="0" i="0">
                <a:solidFill>
                  <a:srgbClr val="8A9D92"/>
                </a:solidFill>
                <a:latin typeface="Calibri Light"/>
              </a:rPr>
              <a:t>Optimal k</a:t>
            </a:r>
          </a:p>
        </p:txBody>
      </p:sp>
      <p:sp>
        <p:nvSpPr>
          <p:cNvPr id="42" name="TextBox 41"/>
          <p:cNvSpPr txBox="1"/>
          <p:nvPr/>
        </p:nvSpPr>
        <p:spPr>
          <a:xfrm>
            <a:off x="6327648" y="3026664"/>
            <a:ext cx="1362456" cy="347472"/>
          </a:xfrm>
          <a:prstGeom prst="rect">
            <a:avLst/>
          </a:prstGeom>
          <a:noFill/>
        </p:spPr>
        <p:txBody>
          <a:bodyPr wrap="square"/>
          <a:lstStyle/>
          <a:p>
            <a:pPr algn="l"/>
            <a:r>
              <a:rPr sz="950" b="1" i="0">
                <a:solidFill>
                  <a:srgbClr val="C98B00"/>
                </a:solidFill>
                <a:latin typeface="Calibri"/>
              </a:rPr>
              <a:t>k = 4</a:t>
            </a:r>
          </a:p>
        </p:txBody>
      </p:sp>
      <p:sp>
        <p:nvSpPr>
          <p:cNvPr id="43" name="TextBox 42"/>
          <p:cNvSpPr txBox="1"/>
          <p:nvPr/>
        </p:nvSpPr>
        <p:spPr>
          <a:xfrm>
            <a:off x="7973567" y="3026664"/>
            <a:ext cx="1499616" cy="347472"/>
          </a:xfrm>
          <a:prstGeom prst="rect">
            <a:avLst/>
          </a:prstGeom>
          <a:noFill/>
        </p:spPr>
        <p:txBody>
          <a:bodyPr wrap="square"/>
          <a:lstStyle/>
          <a:p>
            <a:pPr algn="l"/>
            <a:r>
              <a:rPr sz="950" b="0" i="0">
                <a:solidFill>
                  <a:srgbClr val="276C4E"/>
                </a:solidFill>
                <a:latin typeface="Calibri Light"/>
              </a:rPr>
              <a:t>Confirmed</a:t>
            </a:r>
          </a:p>
        </p:txBody>
      </p:sp>
      <p:sp>
        <p:nvSpPr>
          <p:cNvPr id="44" name="TextBox 43"/>
          <p:cNvSpPr txBox="1"/>
          <p:nvPr/>
        </p:nvSpPr>
        <p:spPr>
          <a:xfrm>
            <a:off x="9089010" y="3000756"/>
            <a:ext cx="2395727" cy="347472"/>
          </a:xfrm>
          <a:prstGeom prst="rect">
            <a:avLst/>
          </a:prstGeom>
          <a:noFill/>
        </p:spPr>
        <p:txBody>
          <a:bodyPr wrap="square"/>
          <a:lstStyle/>
          <a:p>
            <a:pPr algn="l"/>
            <a:r>
              <a:rPr sz="950" b="0" i="0">
                <a:solidFill>
                  <a:srgbClr val="3D4D44"/>
                </a:solidFill>
                <a:latin typeface="Calibri Light"/>
              </a:rPr>
              <a:t>Clear WCSS elbow; four clusters align with Cameroon's geography</a:t>
            </a:r>
          </a:p>
        </p:txBody>
      </p:sp>
      <p:sp>
        <p:nvSpPr>
          <p:cNvPr id="52" name="Rectangle 51"/>
          <p:cNvSpPr/>
          <p:nvPr/>
        </p:nvSpPr>
        <p:spPr>
          <a:xfrm>
            <a:off x="594360" y="3428999"/>
            <a:ext cx="1100023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04088" y="3502151"/>
            <a:ext cx="1591056" cy="347472"/>
          </a:xfrm>
          <a:prstGeom prst="rect">
            <a:avLst/>
          </a:prstGeom>
          <a:noFill/>
        </p:spPr>
        <p:txBody>
          <a:bodyPr wrap="square"/>
          <a:lstStyle/>
          <a:p>
            <a:pPr algn="l"/>
            <a:r>
              <a:rPr sz="950" b="1" i="0">
                <a:solidFill>
                  <a:srgbClr val="1B4D3E"/>
                </a:solidFill>
                <a:latin typeface="Calibri"/>
              </a:rPr>
              <a:t>Clustering</a:t>
            </a:r>
          </a:p>
        </p:txBody>
      </p:sp>
      <p:sp>
        <p:nvSpPr>
          <p:cNvPr id="54" name="TextBox 53"/>
          <p:cNvSpPr txBox="1"/>
          <p:nvPr/>
        </p:nvSpPr>
        <p:spPr>
          <a:xfrm>
            <a:off x="2532888" y="3502151"/>
            <a:ext cx="1865376" cy="347472"/>
          </a:xfrm>
          <a:prstGeom prst="rect">
            <a:avLst/>
          </a:prstGeom>
          <a:noFill/>
        </p:spPr>
        <p:txBody>
          <a:bodyPr wrap="square"/>
          <a:lstStyle/>
          <a:p>
            <a:pPr algn="l"/>
            <a:r>
              <a:rPr sz="950" b="0" i="0">
                <a:solidFill>
                  <a:srgbClr val="3D4D44"/>
                </a:solidFill>
                <a:latin typeface="Calibri Light"/>
              </a:rPr>
              <a:t>Cluster profiles</a:t>
            </a:r>
          </a:p>
        </p:txBody>
      </p:sp>
      <p:sp>
        <p:nvSpPr>
          <p:cNvPr id="55" name="TextBox 54"/>
          <p:cNvSpPr txBox="1"/>
          <p:nvPr/>
        </p:nvSpPr>
        <p:spPr>
          <a:xfrm>
            <a:off x="4681728" y="3502151"/>
            <a:ext cx="1362456" cy="347472"/>
          </a:xfrm>
          <a:prstGeom prst="rect">
            <a:avLst/>
          </a:prstGeom>
          <a:noFill/>
        </p:spPr>
        <p:txBody>
          <a:bodyPr wrap="square"/>
          <a:lstStyle/>
          <a:p>
            <a:pPr algn="l"/>
            <a:r>
              <a:rPr sz="950" b="0" i="0">
                <a:solidFill>
                  <a:srgbClr val="8A9D92"/>
                </a:solidFill>
                <a:latin typeface="Calibri Light"/>
              </a:rPr>
              <a:t>Interpretation</a:t>
            </a:r>
          </a:p>
        </p:txBody>
      </p:sp>
      <p:sp>
        <p:nvSpPr>
          <p:cNvPr id="56" name="TextBox 55"/>
          <p:cNvSpPr txBox="1"/>
          <p:nvPr/>
        </p:nvSpPr>
        <p:spPr>
          <a:xfrm>
            <a:off x="6327648" y="3502151"/>
            <a:ext cx="1362456" cy="347472"/>
          </a:xfrm>
          <a:prstGeom prst="rect">
            <a:avLst/>
          </a:prstGeom>
          <a:noFill/>
        </p:spPr>
        <p:txBody>
          <a:bodyPr wrap="square"/>
          <a:lstStyle/>
          <a:p>
            <a:pPr algn="l"/>
            <a:r>
              <a:rPr sz="950" b="1" i="0">
                <a:solidFill>
                  <a:srgbClr val="C98B00"/>
                </a:solidFill>
                <a:latin typeface="Calibri"/>
              </a:rPr>
              <a:t>4 groups</a:t>
            </a:r>
          </a:p>
        </p:txBody>
      </p:sp>
      <p:sp>
        <p:nvSpPr>
          <p:cNvPr id="57" name="TextBox 56"/>
          <p:cNvSpPr txBox="1"/>
          <p:nvPr/>
        </p:nvSpPr>
        <p:spPr>
          <a:xfrm>
            <a:off x="7973567" y="3502151"/>
            <a:ext cx="1499616" cy="347472"/>
          </a:xfrm>
          <a:prstGeom prst="rect">
            <a:avLst/>
          </a:prstGeom>
          <a:noFill/>
        </p:spPr>
        <p:txBody>
          <a:bodyPr wrap="square"/>
          <a:lstStyle/>
          <a:p>
            <a:pPr algn="l"/>
            <a:r>
              <a:rPr sz="950" b="0" i="0">
                <a:solidFill>
                  <a:srgbClr val="276C4E"/>
                </a:solidFill>
                <a:latin typeface="Calibri Light"/>
              </a:rPr>
              <a:t>Confirmed</a:t>
            </a:r>
          </a:p>
        </p:txBody>
      </p:sp>
      <p:sp>
        <p:nvSpPr>
          <p:cNvPr id="58" name="TextBox 57"/>
          <p:cNvSpPr txBox="1"/>
          <p:nvPr/>
        </p:nvSpPr>
        <p:spPr>
          <a:xfrm>
            <a:off x="9089010" y="3476243"/>
            <a:ext cx="2395727" cy="347472"/>
          </a:xfrm>
          <a:prstGeom prst="rect">
            <a:avLst/>
          </a:prstGeom>
          <a:noFill/>
        </p:spPr>
        <p:txBody>
          <a:bodyPr wrap="square"/>
          <a:lstStyle/>
          <a:p>
            <a:pPr algn="l"/>
            <a:r>
              <a:rPr sz="950" b="0" i="0">
                <a:solidFill>
                  <a:srgbClr val="3D4D44"/>
                </a:solidFill>
                <a:latin typeface="Calibri Light"/>
              </a:rPr>
              <a:t>Urban commercial, N. grain, W. highland, E. border markets</a:t>
            </a:r>
          </a:p>
        </p:txBody>
      </p:sp>
      <p:sp>
        <p:nvSpPr>
          <p:cNvPr id="59" name="Rectangle 58"/>
          <p:cNvSpPr/>
          <p:nvPr/>
        </p:nvSpPr>
        <p:spPr>
          <a:xfrm>
            <a:off x="594360" y="3904488"/>
            <a:ext cx="11000232" cy="4572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04088" y="3977640"/>
            <a:ext cx="1591056" cy="347472"/>
          </a:xfrm>
          <a:prstGeom prst="rect">
            <a:avLst/>
          </a:prstGeom>
          <a:noFill/>
        </p:spPr>
        <p:txBody>
          <a:bodyPr wrap="square"/>
          <a:lstStyle/>
          <a:p>
            <a:pPr algn="l"/>
            <a:r>
              <a:rPr sz="950" b="1" i="0">
                <a:solidFill>
                  <a:srgbClr val="1B4D3E"/>
                </a:solidFill>
                <a:latin typeface="Calibri"/>
              </a:rPr>
              <a:t>Forecasting</a:t>
            </a:r>
          </a:p>
        </p:txBody>
      </p:sp>
      <p:sp>
        <p:nvSpPr>
          <p:cNvPr id="61" name="TextBox 60"/>
          <p:cNvSpPr txBox="1"/>
          <p:nvPr/>
        </p:nvSpPr>
        <p:spPr>
          <a:xfrm>
            <a:off x="2532888" y="3977640"/>
            <a:ext cx="1865376" cy="347472"/>
          </a:xfrm>
          <a:prstGeom prst="rect">
            <a:avLst/>
          </a:prstGeom>
          <a:noFill/>
        </p:spPr>
        <p:txBody>
          <a:bodyPr wrap="square"/>
          <a:lstStyle/>
          <a:p>
            <a:pPr algn="l"/>
            <a:r>
              <a:rPr sz="950" b="0" i="0">
                <a:solidFill>
                  <a:srgbClr val="3D4D44"/>
                </a:solidFill>
                <a:latin typeface="Calibri Light"/>
              </a:rPr>
              <a:t>RF Regressor</a:t>
            </a:r>
          </a:p>
        </p:txBody>
      </p:sp>
      <p:sp>
        <p:nvSpPr>
          <p:cNvPr id="62" name="TextBox 61"/>
          <p:cNvSpPr txBox="1"/>
          <p:nvPr/>
        </p:nvSpPr>
        <p:spPr>
          <a:xfrm>
            <a:off x="4681728" y="3977640"/>
            <a:ext cx="1362456" cy="347472"/>
          </a:xfrm>
          <a:prstGeom prst="rect">
            <a:avLst/>
          </a:prstGeom>
          <a:noFill/>
        </p:spPr>
        <p:txBody>
          <a:bodyPr wrap="square"/>
          <a:lstStyle/>
          <a:p>
            <a:pPr algn="l"/>
            <a:r>
              <a:rPr sz="950" b="0" i="0">
                <a:solidFill>
                  <a:srgbClr val="8A9D92"/>
                </a:solidFill>
                <a:latin typeface="Calibri Light"/>
              </a:rPr>
              <a:t>R-Squared</a:t>
            </a:r>
          </a:p>
        </p:txBody>
      </p:sp>
      <p:sp>
        <p:nvSpPr>
          <p:cNvPr id="63" name="TextBox 62"/>
          <p:cNvSpPr txBox="1"/>
          <p:nvPr/>
        </p:nvSpPr>
        <p:spPr>
          <a:xfrm>
            <a:off x="6327648" y="3977640"/>
            <a:ext cx="1362456" cy="347472"/>
          </a:xfrm>
          <a:prstGeom prst="rect">
            <a:avLst/>
          </a:prstGeom>
          <a:noFill/>
        </p:spPr>
        <p:txBody>
          <a:bodyPr wrap="square"/>
          <a:lstStyle/>
          <a:p>
            <a:pPr algn="l"/>
            <a:r>
              <a:rPr sz="950" b="1" i="0">
                <a:solidFill>
                  <a:srgbClr val="C98B00"/>
                </a:solidFill>
                <a:latin typeface="Calibri"/>
              </a:rPr>
              <a:t>0.48</a:t>
            </a:r>
          </a:p>
        </p:txBody>
      </p:sp>
      <p:sp>
        <p:nvSpPr>
          <p:cNvPr id="64" name="TextBox 63"/>
          <p:cNvSpPr txBox="1"/>
          <p:nvPr/>
        </p:nvSpPr>
        <p:spPr>
          <a:xfrm>
            <a:off x="7973567" y="3977640"/>
            <a:ext cx="1499616" cy="347472"/>
          </a:xfrm>
          <a:prstGeom prst="rect">
            <a:avLst/>
          </a:prstGeom>
          <a:noFill/>
        </p:spPr>
        <p:txBody>
          <a:bodyPr wrap="square"/>
          <a:lstStyle/>
          <a:p>
            <a:pPr algn="l"/>
            <a:r>
              <a:rPr sz="950" b="0" i="0">
                <a:solidFill>
                  <a:srgbClr val="8A9D92"/>
                </a:solidFill>
                <a:latin typeface="Calibri Light"/>
              </a:rPr>
              <a:t>Baseline</a:t>
            </a:r>
          </a:p>
        </p:txBody>
      </p:sp>
      <p:sp>
        <p:nvSpPr>
          <p:cNvPr id="65" name="TextBox 64"/>
          <p:cNvSpPr txBox="1"/>
          <p:nvPr/>
        </p:nvSpPr>
        <p:spPr>
          <a:xfrm>
            <a:off x="9089010" y="3951732"/>
            <a:ext cx="2395727" cy="347472"/>
          </a:xfrm>
          <a:prstGeom prst="rect">
            <a:avLst/>
          </a:prstGeom>
          <a:noFill/>
        </p:spPr>
        <p:txBody>
          <a:bodyPr wrap="square"/>
          <a:lstStyle/>
          <a:p>
            <a:pPr algn="l"/>
            <a:r>
              <a:rPr sz="950" b="0" i="0">
                <a:solidFill>
                  <a:srgbClr val="3D4D44"/>
                </a:solidFill>
                <a:latin typeface="Calibri Light"/>
              </a:rPr>
              <a:t>Lag features alone explain 48% of monthly price variance</a:t>
            </a:r>
          </a:p>
        </p:txBody>
      </p:sp>
      <p:sp>
        <p:nvSpPr>
          <p:cNvPr id="66" name="Rectangle 65"/>
          <p:cNvSpPr/>
          <p:nvPr/>
        </p:nvSpPr>
        <p:spPr>
          <a:xfrm>
            <a:off x="594360" y="4379976"/>
            <a:ext cx="1100023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04088" y="4453128"/>
            <a:ext cx="1591056" cy="347472"/>
          </a:xfrm>
          <a:prstGeom prst="rect">
            <a:avLst/>
          </a:prstGeom>
          <a:noFill/>
        </p:spPr>
        <p:txBody>
          <a:bodyPr wrap="square"/>
          <a:lstStyle/>
          <a:p>
            <a:pPr algn="l"/>
            <a:r>
              <a:rPr sz="950" b="1" i="0">
                <a:solidFill>
                  <a:srgbClr val="1B4D3E"/>
                </a:solidFill>
                <a:latin typeface="Calibri"/>
              </a:rPr>
              <a:t>Forecasting</a:t>
            </a:r>
          </a:p>
        </p:txBody>
      </p:sp>
      <p:sp>
        <p:nvSpPr>
          <p:cNvPr id="68" name="TextBox 67"/>
          <p:cNvSpPr txBox="1"/>
          <p:nvPr/>
        </p:nvSpPr>
        <p:spPr>
          <a:xfrm>
            <a:off x="2532888" y="4453128"/>
            <a:ext cx="1865376" cy="347472"/>
          </a:xfrm>
          <a:prstGeom prst="rect">
            <a:avLst/>
          </a:prstGeom>
          <a:noFill/>
        </p:spPr>
        <p:txBody>
          <a:bodyPr wrap="square"/>
          <a:lstStyle/>
          <a:p>
            <a:pPr algn="l"/>
            <a:r>
              <a:rPr sz="950" b="0" i="0">
                <a:solidFill>
                  <a:srgbClr val="3D4D44"/>
                </a:solidFill>
                <a:latin typeface="Calibri Light"/>
              </a:rPr>
              <a:t>RF Regressor</a:t>
            </a:r>
          </a:p>
        </p:txBody>
      </p:sp>
      <p:sp>
        <p:nvSpPr>
          <p:cNvPr id="69" name="TextBox 68"/>
          <p:cNvSpPr txBox="1"/>
          <p:nvPr/>
        </p:nvSpPr>
        <p:spPr>
          <a:xfrm>
            <a:off x="4681728" y="4453128"/>
            <a:ext cx="1362456" cy="347472"/>
          </a:xfrm>
          <a:prstGeom prst="rect">
            <a:avLst/>
          </a:prstGeom>
          <a:noFill/>
        </p:spPr>
        <p:txBody>
          <a:bodyPr wrap="square"/>
          <a:lstStyle/>
          <a:p>
            <a:pPr algn="l"/>
            <a:r>
              <a:rPr sz="950" b="0" i="0">
                <a:solidFill>
                  <a:srgbClr val="8A9D92"/>
                </a:solidFill>
                <a:latin typeface="Calibri Light"/>
              </a:rPr>
              <a:t>RMSE</a:t>
            </a:r>
          </a:p>
        </p:txBody>
      </p:sp>
      <p:sp>
        <p:nvSpPr>
          <p:cNvPr id="70" name="TextBox 69"/>
          <p:cNvSpPr txBox="1"/>
          <p:nvPr/>
        </p:nvSpPr>
        <p:spPr>
          <a:xfrm>
            <a:off x="6327648" y="4453128"/>
            <a:ext cx="1362456" cy="347472"/>
          </a:xfrm>
          <a:prstGeom prst="rect">
            <a:avLst/>
          </a:prstGeom>
          <a:noFill/>
        </p:spPr>
        <p:txBody>
          <a:bodyPr wrap="square"/>
          <a:lstStyle/>
          <a:p>
            <a:pPr algn="l"/>
            <a:r>
              <a:rPr sz="950" b="1" i="0">
                <a:solidFill>
                  <a:srgbClr val="C98B00"/>
                </a:solidFill>
                <a:latin typeface="Calibri"/>
              </a:rPr>
              <a:t>59.96 XAF</a:t>
            </a:r>
          </a:p>
        </p:txBody>
      </p:sp>
      <p:sp>
        <p:nvSpPr>
          <p:cNvPr id="71" name="TextBox 70"/>
          <p:cNvSpPr txBox="1"/>
          <p:nvPr/>
        </p:nvSpPr>
        <p:spPr>
          <a:xfrm>
            <a:off x="7973567" y="4453128"/>
            <a:ext cx="1499616" cy="347472"/>
          </a:xfrm>
          <a:prstGeom prst="rect">
            <a:avLst/>
          </a:prstGeom>
          <a:noFill/>
        </p:spPr>
        <p:txBody>
          <a:bodyPr wrap="square"/>
          <a:lstStyle/>
          <a:p>
            <a:pPr algn="l"/>
            <a:r>
              <a:rPr sz="950" b="0" i="0">
                <a:solidFill>
                  <a:srgbClr val="8A9D92"/>
                </a:solidFill>
                <a:latin typeface="Calibri Light"/>
              </a:rPr>
              <a:t>Noted</a:t>
            </a:r>
          </a:p>
        </p:txBody>
      </p:sp>
      <p:sp>
        <p:nvSpPr>
          <p:cNvPr id="72" name="TextBox 71"/>
          <p:cNvSpPr txBox="1"/>
          <p:nvPr/>
        </p:nvSpPr>
        <p:spPr>
          <a:xfrm>
            <a:off x="9089010" y="4427220"/>
            <a:ext cx="2395727" cy="347472"/>
          </a:xfrm>
          <a:prstGeom prst="rect">
            <a:avLst/>
          </a:prstGeom>
          <a:noFill/>
        </p:spPr>
        <p:txBody>
          <a:bodyPr wrap="square"/>
          <a:lstStyle/>
          <a:p>
            <a:pPr algn="l"/>
            <a:r>
              <a:rPr sz="950" b="0" i="0">
                <a:solidFill>
                  <a:srgbClr val="3D4D44"/>
                </a:solidFill>
                <a:latin typeface="Calibri Light"/>
              </a:rPr>
              <a:t>Errors peak in external shock years — not predictable from lags</a:t>
            </a:r>
          </a:p>
        </p:txBody>
      </p:sp>
      <p:sp>
        <p:nvSpPr>
          <p:cNvPr id="73" name="Rectangle 72"/>
          <p:cNvSpPr/>
          <p:nvPr/>
        </p:nvSpPr>
        <p:spPr>
          <a:xfrm>
            <a:off x="594360" y="4855464"/>
            <a:ext cx="11000232" cy="4572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04088" y="4928616"/>
            <a:ext cx="1591056" cy="347472"/>
          </a:xfrm>
          <a:prstGeom prst="rect">
            <a:avLst/>
          </a:prstGeom>
          <a:noFill/>
        </p:spPr>
        <p:txBody>
          <a:bodyPr wrap="square"/>
          <a:lstStyle/>
          <a:p>
            <a:pPr algn="l"/>
            <a:r>
              <a:rPr sz="950" b="1" i="0">
                <a:solidFill>
                  <a:srgbClr val="1B4D3E"/>
                </a:solidFill>
                <a:latin typeface="Calibri"/>
              </a:rPr>
              <a:t>Forecasting</a:t>
            </a:r>
          </a:p>
        </p:txBody>
      </p:sp>
      <p:sp>
        <p:nvSpPr>
          <p:cNvPr id="75" name="TextBox 74"/>
          <p:cNvSpPr txBox="1"/>
          <p:nvPr/>
        </p:nvSpPr>
        <p:spPr>
          <a:xfrm>
            <a:off x="2532888" y="4928616"/>
            <a:ext cx="1865376" cy="347472"/>
          </a:xfrm>
          <a:prstGeom prst="rect">
            <a:avLst/>
          </a:prstGeom>
          <a:noFill/>
        </p:spPr>
        <p:txBody>
          <a:bodyPr wrap="square"/>
          <a:lstStyle/>
          <a:p>
            <a:pPr algn="l"/>
            <a:r>
              <a:rPr sz="950" b="0" i="0">
                <a:solidFill>
                  <a:srgbClr val="3D4D44"/>
                </a:solidFill>
                <a:latin typeface="Calibri Light"/>
              </a:rPr>
              <a:t>RF Regressor</a:t>
            </a:r>
          </a:p>
        </p:txBody>
      </p:sp>
      <p:sp>
        <p:nvSpPr>
          <p:cNvPr id="76" name="TextBox 75"/>
          <p:cNvSpPr txBox="1"/>
          <p:nvPr/>
        </p:nvSpPr>
        <p:spPr>
          <a:xfrm>
            <a:off x="4681728" y="4928616"/>
            <a:ext cx="1362456" cy="347472"/>
          </a:xfrm>
          <a:prstGeom prst="rect">
            <a:avLst/>
          </a:prstGeom>
          <a:noFill/>
        </p:spPr>
        <p:txBody>
          <a:bodyPr wrap="square"/>
          <a:lstStyle/>
          <a:p>
            <a:pPr algn="l"/>
            <a:r>
              <a:rPr sz="950" b="0" i="0">
                <a:solidFill>
                  <a:srgbClr val="8A9D92"/>
                </a:solidFill>
                <a:latin typeface="Calibri Light"/>
              </a:rPr>
              <a:t>MAE</a:t>
            </a:r>
          </a:p>
        </p:txBody>
      </p:sp>
      <p:sp>
        <p:nvSpPr>
          <p:cNvPr id="77" name="TextBox 76"/>
          <p:cNvSpPr txBox="1"/>
          <p:nvPr/>
        </p:nvSpPr>
        <p:spPr>
          <a:xfrm>
            <a:off x="6327648" y="4928616"/>
            <a:ext cx="1362456" cy="347472"/>
          </a:xfrm>
          <a:prstGeom prst="rect">
            <a:avLst/>
          </a:prstGeom>
          <a:noFill/>
        </p:spPr>
        <p:txBody>
          <a:bodyPr wrap="square"/>
          <a:lstStyle/>
          <a:p>
            <a:pPr algn="l"/>
            <a:r>
              <a:rPr sz="950" b="1" i="0">
                <a:solidFill>
                  <a:srgbClr val="C98B00"/>
                </a:solidFill>
                <a:latin typeface="Calibri"/>
              </a:rPr>
              <a:t>35.05 XAF</a:t>
            </a:r>
          </a:p>
        </p:txBody>
      </p:sp>
      <p:sp>
        <p:nvSpPr>
          <p:cNvPr id="78" name="TextBox 77"/>
          <p:cNvSpPr txBox="1"/>
          <p:nvPr/>
        </p:nvSpPr>
        <p:spPr>
          <a:xfrm>
            <a:off x="7973567" y="4928616"/>
            <a:ext cx="1499616" cy="347472"/>
          </a:xfrm>
          <a:prstGeom prst="rect">
            <a:avLst/>
          </a:prstGeom>
          <a:noFill/>
        </p:spPr>
        <p:txBody>
          <a:bodyPr wrap="square"/>
          <a:lstStyle/>
          <a:p>
            <a:pPr algn="l"/>
            <a:r>
              <a:rPr sz="950" b="0" i="0">
                <a:solidFill>
                  <a:srgbClr val="8A9D92"/>
                </a:solidFill>
                <a:latin typeface="Calibri Light"/>
              </a:rPr>
              <a:t>Noted</a:t>
            </a:r>
          </a:p>
        </p:txBody>
      </p:sp>
      <p:sp>
        <p:nvSpPr>
          <p:cNvPr id="79" name="TextBox 78"/>
          <p:cNvSpPr txBox="1"/>
          <p:nvPr/>
        </p:nvSpPr>
        <p:spPr>
          <a:xfrm>
            <a:off x="9089010" y="4902708"/>
            <a:ext cx="2395727" cy="347472"/>
          </a:xfrm>
          <a:prstGeom prst="rect">
            <a:avLst/>
          </a:prstGeom>
          <a:noFill/>
        </p:spPr>
        <p:txBody>
          <a:bodyPr wrap="square"/>
          <a:lstStyle/>
          <a:p>
            <a:pPr algn="l"/>
            <a:r>
              <a:rPr sz="950" b="0" i="0">
                <a:solidFill>
                  <a:srgbClr val="3D4D44"/>
                </a:solidFill>
                <a:latin typeface="Calibri Light"/>
              </a:rPr>
              <a:t>Typical monthly absolute forecast error for Maize (white)</a:t>
            </a:r>
          </a:p>
        </p:txBody>
      </p:sp>
      <p:sp>
        <p:nvSpPr>
          <p:cNvPr id="87" name="Rectangle 86"/>
          <p:cNvSpPr/>
          <p:nvPr/>
        </p:nvSpPr>
        <p:spPr>
          <a:xfrm>
            <a:off x="594296" y="5349240"/>
            <a:ext cx="11000232" cy="4572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704024" y="5422392"/>
            <a:ext cx="1591056" cy="347472"/>
          </a:xfrm>
          <a:prstGeom prst="rect">
            <a:avLst/>
          </a:prstGeom>
          <a:noFill/>
        </p:spPr>
        <p:txBody>
          <a:bodyPr wrap="square"/>
          <a:lstStyle/>
          <a:p>
            <a:pPr algn="l"/>
            <a:r>
              <a:rPr sz="950" b="1" i="0">
                <a:solidFill>
                  <a:srgbClr val="1B4D3E"/>
                </a:solidFill>
                <a:latin typeface="Calibri"/>
              </a:rPr>
              <a:t>Patterns</a:t>
            </a:r>
          </a:p>
        </p:txBody>
      </p:sp>
      <p:sp>
        <p:nvSpPr>
          <p:cNvPr id="89" name="TextBox 88"/>
          <p:cNvSpPr txBox="1"/>
          <p:nvPr/>
        </p:nvSpPr>
        <p:spPr>
          <a:xfrm>
            <a:off x="2532824" y="5422392"/>
            <a:ext cx="1865376" cy="347472"/>
          </a:xfrm>
          <a:prstGeom prst="rect">
            <a:avLst/>
          </a:prstGeom>
          <a:noFill/>
        </p:spPr>
        <p:txBody>
          <a:bodyPr wrap="square"/>
          <a:lstStyle/>
          <a:p>
            <a:pPr algn="l"/>
            <a:r>
              <a:rPr sz="950" b="0" i="0">
                <a:solidFill>
                  <a:srgbClr val="3D4D44"/>
                </a:solidFill>
                <a:latin typeface="Calibri Light"/>
              </a:rPr>
              <a:t>CV ranking</a:t>
            </a:r>
          </a:p>
        </p:txBody>
      </p:sp>
      <p:sp>
        <p:nvSpPr>
          <p:cNvPr id="90" name="TextBox 89"/>
          <p:cNvSpPr txBox="1"/>
          <p:nvPr/>
        </p:nvSpPr>
        <p:spPr>
          <a:xfrm>
            <a:off x="4681664" y="5422392"/>
            <a:ext cx="1362456" cy="347472"/>
          </a:xfrm>
          <a:prstGeom prst="rect">
            <a:avLst/>
          </a:prstGeom>
          <a:noFill/>
        </p:spPr>
        <p:txBody>
          <a:bodyPr wrap="square"/>
          <a:lstStyle/>
          <a:p>
            <a:pPr algn="l"/>
            <a:r>
              <a:rPr sz="950" b="0" i="0">
                <a:solidFill>
                  <a:srgbClr val="8A9D92"/>
                </a:solidFill>
                <a:latin typeface="Calibri Light"/>
              </a:rPr>
              <a:t>Most volatile</a:t>
            </a:r>
          </a:p>
        </p:txBody>
      </p:sp>
      <p:sp>
        <p:nvSpPr>
          <p:cNvPr id="91" name="TextBox 90"/>
          <p:cNvSpPr txBox="1"/>
          <p:nvPr/>
        </p:nvSpPr>
        <p:spPr>
          <a:xfrm>
            <a:off x="6327584" y="5422392"/>
            <a:ext cx="1362456" cy="347472"/>
          </a:xfrm>
          <a:prstGeom prst="rect">
            <a:avLst/>
          </a:prstGeom>
          <a:noFill/>
        </p:spPr>
        <p:txBody>
          <a:bodyPr wrap="square"/>
          <a:lstStyle/>
          <a:p>
            <a:pPr algn="l"/>
            <a:r>
              <a:rPr sz="950" b="1" i="0">
                <a:solidFill>
                  <a:srgbClr val="C98B00"/>
                </a:solidFill>
                <a:latin typeface="Calibri"/>
              </a:rPr>
              <a:t>Fish / Veg</a:t>
            </a:r>
          </a:p>
        </p:txBody>
      </p:sp>
      <p:sp>
        <p:nvSpPr>
          <p:cNvPr id="92" name="TextBox 91"/>
          <p:cNvSpPr txBox="1"/>
          <p:nvPr/>
        </p:nvSpPr>
        <p:spPr>
          <a:xfrm>
            <a:off x="7973503" y="5422392"/>
            <a:ext cx="1499616" cy="347472"/>
          </a:xfrm>
          <a:prstGeom prst="rect">
            <a:avLst/>
          </a:prstGeom>
          <a:noFill/>
        </p:spPr>
        <p:txBody>
          <a:bodyPr wrap="square"/>
          <a:lstStyle/>
          <a:p>
            <a:pPr algn="l"/>
            <a:r>
              <a:rPr sz="950" b="0" i="0">
                <a:solidFill>
                  <a:srgbClr val="8A9D92"/>
                </a:solidFill>
                <a:latin typeface="Calibri Light"/>
              </a:rPr>
              <a:t>Identified</a:t>
            </a:r>
          </a:p>
        </p:txBody>
      </p:sp>
      <p:sp>
        <p:nvSpPr>
          <p:cNvPr id="93" name="TextBox 92"/>
          <p:cNvSpPr txBox="1"/>
          <p:nvPr/>
        </p:nvSpPr>
        <p:spPr>
          <a:xfrm>
            <a:off x="9088946" y="5396484"/>
            <a:ext cx="2395727" cy="347472"/>
          </a:xfrm>
          <a:prstGeom prst="rect">
            <a:avLst/>
          </a:prstGeom>
          <a:noFill/>
        </p:spPr>
        <p:txBody>
          <a:bodyPr wrap="square"/>
          <a:lstStyle/>
          <a:p>
            <a:pPr algn="l"/>
            <a:r>
              <a:rPr sz="950" b="0" i="0">
                <a:solidFill>
                  <a:srgbClr val="3D4D44"/>
                </a:solidFill>
                <a:latin typeface="Calibri Light"/>
              </a:rPr>
              <a:t>CV &gt; 0.40; far more unpredictable than staple cereals</a:t>
            </a:r>
          </a:p>
        </p:txBody>
      </p:sp>
      <p:sp>
        <p:nvSpPr>
          <p:cNvPr id="94" name="Rectangle 93"/>
          <p:cNvSpPr/>
          <p:nvPr/>
        </p:nvSpPr>
        <p:spPr>
          <a:xfrm>
            <a:off x="594296" y="5824728"/>
            <a:ext cx="1100023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04024" y="5897880"/>
            <a:ext cx="1591056" cy="347472"/>
          </a:xfrm>
          <a:prstGeom prst="rect">
            <a:avLst/>
          </a:prstGeom>
          <a:noFill/>
        </p:spPr>
        <p:txBody>
          <a:bodyPr wrap="square"/>
          <a:lstStyle/>
          <a:p>
            <a:pPr algn="l"/>
            <a:r>
              <a:rPr sz="950" b="1" i="0">
                <a:solidFill>
                  <a:srgbClr val="1B4D3E"/>
                </a:solidFill>
                <a:latin typeface="Calibri"/>
              </a:rPr>
              <a:t>Patterns</a:t>
            </a:r>
          </a:p>
        </p:txBody>
      </p:sp>
      <p:sp>
        <p:nvSpPr>
          <p:cNvPr id="96" name="TextBox 95"/>
          <p:cNvSpPr txBox="1"/>
          <p:nvPr/>
        </p:nvSpPr>
        <p:spPr>
          <a:xfrm>
            <a:off x="2532824" y="5897880"/>
            <a:ext cx="1865376" cy="347472"/>
          </a:xfrm>
          <a:prstGeom prst="rect">
            <a:avLst/>
          </a:prstGeom>
          <a:noFill/>
        </p:spPr>
        <p:txBody>
          <a:bodyPr wrap="square"/>
          <a:lstStyle/>
          <a:p>
            <a:pPr algn="l"/>
            <a:r>
              <a:rPr sz="950" b="0" i="0">
                <a:solidFill>
                  <a:srgbClr val="3D4D44"/>
                </a:solidFill>
                <a:latin typeface="Calibri Light"/>
              </a:rPr>
              <a:t>Trend analysis</a:t>
            </a:r>
          </a:p>
        </p:txBody>
      </p:sp>
      <p:sp>
        <p:nvSpPr>
          <p:cNvPr id="97" name="TextBox 96"/>
          <p:cNvSpPr txBox="1"/>
          <p:nvPr/>
        </p:nvSpPr>
        <p:spPr>
          <a:xfrm>
            <a:off x="4681664" y="5897880"/>
            <a:ext cx="1362456" cy="347472"/>
          </a:xfrm>
          <a:prstGeom prst="rect">
            <a:avLst/>
          </a:prstGeom>
          <a:noFill/>
        </p:spPr>
        <p:txBody>
          <a:bodyPr wrap="square"/>
          <a:lstStyle/>
          <a:p>
            <a:pPr algn="l"/>
            <a:r>
              <a:rPr sz="950" b="0" i="0">
                <a:solidFill>
                  <a:srgbClr val="8A9D92"/>
                </a:solidFill>
                <a:latin typeface="Calibri Light"/>
              </a:rPr>
              <a:t>Direction</a:t>
            </a:r>
          </a:p>
        </p:txBody>
      </p:sp>
      <p:sp>
        <p:nvSpPr>
          <p:cNvPr id="98" name="TextBox 97"/>
          <p:cNvSpPr txBox="1"/>
          <p:nvPr/>
        </p:nvSpPr>
        <p:spPr>
          <a:xfrm>
            <a:off x="6327584" y="5897880"/>
            <a:ext cx="1362456" cy="347472"/>
          </a:xfrm>
          <a:prstGeom prst="rect">
            <a:avLst/>
          </a:prstGeom>
          <a:noFill/>
        </p:spPr>
        <p:txBody>
          <a:bodyPr wrap="square"/>
          <a:lstStyle/>
          <a:p>
            <a:pPr algn="l"/>
            <a:r>
              <a:rPr sz="950" b="1" i="0">
                <a:solidFill>
                  <a:srgbClr val="C98B00"/>
                </a:solidFill>
                <a:latin typeface="Calibri"/>
              </a:rPr>
              <a:t>Rising</a:t>
            </a:r>
          </a:p>
        </p:txBody>
      </p:sp>
      <p:sp>
        <p:nvSpPr>
          <p:cNvPr id="99" name="TextBox 98"/>
          <p:cNvSpPr txBox="1"/>
          <p:nvPr/>
        </p:nvSpPr>
        <p:spPr>
          <a:xfrm>
            <a:off x="7973503" y="5897880"/>
            <a:ext cx="1499616" cy="347472"/>
          </a:xfrm>
          <a:prstGeom prst="rect">
            <a:avLst/>
          </a:prstGeom>
          <a:noFill/>
        </p:spPr>
        <p:txBody>
          <a:bodyPr wrap="square"/>
          <a:lstStyle/>
          <a:p>
            <a:pPr algn="l"/>
            <a:r>
              <a:rPr sz="950" b="0" i="0">
                <a:solidFill>
                  <a:srgbClr val="276C4E"/>
                </a:solidFill>
                <a:latin typeface="Calibri Light"/>
              </a:rPr>
              <a:t>Confirmed</a:t>
            </a:r>
          </a:p>
        </p:txBody>
      </p:sp>
      <p:sp>
        <p:nvSpPr>
          <p:cNvPr id="100" name="TextBox 99"/>
          <p:cNvSpPr txBox="1"/>
          <p:nvPr/>
        </p:nvSpPr>
        <p:spPr>
          <a:xfrm>
            <a:off x="9088946" y="5871972"/>
            <a:ext cx="2395727" cy="347472"/>
          </a:xfrm>
          <a:prstGeom prst="rect">
            <a:avLst/>
          </a:prstGeom>
          <a:noFill/>
        </p:spPr>
        <p:txBody>
          <a:bodyPr wrap="square"/>
          <a:lstStyle/>
          <a:p>
            <a:pPr algn="l"/>
            <a:r>
              <a:rPr sz="950" b="0" i="0">
                <a:solidFill>
                  <a:srgbClr val="3D4D44"/>
                </a:solidFill>
                <a:latin typeface="Calibri Light"/>
              </a:rPr>
              <a:t>Consistent upward trend since 2005; post-2020 acceleration clear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88825" cy="6858000"/>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22960"/>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54864"/>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91440"/>
            <a:ext cx="11000232" cy="237744"/>
          </a:xfrm>
          <a:prstGeom prst="rect">
            <a:avLst/>
          </a:prstGeom>
          <a:noFill/>
        </p:spPr>
        <p:txBody>
          <a:bodyPr wrap="square"/>
          <a:lstStyle/>
          <a:p>
            <a:pPr algn="l"/>
            <a:r>
              <a:rPr sz="750" b="1" i="0">
                <a:solidFill>
                  <a:srgbClr val="C98B00"/>
                </a:solidFill>
                <a:latin typeface="Calibri"/>
              </a:rPr>
              <a:t>10  |  CONCLUSIONS &amp; REFERENCES</a:t>
            </a:r>
          </a:p>
        </p:txBody>
      </p:sp>
      <p:sp>
        <p:nvSpPr>
          <p:cNvPr id="6" name="TextBox 5"/>
          <p:cNvSpPr txBox="1"/>
          <p:nvPr/>
        </p:nvSpPr>
        <p:spPr>
          <a:xfrm>
            <a:off x="594360" y="347472"/>
            <a:ext cx="9628632" cy="420624"/>
          </a:xfrm>
          <a:prstGeom prst="rect">
            <a:avLst/>
          </a:prstGeom>
          <a:noFill/>
        </p:spPr>
        <p:txBody>
          <a:bodyPr wrap="square"/>
          <a:lstStyle/>
          <a:p>
            <a:pPr algn="l"/>
            <a:r>
              <a:rPr sz="2600" b="0" i="0">
                <a:solidFill>
                  <a:srgbClr val="FFFFFF"/>
                </a:solidFill>
                <a:latin typeface="Calibri Light"/>
              </a:rPr>
              <a:t>Summary of Findings, Recommendations, and Academic Sources</a:t>
            </a:r>
          </a:p>
        </p:txBody>
      </p:sp>
      <p:sp>
        <p:nvSpPr>
          <p:cNvPr id="7" name="Rectangle 6"/>
          <p:cNvSpPr/>
          <p:nvPr/>
        </p:nvSpPr>
        <p:spPr>
          <a:xfrm>
            <a:off x="0" y="6601968"/>
            <a:ext cx="12188952" cy="256032"/>
          </a:xfrm>
          <a:prstGeom prst="rect">
            <a:avLst/>
          </a:prstGeom>
          <a:solidFill>
            <a:srgbClr val="1B4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638544"/>
            <a:ext cx="10058400" cy="201168"/>
          </a:xfrm>
          <a:prstGeom prst="rect">
            <a:avLst/>
          </a:prstGeom>
          <a:noFill/>
        </p:spPr>
        <p:txBody>
          <a:bodyPr wrap="square"/>
          <a:lstStyle/>
          <a:p>
            <a:pPr algn="l"/>
            <a:r>
              <a:rPr sz="700" b="0" i="0">
                <a:solidFill>
                  <a:srgbClr val="52B788"/>
                </a:solidFill>
                <a:latin typeface="Calibri"/>
              </a:rPr>
              <a:t>NKAFU AJAPMUA   |   CT23A129   |   CEC420 DATA MINING   |   UNIVERSITY OF BUEA</a:t>
            </a:r>
          </a:p>
        </p:txBody>
      </p:sp>
      <p:sp>
        <p:nvSpPr>
          <p:cNvPr id="9" name="TextBox 8"/>
          <p:cNvSpPr txBox="1"/>
          <p:nvPr/>
        </p:nvSpPr>
        <p:spPr>
          <a:xfrm>
            <a:off x="11155680" y="6638544"/>
            <a:ext cx="822960" cy="201168"/>
          </a:xfrm>
          <a:prstGeom prst="rect">
            <a:avLst/>
          </a:prstGeom>
          <a:noFill/>
        </p:spPr>
        <p:txBody>
          <a:bodyPr wrap="square"/>
          <a:lstStyle/>
          <a:p>
            <a:pPr algn="r"/>
            <a:r>
              <a:rPr sz="700" b="0" i="0">
                <a:solidFill>
                  <a:srgbClr val="52B788"/>
                </a:solidFill>
                <a:latin typeface="Calibri"/>
              </a:rPr>
              <a:t>16 / 16</a:t>
            </a:r>
          </a:p>
        </p:txBody>
      </p:sp>
      <p:sp>
        <p:nvSpPr>
          <p:cNvPr id="10" name="TextBox 9"/>
          <p:cNvSpPr txBox="1"/>
          <p:nvPr/>
        </p:nvSpPr>
        <p:spPr>
          <a:xfrm>
            <a:off x="594360" y="987552"/>
            <a:ext cx="6600139" cy="292608"/>
          </a:xfrm>
          <a:prstGeom prst="rect">
            <a:avLst/>
          </a:prstGeom>
          <a:noFill/>
        </p:spPr>
        <p:txBody>
          <a:bodyPr wrap="square"/>
          <a:lstStyle/>
          <a:p>
            <a:pPr algn="l"/>
            <a:r>
              <a:rPr sz="1300" b="1" i="0">
                <a:solidFill>
                  <a:srgbClr val="1B4D3E"/>
                </a:solidFill>
                <a:latin typeface="Calibri"/>
              </a:rPr>
              <a:t>Key Conclusions</a:t>
            </a:r>
          </a:p>
        </p:txBody>
      </p:sp>
      <p:sp>
        <p:nvSpPr>
          <p:cNvPr id="11" name="Rectangle 10"/>
          <p:cNvSpPr/>
          <p:nvPr/>
        </p:nvSpPr>
        <p:spPr>
          <a:xfrm>
            <a:off x="594360" y="1316736"/>
            <a:ext cx="6600139"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444752"/>
            <a:ext cx="6600139"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1444752"/>
            <a:ext cx="6600139" cy="50292"/>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1536192"/>
            <a:ext cx="6325819" cy="292608"/>
          </a:xfrm>
          <a:prstGeom prst="rect">
            <a:avLst/>
          </a:prstGeom>
          <a:noFill/>
        </p:spPr>
        <p:txBody>
          <a:bodyPr wrap="square"/>
          <a:lstStyle/>
          <a:p>
            <a:pPr algn="l"/>
            <a:r>
              <a:rPr sz="1150" b="1" i="0">
                <a:solidFill>
                  <a:srgbClr val="1B4D3E"/>
                </a:solidFill>
                <a:latin typeface="Calibri"/>
              </a:rPr>
              <a:t>Classification is actionable</a:t>
            </a:r>
          </a:p>
        </p:txBody>
      </p:sp>
      <p:sp>
        <p:nvSpPr>
          <p:cNvPr id="15" name="TextBox 14"/>
          <p:cNvSpPr txBox="1"/>
          <p:nvPr/>
        </p:nvSpPr>
        <p:spPr>
          <a:xfrm>
            <a:off x="777240" y="1883664"/>
            <a:ext cx="6325819" cy="713232"/>
          </a:xfrm>
          <a:prstGeom prst="rect">
            <a:avLst/>
          </a:prstGeom>
          <a:noFill/>
        </p:spPr>
        <p:txBody>
          <a:bodyPr wrap="square"/>
          <a:lstStyle/>
          <a:p>
            <a:pPr algn="l"/>
            <a:r>
              <a:rPr sz="1000" b="0" i="0">
                <a:solidFill>
                  <a:srgbClr val="3D4D44"/>
                </a:solidFill>
                <a:latin typeface="Calibri Light"/>
              </a:rPr>
              <a:t>A Random Forest classifier achieves 69.2% accuracy predicting whether a food price is Low, Medium, or High. This is sufficient for use as an early-warning signal for farmers and food assistance planners.</a:t>
            </a:r>
          </a:p>
        </p:txBody>
      </p:sp>
      <p:sp>
        <p:nvSpPr>
          <p:cNvPr id="16" name="Rectangle 15"/>
          <p:cNvSpPr/>
          <p:nvPr/>
        </p:nvSpPr>
        <p:spPr>
          <a:xfrm>
            <a:off x="594360" y="2724912"/>
            <a:ext cx="6600139"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2724912"/>
            <a:ext cx="6600139" cy="50292"/>
          </a:xfrm>
          <a:prstGeom prst="rect">
            <a:avLst/>
          </a:prstGeom>
          <a:solidFill>
            <a:srgbClr val="276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2816352"/>
            <a:ext cx="6325819" cy="292608"/>
          </a:xfrm>
          <a:prstGeom prst="rect">
            <a:avLst/>
          </a:prstGeom>
          <a:noFill/>
        </p:spPr>
        <p:txBody>
          <a:bodyPr wrap="square"/>
          <a:lstStyle/>
          <a:p>
            <a:pPr algn="l"/>
            <a:r>
              <a:rPr sz="1150" b="1" i="0">
                <a:solidFill>
                  <a:srgbClr val="1B4D3E"/>
                </a:solidFill>
                <a:latin typeface="Calibri"/>
              </a:rPr>
              <a:t>Market segmentation is meaningful</a:t>
            </a:r>
          </a:p>
        </p:txBody>
      </p:sp>
      <p:sp>
        <p:nvSpPr>
          <p:cNvPr id="19" name="TextBox 18"/>
          <p:cNvSpPr txBox="1"/>
          <p:nvPr/>
        </p:nvSpPr>
        <p:spPr>
          <a:xfrm>
            <a:off x="777240" y="3163824"/>
            <a:ext cx="6325819" cy="713232"/>
          </a:xfrm>
          <a:prstGeom prst="rect">
            <a:avLst/>
          </a:prstGeom>
          <a:noFill/>
        </p:spPr>
        <p:txBody>
          <a:bodyPr wrap="square"/>
          <a:lstStyle/>
          <a:p>
            <a:pPr algn="l"/>
            <a:r>
              <a:rPr sz="1000" b="0" i="0">
                <a:solidFill>
                  <a:srgbClr val="3D4D44"/>
                </a:solidFill>
                <a:latin typeface="Calibri Light"/>
              </a:rPr>
              <a:t>K-Means identifies four structurally distinct market groups. National one-size-fits-all food policies are unlikely to be effective across all four clusters. Regionally differentiated interventions are recommended.</a:t>
            </a:r>
          </a:p>
        </p:txBody>
      </p:sp>
      <p:sp>
        <p:nvSpPr>
          <p:cNvPr id="20" name="Rectangle 19"/>
          <p:cNvSpPr/>
          <p:nvPr/>
        </p:nvSpPr>
        <p:spPr>
          <a:xfrm>
            <a:off x="594360" y="4005072"/>
            <a:ext cx="6600139"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 y="4005072"/>
            <a:ext cx="6600139" cy="50292"/>
          </a:xfrm>
          <a:prstGeom prst="rect">
            <a:avLst/>
          </a:prstGeom>
          <a:solidFill>
            <a:srgbClr val="3A8C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096511"/>
            <a:ext cx="6325819" cy="292608"/>
          </a:xfrm>
          <a:prstGeom prst="rect">
            <a:avLst/>
          </a:prstGeom>
          <a:noFill/>
        </p:spPr>
        <p:txBody>
          <a:bodyPr wrap="square"/>
          <a:lstStyle/>
          <a:p>
            <a:pPr algn="l"/>
            <a:r>
              <a:rPr sz="1150" b="1" i="0">
                <a:solidFill>
                  <a:srgbClr val="1B4D3E"/>
                </a:solidFill>
                <a:latin typeface="Calibri"/>
              </a:rPr>
              <a:t>Forecasting provides a viable baseline</a:t>
            </a:r>
          </a:p>
        </p:txBody>
      </p:sp>
      <p:sp>
        <p:nvSpPr>
          <p:cNvPr id="23" name="TextBox 22"/>
          <p:cNvSpPr txBox="1"/>
          <p:nvPr/>
        </p:nvSpPr>
        <p:spPr>
          <a:xfrm>
            <a:off x="777240" y="4443983"/>
            <a:ext cx="6325819" cy="713232"/>
          </a:xfrm>
          <a:prstGeom prst="rect">
            <a:avLst/>
          </a:prstGeom>
          <a:noFill/>
        </p:spPr>
        <p:txBody>
          <a:bodyPr wrap="square"/>
          <a:lstStyle/>
          <a:p>
            <a:pPr algn="l"/>
            <a:r>
              <a:rPr sz="1000" b="0" i="0">
                <a:solidFill>
                  <a:srgbClr val="3D4D44"/>
                </a:solidFill>
                <a:latin typeface="Calibri Light"/>
              </a:rPr>
              <a:t>The lag-based Random Forest Regressor (R2 = 0.48) demonstrates that historical prices alone contain substantial predictive information. Adding external variables (weather, exchange rates) would materially improve accuracy.</a:t>
            </a:r>
          </a:p>
        </p:txBody>
      </p:sp>
      <p:sp>
        <p:nvSpPr>
          <p:cNvPr id="24" name="Rectangle 23"/>
          <p:cNvSpPr/>
          <p:nvPr/>
        </p:nvSpPr>
        <p:spPr>
          <a:xfrm>
            <a:off x="594360" y="5285231"/>
            <a:ext cx="6600139"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 y="5285231"/>
            <a:ext cx="6600139" cy="50292"/>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376671"/>
            <a:ext cx="6325819" cy="292608"/>
          </a:xfrm>
          <a:prstGeom prst="rect">
            <a:avLst/>
          </a:prstGeom>
          <a:noFill/>
        </p:spPr>
        <p:txBody>
          <a:bodyPr wrap="square"/>
          <a:lstStyle/>
          <a:p>
            <a:pPr algn="l"/>
            <a:r>
              <a:rPr sz="1150" b="1" i="0">
                <a:solidFill>
                  <a:srgbClr val="1B4D3E"/>
                </a:solidFill>
                <a:latin typeface="Calibri"/>
              </a:rPr>
              <a:t>Seasonal patterns are predictable and actionable</a:t>
            </a:r>
          </a:p>
        </p:txBody>
      </p:sp>
      <p:sp>
        <p:nvSpPr>
          <p:cNvPr id="27" name="TextBox 26"/>
          <p:cNvSpPr txBox="1"/>
          <p:nvPr/>
        </p:nvSpPr>
        <p:spPr>
          <a:xfrm>
            <a:off x="777240" y="5724144"/>
            <a:ext cx="6325819" cy="713232"/>
          </a:xfrm>
          <a:prstGeom prst="rect">
            <a:avLst/>
          </a:prstGeom>
          <a:noFill/>
        </p:spPr>
        <p:txBody>
          <a:bodyPr wrap="square"/>
          <a:lstStyle/>
          <a:p>
            <a:pPr algn="l"/>
            <a:r>
              <a:rPr sz="1000" b="0" i="0">
                <a:solidFill>
                  <a:srgbClr val="3D4D44"/>
                </a:solidFill>
                <a:latin typeface="Calibri Light"/>
              </a:rPr>
              <a:t>The June–August lean-season price spike is highly consistent across all years and regions. Proactive reserve pre-positioning before April could dampen this predictable shock and reduce household food insecurity.</a:t>
            </a:r>
          </a:p>
        </p:txBody>
      </p:sp>
      <p:sp>
        <p:nvSpPr>
          <p:cNvPr id="28" name="TextBox 27"/>
          <p:cNvSpPr txBox="1"/>
          <p:nvPr/>
        </p:nvSpPr>
        <p:spPr>
          <a:xfrm>
            <a:off x="7560259" y="987552"/>
            <a:ext cx="4034332" cy="292608"/>
          </a:xfrm>
          <a:prstGeom prst="rect">
            <a:avLst/>
          </a:prstGeom>
          <a:noFill/>
        </p:spPr>
        <p:txBody>
          <a:bodyPr wrap="square"/>
          <a:lstStyle/>
          <a:p>
            <a:pPr algn="l"/>
            <a:r>
              <a:rPr sz="1200" b="1" i="0">
                <a:solidFill>
                  <a:srgbClr val="1B4D3E"/>
                </a:solidFill>
                <a:latin typeface="Calibri"/>
              </a:rPr>
              <a:t>References (APA 7th)</a:t>
            </a:r>
          </a:p>
        </p:txBody>
      </p:sp>
      <p:sp>
        <p:nvSpPr>
          <p:cNvPr id="29" name="Rectangle 28"/>
          <p:cNvSpPr/>
          <p:nvPr/>
        </p:nvSpPr>
        <p:spPr>
          <a:xfrm>
            <a:off x="7560259" y="1316736"/>
            <a:ext cx="4034332" cy="20116"/>
          </a:xfrm>
          <a:prstGeom prst="rect">
            <a:avLst/>
          </a:prstGeom>
          <a:solidFill>
            <a:srgbClr val="D0D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560259" y="1444752"/>
            <a:ext cx="403433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560259" y="1444752"/>
            <a:ext cx="50292" cy="85953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24851" y="1499616"/>
            <a:ext cx="3778300" cy="256032"/>
          </a:xfrm>
          <a:prstGeom prst="rect">
            <a:avLst/>
          </a:prstGeom>
          <a:noFill/>
        </p:spPr>
        <p:txBody>
          <a:bodyPr wrap="square"/>
          <a:lstStyle/>
          <a:p>
            <a:pPr algn="l"/>
            <a:r>
              <a:rPr sz="950" b="1" i="0">
                <a:solidFill>
                  <a:srgbClr val="1B4D3E"/>
                </a:solidFill>
                <a:latin typeface="Calibri"/>
              </a:rPr>
              <a:t>Breiman, L. (2001).</a:t>
            </a:r>
          </a:p>
        </p:txBody>
      </p:sp>
      <p:sp>
        <p:nvSpPr>
          <p:cNvPr id="33" name="TextBox 32"/>
          <p:cNvSpPr txBox="1"/>
          <p:nvPr/>
        </p:nvSpPr>
        <p:spPr>
          <a:xfrm>
            <a:off x="7724851" y="1792224"/>
            <a:ext cx="3778300" cy="457200"/>
          </a:xfrm>
          <a:prstGeom prst="rect">
            <a:avLst/>
          </a:prstGeom>
          <a:noFill/>
        </p:spPr>
        <p:txBody>
          <a:bodyPr wrap="square"/>
          <a:lstStyle/>
          <a:p>
            <a:pPr algn="l"/>
            <a:r>
              <a:rPr sz="900" b="0" i="0">
                <a:solidFill>
                  <a:srgbClr val="3D4D44"/>
                </a:solidFill>
                <a:latin typeface="Calibri Light"/>
              </a:rPr>
              <a:t>Random forests. Machine Learning, 45(1), 5–32.</a:t>
            </a:r>
          </a:p>
        </p:txBody>
      </p:sp>
      <p:sp>
        <p:nvSpPr>
          <p:cNvPr id="34" name="Rectangle 33"/>
          <p:cNvSpPr/>
          <p:nvPr/>
        </p:nvSpPr>
        <p:spPr>
          <a:xfrm>
            <a:off x="7560259" y="2395728"/>
            <a:ext cx="403433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560259" y="2395728"/>
            <a:ext cx="50292" cy="85953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24851" y="2450592"/>
            <a:ext cx="3778300" cy="256032"/>
          </a:xfrm>
          <a:prstGeom prst="rect">
            <a:avLst/>
          </a:prstGeom>
          <a:noFill/>
        </p:spPr>
        <p:txBody>
          <a:bodyPr wrap="square"/>
          <a:lstStyle/>
          <a:p>
            <a:pPr algn="l"/>
            <a:r>
              <a:rPr sz="950" b="1" i="0">
                <a:solidFill>
                  <a:srgbClr val="1B4D3E"/>
                </a:solidFill>
                <a:latin typeface="Calibri"/>
              </a:rPr>
              <a:t>FAO. (2023).</a:t>
            </a:r>
          </a:p>
        </p:txBody>
      </p:sp>
      <p:sp>
        <p:nvSpPr>
          <p:cNvPr id="37" name="TextBox 36"/>
          <p:cNvSpPr txBox="1"/>
          <p:nvPr/>
        </p:nvSpPr>
        <p:spPr>
          <a:xfrm>
            <a:off x="7724851" y="2743200"/>
            <a:ext cx="3778300" cy="457200"/>
          </a:xfrm>
          <a:prstGeom prst="rect">
            <a:avLst/>
          </a:prstGeom>
          <a:noFill/>
        </p:spPr>
        <p:txBody>
          <a:bodyPr wrap="square"/>
          <a:lstStyle/>
          <a:p>
            <a:pPr algn="l"/>
            <a:r>
              <a:rPr sz="900" b="0" i="0">
                <a:solidFill>
                  <a:srgbClr val="3D4D44"/>
                </a:solidFill>
                <a:latin typeface="Calibri Light"/>
              </a:rPr>
              <a:t>The state of food security and nutrition in the world. FAO.</a:t>
            </a:r>
          </a:p>
        </p:txBody>
      </p:sp>
      <p:sp>
        <p:nvSpPr>
          <p:cNvPr id="38" name="Rectangle 37"/>
          <p:cNvSpPr/>
          <p:nvPr/>
        </p:nvSpPr>
        <p:spPr>
          <a:xfrm>
            <a:off x="7560259" y="3346704"/>
            <a:ext cx="403433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560259" y="3346704"/>
            <a:ext cx="50292" cy="85953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24851" y="3401568"/>
            <a:ext cx="3778300" cy="256032"/>
          </a:xfrm>
          <a:prstGeom prst="rect">
            <a:avLst/>
          </a:prstGeom>
          <a:noFill/>
        </p:spPr>
        <p:txBody>
          <a:bodyPr wrap="square"/>
          <a:lstStyle/>
          <a:p>
            <a:pPr algn="l"/>
            <a:r>
              <a:rPr sz="950" b="1" i="0">
                <a:solidFill>
                  <a:srgbClr val="1B4D3E"/>
                </a:solidFill>
                <a:latin typeface="Calibri"/>
              </a:rPr>
              <a:t>Han, J. et al. (2012).</a:t>
            </a:r>
          </a:p>
        </p:txBody>
      </p:sp>
      <p:sp>
        <p:nvSpPr>
          <p:cNvPr id="41" name="TextBox 40"/>
          <p:cNvSpPr txBox="1"/>
          <p:nvPr/>
        </p:nvSpPr>
        <p:spPr>
          <a:xfrm>
            <a:off x="7724851" y="3694176"/>
            <a:ext cx="3778300" cy="457200"/>
          </a:xfrm>
          <a:prstGeom prst="rect">
            <a:avLst/>
          </a:prstGeom>
          <a:noFill/>
        </p:spPr>
        <p:txBody>
          <a:bodyPr wrap="square"/>
          <a:lstStyle/>
          <a:p>
            <a:pPr algn="l"/>
            <a:r>
              <a:rPr sz="900" b="0" i="0">
                <a:solidFill>
                  <a:srgbClr val="3D4D44"/>
                </a:solidFill>
                <a:latin typeface="Calibri Light"/>
              </a:rPr>
              <a:t>Data mining: Concepts and techniques (3rd ed.). Morgan Kaufmann.</a:t>
            </a:r>
          </a:p>
        </p:txBody>
      </p:sp>
      <p:sp>
        <p:nvSpPr>
          <p:cNvPr id="42" name="Rectangle 41"/>
          <p:cNvSpPr/>
          <p:nvPr/>
        </p:nvSpPr>
        <p:spPr>
          <a:xfrm>
            <a:off x="7560259" y="4297680"/>
            <a:ext cx="403433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560259" y="4297680"/>
            <a:ext cx="50292" cy="85953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24851" y="4352544"/>
            <a:ext cx="3778300" cy="256032"/>
          </a:xfrm>
          <a:prstGeom prst="rect">
            <a:avLst/>
          </a:prstGeom>
          <a:noFill/>
        </p:spPr>
        <p:txBody>
          <a:bodyPr wrap="square"/>
          <a:lstStyle/>
          <a:p>
            <a:pPr algn="l"/>
            <a:r>
              <a:rPr sz="950" b="1" i="0">
                <a:solidFill>
                  <a:srgbClr val="1B4D3E"/>
                </a:solidFill>
                <a:latin typeface="Calibri"/>
              </a:rPr>
              <a:t>Kometa. (2025/26).</a:t>
            </a:r>
          </a:p>
        </p:txBody>
      </p:sp>
      <p:sp>
        <p:nvSpPr>
          <p:cNvPr id="45" name="TextBox 44"/>
          <p:cNvSpPr txBox="1"/>
          <p:nvPr/>
        </p:nvSpPr>
        <p:spPr>
          <a:xfrm>
            <a:off x="7724851" y="4645152"/>
            <a:ext cx="3778300" cy="457200"/>
          </a:xfrm>
          <a:prstGeom prst="rect">
            <a:avLst/>
          </a:prstGeom>
          <a:noFill/>
        </p:spPr>
        <p:txBody>
          <a:bodyPr wrap="square"/>
          <a:lstStyle/>
          <a:p>
            <a:pPr algn="l"/>
            <a:r>
              <a:rPr sz="900" b="0" i="0">
                <a:solidFill>
                  <a:srgbClr val="3D4D44"/>
                </a:solidFill>
                <a:latin typeface="Calibri Light"/>
              </a:rPr>
              <a:t>CEC420: Data Mining [Lecture notes]. University of Buea.</a:t>
            </a:r>
          </a:p>
        </p:txBody>
      </p:sp>
      <p:sp>
        <p:nvSpPr>
          <p:cNvPr id="46" name="Rectangle 45"/>
          <p:cNvSpPr/>
          <p:nvPr/>
        </p:nvSpPr>
        <p:spPr>
          <a:xfrm>
            <a:off x="7560259" y="5248656"/>
            <a:ext cx="4034332"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560259" y="5248656"/>
            <a:ext cx="50292" cy="859536"/>
          </a:xfrm>
          <a:prstGeom prst="rect">
            <a:avLst/>
          </a:prstGeom>
          <a:solidFill>
            <a:srgbClr val="C9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24851" y="5303520"/>
            <a:ext cx="3778300" cy="256032"/>
          </a:xfrm>
          <a:prstGeom prst="rect">
            <a:avLst/>
          </a:prstGeom>
          <a:noFill/>
        </p:spPr>
        <p:txBody>
          <a:bodyPr wrap="square"/>
          <a:lstStyle/>
          <a:p>
            <a:pPr algn="l"/>
            <a:r>
              <a:rPr sz="950" b="1" i="0">
                <a:solidFill>
                  <a:srgbClr val="1B4D3E"/>
                </a:solidFill>
                <a:latin typeface="Calibri"/>
              </a:rPr>
              <a:t>WFP. (2024).</a:t>
            </a:r>
          </a:p>
        </p:txBody>
      </p:sp>
      <p:sp>
        <p:nvSpPr>
          <p:cNvPr id="49" name="TextBox 48"/>
          <p:cNvSpPr txBox="1"/>
          <p:nvPr/>
        </p:nvSpPr>
        <p:spPr>
          <a:xfrm>
            <a:off x="7724851" y="5596128"/>
            <a:ext cx="3778300" cy="457200"/>
          </a:xfrm>
          <a:prstGeom prst="rect">
            <a:avLst/>
          </a:prstGeom>
          <a:noFill/>
        </p:spPr>
        <p:txBody>
          <a:bodyPr wrap="square"/>
          <a:lstStyle/>
          <a:p>
            <a:pPr algn="l"/>
            <a:r>
              <a:rPr sz="900" b="0" i="0">
                <a:solidFill>
                  <a:srgbClr val="3D4D44"/>
                </a:solidFill>
                <a:latin typeface="Calibri Light"/>
              </a:rPr>
              <a:t>Food prices for Cameroon [Dataset]. HDX. humdata.org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3174</Words>
  <Application>Microsoft Office PowerPoint</Application>
  <PresentationFormat>Custom</PresentationFormat>
  <Paragraphs>433</Paragraphs>
  <Slides>16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XLR8</cp:lastModifiedBy>
  <cp:revision>6</cp:revision>
  <dcterms:created xsi:type="dcterms:W3CDTF">2013-01-27T09:14:16Z</dcterms:created>
  <dcterms:modified xsi:type="dcterms:W3CDTF">2026-05-13T16:18:47Z</dcterms:modified>
  <cp:category/>
</cp:coreProperties>
</file>